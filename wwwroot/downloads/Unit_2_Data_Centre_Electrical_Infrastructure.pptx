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914400" y="1280160"/>
            <a:ext cx="137160" cy="41148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80160" y="1188720"/>
            <a:ext cx="9601200" cy="4297680"/>
          </a:xfrm>
          <a:prstGeom prst="rect">
            <a:avLst/>
          </a:prstGeom>
          <a:noFill/>
        </p:spPr>
        <p:txBody>
          <a:bodyPr wrap="square">
            <a:spAutoFit/>
          </a:bodyPr>
          <a:lstStyle/>
          <a:p>
            <a:pPr>
              <a:defRPr sz="1400" b="1">
                <a:solidFill>
                  <a:srgbClr val="0EA5E9"/>
                </a:solidFill>
              </a:defRPr>
            </a:pPr>
            <a:r>
              <a:t>FY M.Tech Computer Science &amp; Engineering (DCSE)</a:t>
            </a:r>
          </a:p>
          <a:p>
            <a:pPr>
              <a:spcBef>
                <a:spcPts val="800"/>
              </a:spcBef>
              <a:defRPr sz="2800" b="1">
                <a:solidFill>
                  <a:srgbClr val="FFFFFF"/>
                </a:solidFill>
              </a:defRPr>
            </a:pPr>
            <a:r>
              <a:t>UNIT 2: Data Centre Electrical Infrastructure Engineering</a:t>
            </a:r>
          </a:p>
          <a:p>
            <a:pPr>
              <a:spcBef>
                <a:spcPts val="800"/>
              </a:spcBef>
              <a:defRPr sz="1600">
                <a:solidFill>
                  <a:srgbClr val="CBD5E1"/>
                </a:solidFill>
              </a:defRPr>
            </a:pPr>
            <a:r>
              <a:t>Comprehensive Lecture &amp; Examination Master Deck (6-Hour Curriculum)</a:t>
            </a:r>
          </a:p>
          <a:p>
            <a:pPr>
              <a:spcBef>
                <a:spcPts val="1600"/>
              </a:spcBef>
              <a:defRPr sz="1150">
                <a:solidFill>
                  <a:srgbClr val="94A3B8"/>
                </a:solidFill>
              </a:defRPr>
            </a:pPr>
            <a:r>
              <a:t>Key Modules Covered:</a:t>
            </a:r>
            <a:br/>
            <a:r>
              <a:t>1. Utility Power Systems &amp; Substations   |   2. Backup Power &amp; UPS Systems</a:t>
            </a:r>
            <a:br/>
            <a:r>
              <a:t>3. Power Distribution Architectures (SLD) |   4. Earthing &amp; Lightning Protection</a:t>
            </a:r>
            <a:br/>
            <a:r>
              <a:t>5. Electrical Design Methodology &amp; Sizing |   6. University Exam Questions &amp; Numericals</a:t>
            </a:r>
          </a:p>
          <a:p>
            <a:pPr>
              <a:spcBef>
                <a:spcPts val="2400"/>
              </a:spcBef>
              <a:defRPr sz="1100" b="1">
                <a:solidFill>
                  <a:srgbClr val="059669"/>
                </a:solidFill>
              </a:defRPr>
            </a:pPr>
            <a:r>
              <a:t>MIT World Peace University (MIT-WPU) × NIRVAA Solution Pvt. Ltd. | Academic Year 2026–27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92240"/>
            <a:ext cx="12191695" cy="36576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510528"/>
            <a:ext cx="11094415" cy="320040"/>
          </a:xfrm>
          <a:prstGeom prst="rect">
            <a:avLst/>
          </a:prstGeom>
          <a:noFill/>
        </p:spPr>
        <p:txBody>
          <a:bodyPr wrap="square">
            <a:spAutoFit/>
          </a:bodyPr>
          <a:lstStyle/>
          <a:p>
            <a:pPr>
              <a:defRPr sz="1000">
                <a:solidFill>
                  <a:srgbClr val="94A3B8"/>
                </a:solidFill>
                <a:latin typeface="Calibri"/>
              </a:defRPr>
            </a:pPr>
            <a:r>
              <a:t>M.Tech CSE · Data Centre Systems Engineering | Unit 2: Electrical Infrastructure Engineering | Slide 2 of 22</a:t>
            </a:r>
          </a:p>
        </p:txBody>
      </p:sp>
      <p:sp>
        <p:nvSpPr>
          <p:cNvPr id="5" name="Rounded Rectangle 4"/>
          <p:cNvSpPr/>
          <p:nvPr/>
        </p:nvSpPr>
        <p:spPr>
          <a:xfrm>
            <a:off x="548640" y="164592"/>
            <a:ext cx="2011680" cy="256032"/>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950" b="1">
                <a:solidFill>
                  <a:srgbClr val="FFFFFF"/>
                </a:solidFill>
                <a:latin typeface="Calibri"/>
              </a:defRPr>
            </a:pPr>
            <a:r>
              <a:t>CURRICULUM MAP</a:t>
            </a:r>
          </a:p>
        </p:txBody>
      </p:sp>
      <p:sp>
        <p:nvSpPr>
          <p:cNvPr id="6" name="TextBox 5"/>
          <p:cNvSpPr txBox="1"/>
          <p:nvPr/>
        </p:nvSpPr>
        <p:spPr>
          <a:xfrm>
            <a:off x="548640" y="438912"/>
            <a:ext cx="9601200" cy="502920"/>
          </a:xfrm>
          <a:prstGeom prst="rect">
            <a:avLst/>
          </a:prstGeom>
          <a:noFill/>
        </p:spPr>
        <p:txBody>
          <a:bodyPr wrap="square">
            <a:spAutoFit/>
          </a:bodyPr>
          <a:lstStyle/>
          <a:p>
            <a:pPr>
              <a:defRPr sz="2000" b="1">
                <a:solidFill>
                  <a:srgbClr val="FFFFFF"/>
                </a:solidFill>
                <a:latin typeface="Calibri"/>
              </a:defRPr>
            </a:pPr>
            <a:r>
              <a:t>Unit 2 Syllabus Breakdown &amp; 6-Hour Pedagogical Framework</a:t>
            </a:r>
          </a:p>
          <a:p>
            <a:pPr>
              <a:defRPr sz="1100">
                <a:solidFill>
                  <a:srgbClr val="94A3B8"/>
                </a:solidFill>
                <a:latin typeface="Calibri"/>
              </a:defRPr>
            </a:pPr>
            <a:r>
              <a:t>Structured module-by-module alignment from utility grid connection down to server silicon</a:t>
            </a:r>
          </a:p>
        </p:txBody>
      </p:sp>
      <p:sp>
        <p:nvSpPr>
          <p:cNvPr id="7" name="Rounded Rectangle 6"/>
          <p:cNvSpPr/>
          <p:nvPr/>
        </p:nvSpPr>
        <p:spPr>
          <a:xfrm>
            <a:off x="11064240" y="228600"/>
            <a:ext cx="640080" cy="292608"/>
          </a:xfrm>
          <a:prstGeom prst="roundRect">
            <a:avLst/>
          </a:prstGeom>
          <a:solidFill>
            <a:srgbClr val="1E293B"/>
          </a:solidFill>
          <a:ln w="12700">
            <a:solidFill>
              <a:srgbClr val="47556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02</a:t>
            </a:r>
          </a:p>
        </p:txBody>
      </p:sp>
      <p:sp>
        <p:nvSpPr>
          <p:cNvPr id="8" name="Rounded Rectangle 7"/>
          <p:cNvSpPr/>
          <p:nvPr/>
        </p:nvSpPr>
        <p:spPr>
          <a:xfrm>
            <a:off x="548640" y="1280160"/>
            <a:ext cx="2103120" cy="484632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463040"/>
            <a:ext cx="1645920" cy="411480"/>
          </a:xfrm>
          <a:prstGeom prst="rect">
            <a:avLst/>
          </a:prstGeom>
          <a:noFill/>
        </p:spPr>
        <p:txBody>
          <a:bodyPr wrap="square">
            <a:spAutoFit/>
          </a:bodyPr>
          <a:lstStyle/>
          <a:p>
            <a:pPr>
              <a:defRPr sz="1400" b="1">
                <a:solidFill>
                  <a:srgbClr val="0F172A"/>
                </a:solidFill>
                <a:latin typeface="Calibri"/>
              </a:defRPr>
            </a:pPr>
            <a:r>
              <a:t>Hour 1: Utility Power</a:t>
            </a:r>
          </a:p>
        </p:txBody>
      </p:sp>
      <p:sp>
        <p:nvSpPr>
          <p:cNvPr id="10" name="Rounded Rectangle 9"/>
          <p:cNvSpPr/>
          <p:nvPr/>
        </p:nvSpPr>
        <p:spPr>
          <a:xfrm>
            <a:off x="1280160" y="1463040"/>
            <a:ext cx="1188720" cy="22860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FFFFFF"/>
                </a:solidFill>
              </a:defRPr>
            </a:pPr>
            <a:r>
              <a:t>MODULE 1</a:t>
            </a:r>
          </a:p>
        </p:txBody>
      </p:sp>
      <p:sp>
        <p:nvSpPr>
          <p:cNvPr id="11" name="TextBox 10"/>
          <p:cNvSpPr txBox="1"/>
          <p:nvPr/>
        </p:nvSpPr>
        <p:spPr>
          <a:xfrm>
            <a:off x="777240" y="1920240"/>
            <a:ext cx="1645920" cy="4069080"/>
          </a:xfrm>
          <a:prstGeom prst="rect">
            <a:avLst/>
          </a:prstGeom>
          <a:noFill/>
        </p:spPr>
        <p:txBody>
          <a:bodyPr wrap="square" tIns="0" lIns="0" rIns="0">
            <a:spAutoFit/>
          </a:bodyPr>
          <a:lstStyle/>
          <a:p>
            <a:pPr>
              <a:spcAft>
                <a:spcPts val="600"/>
              </a:spcAft>
              <a:defRPr sz="1100">
                <a:solidFill>
                  <a:srgbClr val="475569"/>
                </a:solidFill>
                <a:latin typeface="Calibri"/>
              </a:defRPr>
            </a:pPr>
            <a:r>
              <a:rPr b="1">
                <a:solidFill>
                  <a:srgbClr val="0F172A"/>
                </a:solidFill>
              </a:rPr>
              <a:t>• Grid Entrances:</a:t>
            </a:r>
            <a:r>
              <a:rPr b="0">
                <a:solidFill>
                  <a:srgbClr val="475569"/>
                </a:solidFill>
              </a:rPr>
              <a:t> HV/MV Substations (33kV / 11kV).</a:t>
            </a:r>
          </a:p>
          <a:p>
            <a:pPr>
              <a:spcAft>
                <a:spcPts val="600"/>
              </a:spcAft>
              <a:defRPr sz="1100">
                <a:solidFill>
                  <a:srgbClr val="475569"/>
                </a:solidFill>
                <a:latin typeface="Calibri"/>
              </a:defRPr>
            </a:pPr>
            <a:r>
              <a:rPr b="1">
                <a:solidFill>
                  <a:srgbClr val="0F172A"/>
                </a:solidFill>
              </a:rPr>
              <a:t>• Dual Utility Feeds:</a:t>
            </a:r>
            <a:r>
              <a:rPr b="0">
                <a:solidFill>
                  <a:srgbClr val="475569"/>
                </a:solidFill>
              </a:rPr>
              <a:t> Diverse routing &amp; substations.</a:t>
            </a:r>
          </a:p>
          <a:p>
            <a:pPr>
              <a:spcAft>
                <a:spcPts val="600"/>
              </a:spcAft>
              <a:defRPr sz="1100">
                <a:solidFill>
                  <a:srgbClr val="475569"/>
                </a:solidFill>
                <a:latin typeface="Calibri"/>
              </a:defRPr>
            </a:pPr>
            <a:r>
              <a:rPr b="1">
                <a:solidFill>
                  <a:srgbClr val="0F172A"/>
                </a:solidFill>
              </a:rPr>
              <a:t>• Step-Down Transformers:</a:t>
            </a:r>
            <a:r>
              <a:rPr b="0">
                <a:solidFill>
                  <a:srgbClr val="475569"/>
                </a:solidFill>
              </a:rPr>
              <a:t> Cast Resin vs Oil-immersed.</a:t>
            </a:r>
          </a:p>
          <a:p>
            <a:pPr>
              <a:spcAft>
                <a:spcPts val="600"/>
              </a:spcAft>
              <a:defRPr sz="1100">
                <a:solidFill>
                  <a:srgbClr val="475569"/>
                </a:solidFill>
                <a:latin typeface="Calibri"/>
              </a:defRPr>
            </a:pPr>
            <a:r>
              <a:rPr b="1">
                <a:solidFill>
                  <a:srgbClr val="0F172A"/>
                </a:solidFill>
              </a:rPr>
              <a:t>• Switchgear &amp; RMU:</a:t>
            </a:r>
            <a:r>
              <a:rPr b="0">
                <a:solidFill>
                  <a:srgbClr val="475569"/>
                </a:solidFill>
              </a:rPr>
              <a:t> Ring Main Unit protection.</a:t>
            </a:r>
          </a:p>
          <a:p>
            <a:pPr>
              <a:spcAft>
                <a:spcPts val="600"/>
              </a:spcAft>
              <a:defRPr sz="1100">
                <a:solidFill>
                  <a:srgbClr val="475569"/>
                </a:solidFill>
                <a:latin typeface="Calibri"/>
              </a:defRPr>
            </a:pPr>
            <a:r>
              <a:rPr b="1">
                <a:solidFill>
                  <a:srgbClr val="0F172A"/>
                </a:solidFill>
              </a:rPr>
              <a:t>• Power Quality:</a:t>
            </a:r>
            <a:r>
              <a:rPr b="0">
                <a:solidFill>
                  <a:srgbClr val="475569"/>
                </a:solidFill>
              </a:rPr>
              <a:t> APFC, THD limits &amp; IEEE 519.</a:t>
            </a:r>
          </a:p>
        </p:txBody>
      </p:sp>
      <p:sp>
        <p:nvSpPr>
          <p:cNvPr id="12" name="Rounded Rectangle 11"/>
          <p:cNvSpPr/>
          <p:nvPr/>
        </p:nvSpPr>
        <p:spPr>
          <a:xfrm>
            <a:off x="2816352" y="1280160"/>
            <a:ext cx="2103120" cy="484632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044952" y="1463040"/>
            <a:ext cx="1645920" cy="411480"/>
          </a:xfrm>
          <a:prstGeom prst="rect">
            <a:avLst/>
          </a:prstGeom>
          <a:noFill/>
        </p:spPr>
        <p:txBody>
          <a:bodyPr wrap="square">
            <a:spAutoFit/>
          </a:bodyPr>
          <a:lstStyle/>
          <a:p>
            <a:pPr>
              <a:defRPr sz="1400" b="1">
                <a:solidFill>
                  <a:srgbClr val="0F172A"/>
                </a:solidFill>
                <a:latin typeface="Calibri"/>
              </a:defRPr>
            </a:pPr>
            <a:r>
              <a:t>Hour 2: Backup Power</a:t>
            </a:r>
          </a:p>
        </p:txBody>
      </p:sp>
      <p:sp>
        <p:nvSpPr>
          <p:cNvPr id="14" name="Rounded Rectangle 13"/>
          <p:cNvSpPr/>
          <p:nvPr/>
        </p:nvSpPr>
        <p:spPr>
          <a:xfrm>
            <a:off x="3547872" y="1463040"/>
            <a:ext cx="1188720" cy="228600"/>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FFFFFF"/>
                </a:solidFill>
              </a:defRPr>
            </a:pPr>
            <a:r>
              <a:t>MODULE 2</a:t>
            </a:r>
          </a:p>
        </p:txBody>
      </p:sp>
      <p:sp>
        <p:nvSpPr>
          <p:cNvPr id="15" name="TextBox 14"/>
          <p:cNvSpPr txBox="1"/>
          <p:nvPr/>
        </p:nvSpPr>
        <p:spPr>
          <a:xfrm>
            <a:off x="3044952" y="1920240"/>
            <a:ext cx="1645920" cy="4069080"/>
          </a:xfrm>
          <a:prstGeom prst="rect">
            <a:avLst/>
          </a:prstGeom>
          <a:noFill/>
        </p:spPr>
        <p:txBody>
          <a:bodyPr wrap="square" tIns="0" lIns="0" rIns="0">
            <a:spAutoFit/>
          </a:bodyPr>
          <a:lstStyle/>
          <a:p>
            <a:pPr>
              <a:spcAft>
                <a:spcPts val="600"/>
              </a:spcAft>
              <a:defRPr sz="1100">
                <a:solidFill>
                  <a:srgbClr val="475569"/>
                </a:solidFill>
                <a:latin typeface="Calibri"/>
              </a:defRPr>
            </a:pPr>
            <a:r>
              <a:rPr b="1">
                <a:solidFill>
                  <a:srgbClr val="0F172A"/>
                </a:solidFill>
              </a:rPr>
              <a:t>• Diesel Generators (DG):</a:t>
            </a:r>
            <a:r>
              <a:rPr b="0">
                <a:solidFill>
                  <a:srgbClr val="475569"/>
                </a:solidFill>
              </a:rPr>
              <a:t> Standby vs DCC ratings.</a:t>
            </a:r>
          </a:p>
          <a:p>
            <a:pPr>
              <a:spcAft>
                <a:spcPts val="600"/>
              </a:spcAft>
              <a:defRPr sz="1100">
                <a:solidFill>
                  <a:srgbClr val="475569"/>
                </a:solidFill>
                <a:latin typeface="Calibri"/>
              </a:defRPr>
            </a:pPr>
            <a:r>
              <a:rPr b="1">
                <a:solidFill>
                  <a:srgbClr val="0F172A"/>
                </a:solidFill>
              </a:rPr>
              <a:t>• Fuel Autonomy:</a:t>
            </a:r>
            <a:r>
              <a:rPr b="0">
                <a:solidFill>
                  <a:srgbClr val="475569"/>
                </a:solidFill>
              </a:rPr>
              <a:t> Day tanks &amp; bulk storage (48-72h).</a:t>
            </a:r>
          </a:p>
          <a:p>
            <a:pPr>
              <a:spcAft>
                <a:spcPts val="600"/>
              </a:spcAft>
              <a:defRPr sz="1100">
                <a:solidFill>
                  <a:srgbClr val="475569"/>
                </a:solidFill>
                <a:latin typeface="Calibri"/>
              </a:defRPr>
            </a:pPr>
            <a:r>
              <a:rPr b="1">
                <a:solidFill>
                  <a:srgbClr val="0F172A"/>
                </a:solidFill>
              </a:rPr>
              <a:t>• Paralleling Controls:</a:t>
            </a:r>
            <a:r>
              <a:rPr b="0">
                <a:solidFill>
                  <a:srgbClr val="475569"/>
                </a:solidFill>
              </a:rPr>
              <a:t> Auto-synchronization panels.</a:t>
            </a:r>
          </a:p>
          <a:p>
            <a:pPr>
              <a:spcAft>
                <a:spcPts val="600"/>
              </a:spcAft>
              <a:defRPr sz="1100">
                <a:solidFill>
                  <a:srgbClr val="475569"/>
                </a:solidFill>
                <a:latin typeface="Calibri"/>
              </a:defRPr>
            </a:pPr>
            <a:r>
              <a:rPr b="1">
                <a:solidFill>
                  <a:srgbClr val="0F172A"/>
                </a:solidFill>
              </a:rPr>
              <a:t>• UPS Topologies:</a:t>
            </a:r>
            <a:r>
              <a:rPr b="0">
                <a:solidFill>
                  <a:srgbClr val="475569"/>
                </a:solidFill>
              </a:rPr>
              <a:t> Online Double Conversion (VFI).</a:t>
            </a:r>
          </a:p>
          <a:p>
            <a:pPr>
              <a:spcAft>
                <a:spcPts val="600"/>
              </a:spcAft>
              <a:defRPr sz="1100">
                <a:solidFill>
                  <a:srgbClr val="475569"/>
                </a:solidFill>
                <a:latin typeface="Calibri"/>
              </a:defRPr>
            </a:pPr>
            <a:r>
              <a:rPr b="1">
                <a:solidFill>
                  <a:srgbClr val="0F172A"/>
                </a:solidFill>
              </a:rPr>
              <a:t>• Batteries:</a:t>
            </a:r>
            <a:r>
              <a:rPr b="0">
                <a:solidFill>
                  <a:srgbClr val="475569"/>
                </a:solidFill>
              </a:rPr>
              <a:t> VRLA vs Li-Ion vs Flywheel ride-through.</a:t>
            </a:r>
          </a:p>
        </p:txBody>
      </p:sp>
      <p:sp>
        <p:nvSpPr>
          <p:cNvPr id="16" name="Rounded Rectangle 15"/>
          <p:cNvSpPr/>
          <p:nvPr/>
        </p:nvSpPr>
        <p:spPr>
          <a:xfrm>
            <a:off x="5084064" y="1280160"/>
            <a:ext cx="2103120" cy="484632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312664" y="1463040"/>
            <a:ext cx="1645920" cy="411480"/>
          </a:xfrm>
          <a:prstGeom prst="rect">
            <a:avLst/>
          </a:prstGeom>
          <a:noFill/>
        </p:spPr>
        <p:txBody>
          <a:bodyPr wrap="square">
            <a:spAutoFit/>
          </a:bodyPr>
          <a:lstStyle/>
          <a:p>
            <a:pPr>
              <a:defRPr sz="1400" b="1">
                <a:solidFill>
                  <a:srgbClr val="0F172A"/>
                </a:solidFill>
                <a:latin typeface="Calibri"/>
              </a:defRPr>
            </a:pPr>
            <a:r>
              <a:t>Hour 3: Power Distribution</a:t>
            </a:r>
          </a:p>
        </p:txBody>
      </p:sp>
      <p:sp>
        <p:nvSpPr>
          <p:cNvPr id="18" name="Rounded Rectangle 17"/>
          <p:cNvSpPr/>
          <p:nvPr/>
        </p:nvSpPr>
        <p:spPr>
          <a:xfrm>
            <a:off x="5815584" y="1463040"/>
            <a:ext cx="1188720" cy="228600"/>
          </a:xfrm>
          <a:prstGeom prst="round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FFFFFF"/>
                </a:solidFill>
              </a:defRPr>
            </a:pPr>
            <a:r>
              <a:t>MODULE 3</a:t>
            </a:r>
          </a:p>
        </p:txBody>
      </p:sp>
      <p:sp>
        <p:nvSpPr>
          <p:cNvPr id="19" name="TextBox 18"/>
          <p:cNvSpPr txBox="1"/>
          <p:nvPr/>
        </p:nvSpPr>
        <p:spPr>
          <a:xfrm>
            <a:off x="5312664" y="1920240"/>
            <a:ext cx="1645920" cy="4069080"/>
          </a:xfrm>
          <a:prstGeom prst="rect">
            <a:avLst/>
          </a:prstGeom>
          <a:noFill/>
        </p:spPr>
        <p:txBody>
          <a:bodyPr wrap="square" tIns="0" lIns="0" rIns="0">
            <a:spAutoFit/>
          </a:bodyPr>
          <a:lstStyle/>
          <a:p>
            <a:pPr>
              <a:spcAft>
                <a:spcPts val="600"/>
              </a:spcAft>
              <a:defRPr sz="1100">
                <a:solidFill>
                  <a:srgbClr val="475569"/>
                </a:solidFill>
                <a:latin typeface="Calibri"/>
              </a:defRPr>
            </a:pPr>
            <a:r>
              <a:rPr b="1">
                <a:solidFill>
                  <a:srgbClr val="0F172A"/>
                </a:solidFill>
              </a:rPr>
              <a:t>• Single Line Diagram:</a:t>
            </a:r>
            <a:r>
              <a:rPr b="0">
                <a:solidFill>
                  <a:srgbClr val="475569"/>
                </a:solidFill>
              </a:rPr>
              <a:t> Substation to server PSU.</a:t>
            </a:r>
          </a:p>
          <a:p>
            <a:pPr>
              <a:spcAft>
                <a:spcPts val="600"/>
              </a:spcAft>
              <a:defRPr sz="1100">
                <a:solidFill>
                  <a:srgbClr val="475569"/>
                </a:solidFill>
                <a:latin typeface="Calibri"/>
              </a:defRPr>
            </a:pPr>
            <a:r>
              <a:rPr b="1">
                <a:solidFill>
                  <a:srgbClr val="0F172A"/>
                </a:solidFill>
              </a:rPr>
              <a:t>• Power Distribution Units:</a:t>
            </a:r>
            <a:r>
              <a:rPr b="0">
                <a:solidFill>
                  <a:srgbClr val="475569"/>
                </a:solidFill>
              </a:rPr>
              <a:t> K-factor isolation transformers.</a:t>
            </a:r>
          </a:p>
          <a:p>
            <a:pPr>
              <a:spcAft>
                <a:spcPts val="600"/>
              </a:spcAft>
              <a:defRPr sz="1100">
                <a:solidFill>
                  <a:srgbClr val="475569"/>
                </a:solidFill>
                <a:latin typeface="Calibri"/>
              </a:defRPr>
            </a:pPr>
            <a:r>
              <a:rPr b="1">
                <a:solidFill>
                  <a:srgbClr val="0F172A"/>
                </a:solidFill>
              </a:rPr>
              <a:t>• RPP vs Track Busway:</a:t>
            </a:r>
            <a:r>
              <a:rPr b="0">
                <a:solidFill>
                  <a:srgbClr val="475569"/>
                </a:solidFill>
              </a:rPr>
              <a:t> Overhead modular tap-offs.</a:t>
            </a:r>
          </a:p>
          <a:p>
            <a:pPr>
              <a:spcAft>
                <a:spcPts val="600"/>
              </a:spcAft>
              <a:defRPr sz="1100">
                <a:solidFill>
                  <a:srgbClr val="475569"/>
                </a:solidFill>
                <a:latin typeface="Calibri"/>
              </a:defRPr>
            </a:pPr>
            <a:r>
              <a:rPr b="1">
                <a:solidFill>
                  <a:srgbClr val="0F172A"/>
                </a:solidFill>
              </a:rPr>
              <a:t>• Rack PDUs:</a:t>
            </a:r>
            <a:r>
              <a:rPr b="0">
                <a:solidFill>
                  <a:srgbClr val="475569"/>
                </a:solidFill>
              </a:rPr>
              <a:t> Basic, Metered, Monitored &amp; Switched.</a:t>
            </a:r>
          </a:p>
          <a:p>
            <a:pPr>
              <a:spcAft>
                <a:spcPts val="600"/>
              </a:spcAft>
              <a:defRPr sz="1100">
                <a:solidFill>
                  <a:srgbClr val="475569"/>
                </a:solidFill>
                <a:latin typeface="Calibri"/>
              </a:defRPr>
            </a:pPr>
            <a:r>
              <a:rPr b="1">
                <a:solidFill>
                  <a:srgbClr val="0F172A"/>
                </a:solidFill>
              </a:rPr>
              <a:t>• Dual-Corded Servers:</a:t>
            </a:r>
            <a:r>
              <a:rPr b="0">
                <a:solidFill>
                  <a:srgbClr val="475569"/>
                </a:solidFill>
              </a:rPr>
              <a:t> Feed A &amp; B redundancy.</a:t>
            </a:r>
          </a:p>
        </p:txBody>
      </p:sp>
      <p:sp>
        <p:nvSpPr>
          <p:cNvPr id="20" name="Rounded Rectangle 19"/>
          <p:cNvSpPr/>
          <p:nvPr/>
        </p:nvSpPr>
        <p:spPr>
          <a:xfrm>
            <a:off x="7351776" y="1280160"/>
            <a:ext cx="2103120" cy="484632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580376" y="1463040"/>
            <a:ext cx="1645920" cy="411480"/>
          </a:xfrm>
          <a:prstGeom prst="rect">
            <a:avLst/>
          </a:prstGeom>
          <a:noFill/>
        </p:spPr>
        <p:txBody>
          <a:bodyPr wrap="square">
            <a:spAutoFit/>
          </a:bodyPr>
          <a:lstStyle/>
          <a:p>
            <a:pPr>
              <a:defRPr sz="1400" b="1">
                <a:solidFill>
                  <a:srgbClr val="0F172A"/>
                </a:solidFill>
                <a:latin typeface="Calibri"/>
              </a:defRPr>
            </a:pPr>
            <a:r>
              <a:t>Hour 4: Earthing &amp; LPS</a:t>
            </a:r>
          </a:p>
        </p:txBody>
      </p:sp>
      <p:sp>
        <p:nvSpPr>
          <p:cNvPr id="22" name="Rounded Rectangle 21"/>
          <p:cNvSpPr/>
          <p:nvPr/>
        </p:nvSpPr>
        <p:spPr>
          <a:xfrm>
            <a:off x="8083296" y="1463040"/>
            <a:ext cx="1188720" cy="228600"/>
          </a:xfrm>
          <a:prstGeom prst="round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FFFFFF"/>
                </a:solidFill>
              </a:defRPr>
            </a:pPr>
            <a:r>
              <a:t>MODULE 4</a:t>
            </a:r>
          </a:p>
        </p:txBody>
      </p:sp>
      <p:sp>
        <p:nvSpPr>
          <p:cNvPr id="23" name="TextBox 22"/>
          <p:cNvSpPr txBox="1"/>
          <p:nvPr/>
        </p:nvSpPr>
        <p:spPr>
          <a:xfrm>
            <a:off x="7580376" y="1920240"/>
            <a:ext cx="1645920" cy="4069080"/>
          </a:xfrm>
          <a:prstGeom prst="rect">
            <a:avLst/>
          </a:prstGeom>
          <a:noFill/>
        </p:spPr>
        <p:txBody>
          <a:bodyPr wrap="square" tIns="0" lIns="0" rIns="0">
            <a:spAutoFit/>
          </a:bodyPr>
          <a:lstStyle/>
          <a:p>
            <a:pPr>
              <a:spcAft>
                <a:spcPts val="600"/>
              </a:spcAft>
              <a:defRPr sz="1100">
                <a:solidFill>
                  <a:srgbClr val="475569"/>
                </a:solidFill>
                <a:latin typeface="Calibri"/>
              </a:defRPr>
            </a:pPr>
            <a:r>
              <a:rPr b="1">
                <a:solidFill>
                  <a:srgbClr val="0F172A"/>
                </a:solidFill>
              </a:rPr>
              <a:t>• Grounding Philosophies:</a:t>
            </a:r>
            <a:r>
              <a:rPr b="0">
                <a:solidFill>
                  <a:srgbClr val="475569"/>
                </a:solidFill>
              </a:rPr>
              <a:t> Personnel safety &amp; EMC.</a:t>
            </a:r>
          </a:p>
          <a:p>
            <a:pPr>
              <a:spcAft>
                <a:spcPts val="600"/>
              </a:spcAft>
              <a:defRPr sz="1100">
                <a:solidFill>
                  <a:srgbClr val="475569"/>
                </a:solidFill>
                <a:latin typeface="Calibri"/>
              </a:defRPr>
            </a:pPr>
            <a:r>
              <a:rPr b="1">
                <a:solidFill>
                  <a:srgbClr val="0F172A"/>
                </a:solidFill>
              </a:rPr>
              <a:t>• TN-S System:</a:t>
            </a:r>
            <a:r>
              <a:rPr b="0">
                <a:solidFill>
                  <a:srgbClr val="475569"/>
                </a:solidFill>
              </a:rPr>
              <a:t> Separate Neutral &amp; PE conductors.</a:t>
            </a:r>
          </a:p>
          <a:p>
            <a:pPr>
              <a:spcAft>
                <a:spcPts val="600"/>
              </a:spcAft>
              <a:defRPr sz="1100">
                <a:solidFill>
                  <a:srgbClr val="475569"/>
                </a:solidFill>
                <a:latin typeface="Calibri"/>
              </a:defRPr>
            </a:pPr>
            <a:r>
              <a:rPr b="1">
                <a:solidFill>
                  <a:srgbClr val="0F172A"/>
                </a:solidFill>
              </a:rPr>
              <a:t>• Signal Reference Grid:</a:t>
            </a:r>
            <a:r>
              <a:rPr b="0">
                <a:solidFill>
                  <a:srgbClr val="475569"/>
                </a:solidFill>
              </a:rPr>
              <a:t> 2ft x 2ft underfloor mesh.</a:t>
            </a:r>
          </a:p>
          <a:p>
            <a:pPr>
              <a:spcAft>
                <a:spcPts val="600"/>
              </a:spcAft>
              <a:defRPr sz="1100">
                <a:solidFill>
                  <a:srgbClr val="475569"/>
                </a:solidFill>
                <a:latin typeface="Calibri"/>
              </a:defRPr>
            </a:pPr>
            <a:r>
              <a:rPr b="1">
                <a:solidFill>
                  <a:srgbClr val="0F172A"/>
                </a:solidFill>
              </a:rPr>
              <a:t>• Earth Pits:</a:t>
            </a:r>
            <a:r>
              <a:rPr b="0">
                <a:solidFill>
                  <a:srgbClr val="475569"/>
                </a:solidFill>
              </a:rPr>
              <a:t> Chemical earthing (&lt; 1.0 Ohm).</a:t>
            </a:r>
          </a:p>
          <a:p>
            <a:pPr>
              <a:spcAft>
                <a:spcPts val="600"/>
              </a:spcAft>
              <a:defRPr sz="1100">
                <a:solidFill>
                  <a:srgbClr val="475569"/>
                </a:solidFill>
                <a:latin typeface="Calibri"/>
              </a:defRPr>
            </a:pPr>
            <a:r>
              <a:rPr b="1">
                <a:solidFill>
                  <a:srgbClr val="0F172A"/>
                </a:solidFill>
              </a:rPr>
              <a:t>• Surge Protection:</a:t>
            </a:r>
            <a:r>
              <a:rPr b="0">
                <a:solidFill>
                  <a:srgbClr val="475569"/>
                </a:solidFill>
              </a:rPr>
              <a:t> Type 1, 2, 3 cascaded SPDs.</a:t>
            </a:r>
          </a:p>
        </p:txBody>
      </p:sp>
      <p:sp>
        <p:nvSpPr>
          <p:cNvPr id="24" name="Rounded Rectangle 23"/>
          <p:cNvSpPr/>
          <p:nvPr/>
        </p:nvSpPr>
        <p:spPr>
          <a:xfrm>
            <a:off x="9619488" y="1280160"/>
            <a:ext cx="2103120" cy="484632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848088" y="1463040"/>
            <a:ext cx="1645920" cy="411480"/>
          </a:xfrm>
          <a:prstGeom prst="rect">
            <a:avLst/>
          </a:prstGeom>
          <a:noFill/>
        </p:spPr>
        <p:txBody>
          <a:bodyPr wrap="square">
            <a:spAutoFit/>
          </a:bodyPr>
          <a:lstStyle/>
          <a:p>
            <a:pPr>
              <a:defRPr sz="1400" b="1">
                <a:solidFill>
                  <a:srgbClr val="0F172A"/>
                </a:solidFill>
                <a:latin typeface="Calibri"/>
              </a:defRPr>
            </a:pPr>
            <a:r>
              <a:t>Hours 5-6: Design &amp; Exam</a:t>
            </a:r>
          </a:p>
        </p:txBody>
      </p:sp>
      <p:sp>
        <p:nvSpPr>
          <p:cNvPr id="26" name="Rounded Rectangle 25"/>
          <p:cNvSpPr/>
          <p:nvPr/>
        </p:nvSpPr>
        <p:spPr>
          <a:xfrm>
            <a:off x="10351008" y="1463040"/>
            <a:ext cx="1188720" cy="228600"/>
          </a:xfrm>
          <a:prstGeom prst="round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FFFFFF"/>
                </a:solidFill>
              </a:defRPr>
            </a:pPr>
            <a:r>
              <a:t>MODULE 5</a:t>
            </a:r>
          </a:p>
        </p:txBody>
      </p:sp>
      <p:sp>
        <p:nvSpPr>
          <p:cNvPr id="27" name="TextBox 26"/>
          <p:cNvSpPr txBox="1"/>
          <p:nvPr/>
        </p:nvSpPr>
        <p:spPr>
          <a:xfrm>
            <a:off x="9848088" y="1920240"/>
            <a:ext cx="1645920" cy="4069080"/>
          </a:xfrm>
          <a:prstGeom prst="rect">
            <a:avLst/>
          </a:prstGeom>
          <a:noFill/>
        </p:spPr>
        <p:txBody>
          <a:bodyPr wrap="square" tIns="0" lIns="0" rIns="0">
            <a:spAutoFit/>
          </a:bodyPr>
          <a:lstStyle/>
          <a:p>
            <a:pPr>
              <a:spcAft>
                <a:spcPts val="600"/>
              </a:spcAft>
              <a:defRPr sz="1100">
                <a:solidFill>
                  <a:srgbClr val="475569"/>
                </a:solidFill>
                <a:latin typeface="Calibri"/>
              </a:defRPr>
            </a:pPr>
            <a:r>
              <a:rPr b="1">
                <a:solidFill>
                  <a:srgbClr val="0F172A"/>
                </a:solidFill>
              </a:rPr>
              <a:t>• Tier Standards:</a:t>
            </a:r>
            <a:r>
              <a:rPr b="0">
                <a:solidFill>
                  <a:srgbClr val="475569"/>
                </a:solidFill>
              </a:rPr>
              <a:t> Tier I to IV electrical topologies.</a:t>
            </a:r>
          </a:p>
          <a:p>
            <a:pPr>
              <a:spcAft>
                <a:spcPts val="600"/>
              </a:spcAft>
              <a:defRPr sz="1100">
                <a:solidFill>
                  <a:srgbClr val="475569"/>
                </a:solidFill>
                <a:latin typeface="Calibri"/>
              </a:defRPr>
            </a:pPr>
            <a:r>
              <a:rPr b="1">
                <a:solidFill>
                  <a:srgbClr val="0F172A"/>
                </a:solidFill>
              </a:rPr>
              <a:t>• Sizing Methodology:</a:t>
            </a:r>
            <a:r>
              <a:rPr b="0">
                <a:solidFill>
                  <a:srgbClr val="475569"/>
                </a:solidFill>
              </a:rPr>
              <a:t> IT kW to facility kVA sizing.</a:t>
            </a:r>
          </a:p>
          <a:p>
            <a:pPr>
              <a:spcAft>
                <a:spcPts val="600"/>
              </a:spcAft>
              <a:defRPr sz="1100">
                <a:solidFill>
                  <a:srgbClr val="475569"/>
                </a:solidFill>
                <a:latin typeface="Calibri"/>
              </a:defRPr>
            </a:pPr>
            <a:r>
              <a:rPr b="1">
                <a:solidFill>
                  <a:srgbClr val="0F172A"/>
                </a:solidFill>
              </a:rPr>
              <a:t>• Metrics:</a:t>
            </a:r>
            <a:r>
              <a:rPr b="0">
                <a:solidFill>
                  <a:srgbClr val="475569"/>
                </a:solidFill>
              </a:rPr>
              <a:t> PUE, DCiE &amp; Water Usage (WUE).</a:t>
            </a:r>
          </a:p>
          <a:p>
            <a:pPr>
              <a:spcAft>
                <a:spcPts val="600"/>
              </a:spcAft>
              <a:defRPr sz="1100">
                <a:solidFill>
                  <a:srgbClr val="475569"/>
                </a:solidFill>
                <a:latin typeface="Calibri"/>
              </a:defRPr>
            </a:pPr>
            <a:r>
              <a:rPr b="1">
                <a:solidFill>
                  <a:srgbClr val="0F172A"/>
                </a:solidFill>
              </a:rPr>
              <a:t>• Solved Numericals:</a:t>
            </a:r>
            <a:r>
              <a:rPr b="0">
                <a:solidFill>
                  <a:srgbClr val="475569"/>
                </a:solidFill>
              </a:rPr>
              <a:t> UPS battery &amp; transformer math.</a:t>
            </a:r>
          </a:p>
          <a:p>
            <a:pPr>
              <a:spcAft>
                <a:spcPts val="600"/>
              </a:spcAft>
              <a:defRPr sz="1100">
                <a:solidFill>
                  <a:srgbClr val="475569"/>
                </a:solidFill>
                <a:latin typeface="Calibri"/>
              </a:defRPr>
            </a:pPr>
            <a:r>
              <a:rPr b="1">
                <a:solidFill>
                  <a:srgbClr val="0F172A"/>
                </a:solidFill>
              </a:rPr>
              <a:t>• Exam Prep:</a:t>
            </a:r>
            <a:r>
              <a:rPr b="0">
                <a:solidFill>
                  <a:srgbClr val="475569"/>
                </a:solidFill>
              </a:rPr>
              <a:t> 15-mark essay questions &amp; answers.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92240"/>
            <a:ext cx="12191695" cy="36576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510528"/>
            <a:ext cx="11094415" cy="320040"/>
          </a:xfrm>
          <a:prstGeom prst="rect">
            <a:avLst/>
          </a:prstGeom>
          <a:noFill/>
        </p:spPr>
        <p:txBody>
          <a:bodyPr wrap="square">
            <a:spAutoFit/>
          </a:bodyPr>
          <a:lstStyle/>
          <a:p>
            <a:pPr>
              <a:defRPr sz="1000">
                <a:solidFill>
                  <a:srgbClr val="94A3B8"/>
                </a:solidFill>
                <a:latin typeface="Calibri"/>
              </a:defRPr>
            </a:pPr>
            <a:r>
              <a:t>M.Tech CSE · Data Centre Systems Engineering | Unit 2: Electrical Infrastructure Engineering | Slide 3 of 22</a:t>
            </a:r>
          </a:p>
        </p:txBody>
      </p:sp>
      <p:sp>
        <p:nvSpPr>
          <p:cNvPr id="5" name="Rounded Rectangle 4"/>
          <p:cNvSpPr/>
          <p:nvPr/>
        </p:nvSpPr>
        <p:spPr>
          <a:xfrm>
            <a:off x="548640" y="164592"/>
            <a:ext cx="2011680" cy="256032"/>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950" b="1">
                <a:solidFill>
                  <a:srgbClr val="FFFFFF"/>
                </a:solidFill>
                <a:latin typeface="Calibri"/>
              </a:defRPr>
            </a:pPr>
            <a:r>
              <a:t>UTILITY POWER</a:t>
            </a:r>
          </a:p>
        </p:txBody>
      </p:sp>
      <p:sp>
        <p:nvSpPr>
          <p:cNvPr id="6" name="TextBox 5"/>
          <p:cNvSpPr txBox="1"/>
          <p:nvPr/>
        </p:nvSpPr>
        <p:spPr>
          <a:xfrm>
            <a:off x="548640" y="438912"/>
            <a:ext cx="9601200" cy="502920"/>
          </a:xfrm>
          <a:prstGeom prst="rect">
            <a:avLst/>
          </a:prstGeom>
          <a:noFill/>
        </p:spPr>
        <p:txBody>
          <a:bodyPr wrap="square">
            <a:spAutoFit/>
          </a:bodyPr>
          <a:lstStyle/>
          <a:p>
            <a:pPr>
              <a:defRPr sz="2000" b="1">
                <a:solidFill>
                  <a:srgbClr val="FFFFFF"/>
                </a:solidFill>
                <a:latin typeface="Calibri"/>
              </a:defRPr>
            </a:pPr>
            <a:r>
              <a:t>Utility Power Intake: High Voltage Substations &amp; Dual Feeds</a:t>
            </a:r>
          </a:p>
          <a:p>
            <a:pPr>
              <a:defRPr sz="1100">
                <a:solidFill>
                  <a:srgbClr val="94A3B8"/>
                </a:solidFill>
                <a:latin typeface="Calibri"/>
              </a:defRPr>
            </a:pPr>
            <a:r>
              <a:t>Establishing the first line of electrical defense for Tier III/IV high availability</a:t>
            </a:r>
          </a:p>
        </p:txBody>
      </p:sp>
      <p:sp>
        <p:nvSpPr>
          <p:cNvPr id="7" name="Rounded Rectangle 6"/>
          <p:cNvSpPr/>
          <p:nvPr/>
        </p:nvSpPr>
        <p:spPr>
          <a:xfrm>
            <a:off x="11064240" y="228600"/>
            <a:ext cx="640080" cy="292608"/>
          </a:xfrm>
          <a:prstGeom prst="roundRect">
            <a:avLst/>
          </a:prstGeom>
          <a:solidFill>
            <a:srgbClr val="1E293B"/>
          </a:solidFill>
          <a:ln w="12700">
            <a:solidFill>
              <a:srgbClr val="47556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03</a:t>
            </a:r>
          </a:p>
        </p:txBody>
      </p:sp>
      <p:sp>
        <p:nvSpPr>
          <p:cNvPr id="8" name="Rounded Rectangle 7"/>
          <p:cNvSpPr/>
          <p:nvPr/>
        </p:nvSpPr>
        <p:spPr>
          <a:xfrm>
            <a:off x="548640" y="1280160"/>
            <a:ext cx="5349240" cy="484632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463040"/>
            <a:ext cx="4892040" cy="411480"/>
          </a:xfrm>
          <a:prstGeom prst="rect">
            <a:avLst/>
          </a:prstGeom>
          <a:noFill/>
        </p:spPr>
        <p:txBody>
          <a:bodyPr wrap="square">
            <a:spAutoFit/>
          </a:bodyPr>
          <a:lstStyle/>
          <a:p>
            <a:pPr>
              <a:defRPr sz="1400" b="1">
                <a:solidFill>
                  <a:srgbClr val="0F172A"/>
                </a:solidFill>
                <a:latin typeface="Calibri"/>
              </a:defRPr>
            </a:pPr>
            <a:r>
              <a:t>Utility Grid Intake Architecture</a:t>
            </a:r>
          </a:p>
        </p:txBody>
      </p:sp>
      <p:sp>
        <p:nvSpPr>
          <p:cNvPr id="10" name="Rounded Rectangle 9"/>
          <p:cNvSpPr/>
          <p:nvPr/>
        </p:nvSpPr>
        <p:spPr>
          <a:xfrm>
            <a:off x="4526280" y="1463040"/>
            <a:ext cx="1188720" cy="22860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FFFFFF"/>
                </a:solidFill>
              </a:defRPr>
            </a:pPr>
            <a:r>
              <a:t>INFRASTRUCTURE</a:t>
            </a:r>
          </a:p>
        </p:txBody>
      </p:sp>
      <p:sp>
        <p:nvSpPr>
          <p:cNvPr id="11" name="TextBox 10"/>
          <p:cNvSpPr txBox="1"/>
          <p:nvPr/>
        </p:nvSpPr>
        <p:spPr>
          <a:xfrm>
            <a:off x="777240" y="1920240"/>
            <a:ext cx="4892040" cy="4069080"/>
          </a:xfrm>
          <a:prstGeom prst="rect">
            <a:avLst/>
          </a:prstGeom>
          <a:noFill/>
        </p:spPr>
        <p:txBody>
          <a:bodyPr wrap="square" tIns="0" lIns="0" rIns="0">
            <a:spAutoFit/>
          </a:bodyPr>
          <a:lstStyle/>
          <a:p>
            <a:pPr>
              <a:spcAft>
                <a:spcPts val="600"/>
              </a:spcAft>
              <a:defRPr sz="1100">
                <a:solidFill>
                  <a:srgbClr val="475569"/>
                </a:solidFill>
                <a:latin typeface="Calibri"/>
              </a:defRPr>
            </a:pPr>
            <a:r>
              <a:rPr b="1">
                <a:solidFill>
                  <a:srgbClr val="0F172A"/>
                </a:solidFill>
              </a:rPr>
              <a:t>• Voltage Levels:</a:t>
            </a:r>
            <a:r>
              <a:rPr b="0">
                <a:solidFill>
                  <a:srgbClr val="475569"/>
                </a:solidFill>
              </a:rPr>
              <a:t> Medium/High Voltage (132 kV, 66 kV, 33 kV or 11 kV) stepped down to 415V 3-phase.</a:t>
            </a:r>
          </a:p>
          <a:p>
            <a:pPr>
              <a:spcAft>
                <a:spcPts val="600"/>
              </a:spcAft>
              <a:defRPr sz="1100">
                <a:solidFill>
                  <a:srgbClr val="475569"/>
                </a:solidFill>
                <a:latin typeface="Calibri"/>
              </a:defRPr>
            </a:pPr>
            <a:r>
              <a:rPr b="1">
                <a:solidFill>
                  <a:srgbClr val="0F172A"/>
                </a:solidFill>
              </a:rPr>
              <a:t>• Dual Utility Substations:</a:t>
            </a:r>
            <a:r>
              <a:rPr b="0">
                <a:solidFill>
                  <a:srgbClr val="475569"/>
                </a:solidFill>
              </a:rPr>
              <a:t> Independent transmission substations originating from diverse grid power stations.</a:t>
            </a:r>
          </a:p>
          <a:p>
            <a:pPr>
              <a:spcAft>
                <a:spcPts val="600"/>
              </a:spcAft>
              <a:defRPr sz="1100">
                <a:solidFill>
                  <a:srgbClr val="475569"/>
                </a:solidFill>
                <a:latin typeface="Calibri"/>
              </a:defRPr>
            </a:pPr>
            <a:r>
              <a:rPr b="1">
                <a:solidFill>
                  <a:srgbClr val="0F172A"/>
                </a:solidFill>
              </a:rPr>
              <a:t>• Diverse Trench Routing:</a:t>
            </a:r>
            <a:r>
              <a:rPr b="0">
                <a:solidFill>
                  <a:srgbClr val="475569"/>
                </a:solidFill>
              </a:rPr>
              <a:t> Utility cables enter through physically separated building entrances (&gt; 20 meters apart) to eliminate single-point trench cuts.</a:t>
            </a:r>
          </a:p>
          <a:p>
            <a:pPr>
              <a:spcAft>
                <a:spcPts val="600"/>
              </a:spcAft>
              <a:defRPr sz="1100">
                <a:solidFill>
                  <a:srgbClr val="475569"/>
                </a:solidFill>
                <a:latin typeface="Calibri"/>
              </a:defRPr>
            </a:pPr>
            <a:r>
              <a:rPr b="1">
                <a:solidFill>
                  <a:srgbClr val="0F172A"/>
                </a:solidFill>
              </a:rPr>
              <a:t>• Ring Main Unit (RMU):</a:t>
            </a:r>
            <a:r>
              <a:rPr b="0">
                <a:solidFill>
                  <a:srgbClr val="475569"/>
                </a:solidFill>
              </a:rPr>
              <a:t> Provides automated loop isolation; if one feeder faults, the loop automatically re-energizes via alternate switchgear.</a:t>
            </a:r>
          </a:p>
          <a:p>
            <a:pPr>
              <a:spcAft>
                <a:spcPts val="600"/>
              </a:spcAft>
              <a:defRPr sz="1100">
                <a:solidFill>
                  <a:srgbClr val="475569"/>
                </a:solidFill>
                <a:latin typeface="Calibri"/>
              </a:defRPr>
            </a:pPr>
            <a:r>
              <a:rPr b="1">
                <a:solidFill>
                  <a:srgbClr val="0F172A"/>
                </a:solidFill>
              </a:rPr>
              <a:t>• Gas Insulated Switchgear (GIS):</a:t>
            </a:r>
            <a:r>
              <a:rPr b="0">
                <a:solidFill>
                  <a:srgbClr val="475569"/>
                </a:solidFill>
              </a:rPr>
              <a:t> Preferred for compact urban DCs over Air Insulated Switchgear (AIS) due to reliability and footprint.</a:t>
            </a:r>
          </a:p>
          <a:p>
            <a:pPr>
              <a:spcAft>
                <a:spcPts val="600"/>
              </a:spcAft>
              <a:defRPr sz="1100">
                <a:solidFill>
                  <a:srgbClr val="475569"/>
                </a:solidFill>
                <a:latin typeface="Calibri"/>
              </a:defRPr>
            </a:pPr>
            <a:r>
              <a:rPr b="1">
                <a:solidFill>
                  <a:srgbClr val="0F172A"/>
                </a:solidFill>
              </a:rPr>
              <a:t>• Exam Tip:</a:t>
            </a:r>
            <a:r>
              <a:rPr b="0">
                <a:solidFill>
                  <a:srgbClr val="475569"/>
                </a:solidFill>
              </a:rPr>
              <a:t> In Tier III/IV design, dual utility is best practice, but Uptime Institute considers utility an economic convenience; DGs are the true primary power.</a:t>
            </a:r>
          </a:p>
        </p:txBody>
      </p:sp>
      <p:sp>
        <p:nvSpPr>
          <p:cNvPr id="12" name="Rounded Rectangle 11"/>
          <p:cNvSpPr/>
          <p:nvPr/>
        </p:nvSpPr>
        <p:spPr>
          <a:xfrm>
            <a:off x="6217920" y="1280160"/>
            <a:ext cx="5349240" cy="484632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46520" y="1463040"/>
            <a:ext cx="4892040" cy="411480"/>
          </a:xfrm>
          <a:prstGeom prst="rect">
            <a:avLst/>
          </a:prstGeom>
          <a:noFill/>
        </p:spPr>
        <p:txBody>
          <a:bodyPr wrap="square">
            <a:spAutoFit/>
          </a:bodyPr>
          <a:lstStyle/>
          <a:p>
            <a:pPr>
              <a:defRPr sz="1400" b="1">
                <a:solidFill>
                  <a:srgbClr val="0F172A"/>
                </a:solidFill>
                <a:latin typeface="Calibri"/>
              </a:defRPr>
            </a:pPr>
            <a:r>
              <a:t>Transformers &amp; Switchgear Engineering</a:t>
            </a:r>
          </a:p>
        </p:txBody>
      </p:sp>
      <p:sp>
        <p:nvSpPr>
          <p:cNvPr id="14" name="Rounded Rectangle 13"/>
          <p:cNvSpPr/>
          <p:nvPr/>
        </p:nvSpPr>
        <p:spPr>
          <a:xfrm>
            <a:off x="10195560" y="1463040"/>
            <a:ext cx="1188720" cy="228600"/>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FFFFFF"/>
                </a:solidFill>
              </a:defRPr>
            </a:pPr>
            <a:r>
              <a:t>TRANSFORMERS</a:t>
            </a:r>
          </a:p>
        </p:txBody>
      </p:sp>
      <p:sp>
        <p:nvSpPr>
          <p:cNvPr id="15" name="TextBox 14"/>
          <p:cNvSpPr txBox="1"/>
          <p:nvPr/>
        </p:nvSpPr>
        <p:spPr>
          <a:xfrm>
            <a:off x="6446520" y="1920240"/>
            <a:ext cx="4892040" cy="4069080"/>
          </a:xfrm>
          <a:prstGeom prst="rect">
            <a:avLst/>
          </a:prstGeom>
          <a:noFill/>
        </p:spPr>
        <p:txBody>
          <a:bodyPr wrap="square" tIns="0" lIns="0" rIns="0">
            <a:spAutoFit/>
          </a:bodyPr>
          <a:lstStyle/>
          <a:p>
            <a:pPr>
              <a:spcAft>
                <a:spcPts val="600"/>
              </a:spcAft>
              <a:defRPr sz="1100">
                <a:solidFill>
                  <a:srgbClr val="475569"/>
                </a:solidFill>
                <a:latin typeface="Calibri"/>
              </a:defRPr>
            </a:pPr>
            <a:r>
              <a:rPr b="1">
                <a:solidFill>
                  <a:srgbClr val="0F172A"/>
                </a:solidFill>
              </a:rPr>
              <a:t>• Cast Resin (CRT) Dry-Type:</a:t>
            </a:r>
            <a:r>
              <a:rPr b="0">
                <a:solidFill>
                  <a:srgbClr val="475569"/>
                </a:solidFill>
              </a:rPr>
              <a:t> Standard indoor choice. Non-flammable, self-extinguishing, zero oil spill risk, maintenance-free.</a:t>
            </a:r>
          </a:p>
          <a:p>
            <a:pPr>
              <a:spcAft>
                <a:spcPts val="600"/>
              </a:spcAft>
              <a:defRPr sz="1100">
                <a:solidFill>
                  <a:srgbClr val="475569"/>
                </a:solidFill>
                <a:latin typeface="Calibri"/>
              </a:defRPr>
            </a:pPr>
            <a:r>
              <a:rPr b="1">
                <a:solidFill>
                  <a:srgbClr val="0F172A"/>
                </a:solidFill>
              </a:rPr>
              <a:t>• Oil-Immersed Transformers (ONAN/ONAF):</a:t>
            </a:r>
            <a:r>
              <a:rPr b="0">
                <a:solidFill>
                  <a:srgbClr val="475569"/>
                </a:solidFill>
              </a:rPr>
              <a:t> Higher efficiency for mega-watt substations, but requires outdoor blast-proof blast walls &amp; oil drainage pits.</a:t>
            </a:r>
          </a:p>
          <a:p>
            <a:pPr>
              <a:spcAft>
                <a:spcPts val="600"/>
              </a:spcAft>
              <a:defRPr sz="1100">
                <a:solidFill>
                  <a:srgbClr val="475569"/>
                </a:solidFill>
                <a:latin typeface="Calibri"/>
              </a:defRPr>
            </a:pPr>
            <a:r>
              <a:rPr b="1">
                <a:solidFill>
                  <a:srgbClr val="0F172A"/>
                </a:solidFill>
              </a:rPr>
              <a:t>• K-Factor Rating:</a:t>
            </a:r>
            <a:r>
              <a:rPr b="0">
                <a:solidFill>
                  <a:srgbClr val="475569"/>
                </a:solidFill>
              </a:rPr>
              <a:t> Crucial for DC loads. Non-linear server PSUs generate severe 3rd, 5th, 9th harmonics. Transformers MUST be K-13 or K-20 rated to prevent core overheating.</a:t>
            </a:r>
          </a:p>
          <a:p>
            <a:pPr>
              <a:spcAft>
                <a:spcPts val="600"/>
              </a:spcAft>
              <a:defRPr sz="1100">
                <a:solidFill>
                  <a:srgbClr val="475569"/>
                </a:solidFill>
                <a:latin typeface="Calibri"/>
              </a:defRPr>
            </a:pPr>
            <a:r>
              <a:rPr b="1">
                <a:solidFill>
                  <a:srgbClr val="0F172A"/>
                </a:solidFill>
              </a:rPr>
              <a:t>• Impedance Voltage (%Z):</a:t>
            </a:r>
            <a:r>
              <a:rPr b="0">
                <a:solidFill>
                  <a:srgbClr val="475569"/>
                </a:solidFill>
              </a:rPr>
              <a:t> Typically 5% to 7% to balance fault-current limitation with minimal voltage drop on sudden load steps.</a:t>
            </a:r>
          </a:p>
          <a:p>
            <a:pPr>
              <a:spcAft>
                <a:spcPts val="600"/>
              </a:spcAft>
              <a:defRPr sz="1100">
                <a:solidFill>
                  <a:srgbClr val="475569"/>
                </a:solidFill>
                <a:latin typeface="Calibri"/>
              </a:defRPr>
            </a:pPr>
            <a:r>
              <a:rPr b="1">
                <a:solidFill>
                  <a:srgbClr val="0F172A"/>
                </a:solidFill>
              </a:rPr>
              <a:t>• Vector Group:</a:t>
            </a:r>
            <a:r>
              <a:rPr b="0">
                <a:solidFill>
                  <a:srgbClr val="475569"/>
                </a:solidFill>
              </a:rPr>
              <a:t> Dyn11 (Delta primary, Star secondary with neutral brought out, 30 deg lead) provides essential neutral derivation and traps 3rd harmonics.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92240"/>
            <a:ext cx="12191695" cy="36576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510528"/>
            <a:ext cx="11094415" cy="320040"/>
          </a:xfrm>
          <a:prstGeom prst="rect">
            <a:avLst/>
          </a:prstGeom>
          <a:noFill/>
        </p:spPr>
        <p:txBody>
          <a:bodyPr wrap="square">
            <a:spAutoFit/>
          </a:bodyPr>
          <a:lstStyle/>
          <a:p>
            <a:pPr>
              <a:defRPr sz="1000">
                <a:solidFill>
                  <a:srgbClr val="94A3B8"/>
                </a:solidFill>
                <a:latin typeface="Calibri"/>
              </a:defRPr>
            </a:pPr>
            <a:r>
              <a:t>M.Tech CSE · Data Centre Systems Engineering | Unit 2: Electrical Infrastructure Engineering | Slide 4 of 22</a:t>
            </a:r>
          </a:p>
        </p:txBody>
      </p:sp>
      <p:sp>
        <p:nvSpPr>
          <p:cNvPr id="5" name="Rounded Rectangle 4"/>
          <p:cNvSpPr/>
          <p:nvPr/>
        </p:nvSpPr>
        <p:spPr>
          <a:xfrm>
            <a:off x="548640" y="164592"/>
            <a:ext cx="2011680" cy="256032"/>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950" b="1">
                <a:solidFill>
                  <a:srgbClr val="FFFFFF"/>
                </a:solidFill>
                <a:latin typeface="Calibri"/>
              </a:defRPr>
            </a:pPr>
            <a:r>
              <a:t>POWER QUALITY</a:t>
            </a:r>
          </a:p>
        </p:txBody>
      </p:sp>
      <p:sp>
        <p:nvSpPr>
          <p:cNvPr id="6" name="TextBox 5"/>
          <p:cNvSpPr txBox="1"/>
          <p:nvPr/>
        </p:nvSpPr>
        <p:spPr>
          <a:xfrm>
            <a:off x="548640" y="438912"/>
            <a:ext cx="9601200" cy="502920"/>
          </a:xfrm>
          <a:prstGeom prst="rect">
            <a:avLst/>
          </a:prstGeom>
          <a:noFill/>
        </p:spPr>
        <p:txBody>
          <a:bodyPr wrap="square">
            <a:spAutoFit/>
          </a:bodyPr>
          <a:lstStyle/>
          <a:p>
            <a:pPr>
              <a:defRPr sz="2000" b="1">
                <a:solidFill>
                  <a:srgbClr val="FFFFFF"/>
                </a:solidFill>
                <a:latin typeface="Calibri"/>
              </a:defRPr>
            </a:pPr>
            <a:r>
              <a:t>Power Quality Engineering, Harmonics &amp; Power Factor</a:t>
            </a:r>
          </a:p>
          <a:p>
            <a:pPr>
              <a:defRPr sz="1100">
                <a:solidFill>
                  <a:srgbClr val="94A3B8"/>
                </a:solidFill>
                <a:latin typeface="Calibri"/>
              </a:defRPr>
            </a:pPr>
            <a:r>
              <a:t>Mitigating non-linear load anomalies to protect data centre efficiency and compliance</a:t>
            </a:r>
          </a:p>
        </p:txBody>
      </p:sp>
      <p:sp>
        <p:nvSpPr>
          <p:cNvPr id="7" name="Rounded Rectangle 6"/>
          <p:cNvSpPr/>
          <p:nvPr/>
        </p:nvSpPr>
        <p:spPr>
          <a:xfrm>
            <a:off x="11064240" y="228600"/>
            <a:ext cx="640080" cy="292608"/>
          </a:xfrm>
          <a:prstGeom prst="roundRect">
            <a:avLst/>
          </a:prstGeom>
          <a:solidFill>
            <a:srgbClr val="1E293B"/>
          </a:solidFill>
          <a:ln w="12700">
            <a:solidFill>
              <a:srgbClr val="47556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04</a:t>
            </a:r>
          </a:p>
        </p:txBody>
      </p:sp>
      <p:sp>
        <p:nvSpPr>
          <p:cNvPr id="8" name="Rounded Rectangle 7"/>
          <p:cNvSpPr/>
          <p:nvPr/>
        </p:nvSpPr>
        <p:spPr>
          <a:xfrm>
            <a:off x="548640" y="1280160"/>
            <a:ext cx="5349240" cy="484632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463040"/>
            <a:ext cx="4892040" cy="411480"/>
          </a:xfrm>
          <a:prstGeom prst="rect">
            <a:avLst/>
          </a:prstGeom>
          <a:noFill/>
        </p:spPr>
        <p:txBody>
          <a:bodyPr wrap="square">
            <a:spAutoFit/>
          </a:bodyPr>
          <a:lstStyle/>
          <a:p>
            <a:pPr>
              <a:defRPr sz="1400" b="1">
                <a:solidFill>
                  <a:srgbClr val="0F172A"/>
                </a:solidFill>
                <a:latin typeface="Calibri"/>
              </a:defRPr>
            </a:pPr>
            <a:r>
              <a:t>Power Quality Distortions &amp; Solutions</a:t>
            </a:r>
          </a:p>
        </p:txBody>
      </p:sp>
      <p:sp>
        <p:nvSpPr>
          <p:cNvPr id="10" name="Rounded Rectangle 9"/>
          <p:cNvSpPr/>
          <p:nvPr/>
        </p:nvSpPr>
        <p:spPr>
          <a:xfrm>
            <a:off x="4526280" y="1463040"/>
            <a:ext cx="1188720" cy="228600"/>
          </a:xfrm>
          <a:prstGeom prst="round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FFFFFF"/>
                </a:solidFill>
              </a:defRPr>
            </a:pPr>
            <a:r>
              <a:t>STANDARDS: IEEE 519</a:t>
            </a:r>
          </a:p>
        </p:txBody>
      </p:sp>
      <p:sp>
        <p:nvSpPr>
          <p:cNvPr id="11" name="TextBox 10"/>
          <p:cNvSpPr txBox="1"/>
          <p:nvPr/>
        </p:nvSpPr>
        <p:spPr>
          <a:xfrm>
            <a:off x="777240" y="1920240"/>
            <a:ext cx="4892040" cy="4069080"/>
          </a:xfrm>
          <a:prstGeom prst="rect">
            <a:avLst/>
          </a:prstGeom>
          <a:noFill/>
        </p:spPr>
        <p:txBody>
          <a:bodyPr wrap="square" tIns="0" lIns="0" rIns="0">
            <a:spAutoFit/>
          </a:bodyPr>
          <a:lstStyle/>
          <a:p>
            <a:pPr>
              <a:spcAft>
                <a:spcPts val="600"/>
              </a:spcAft>
              <a:defRPr sz="1100">
                <a:solidFill>
                  <a:srgbClr val="475569"/>
                </a:solidFill>
                <a:latin typeface="Calibri"/>
              </a:defRPr>
            </a:pPr>
            <a:r>
              <a:rPr b="1">
                <a:solidFill>
                  <a:srgbClr val="0F172A"/>
                </a:solidFill>
              </a:rPr>
              <a:t>• Voltage Sags &amp; Swells:</a:t>
            </a:r>
            <a:r>
              <a:rPr b="0">
                <a:solidFill>
                  <a:srgbClr val="475569"/>
                </a:solidFill>
              </a:rPr>
              <a:t> Short-duration RMS voltage drops/rises caused by grid faults or heavy motor starts. Cleared by UPS battery inverter buffers.</a:t>
            </a:r>
          </a:p>
          <a:p>
            <a:pPr>
              <a:spcAft>
                <a:spcPts val="600"/>
              </a:spcAft>
              <a:defRPr sz="1100">
                <a:solidFill>
                  <a:srgbClr val="475569"/>
                </a:solidFill>
                <a:latin typeface="Calibri"/>
              </a:defRPr>
            </a:pPr>
            <a:r>
              <a:rPr b="1">
                <a:solidFill>
                  <a:srgbClr val="0F172A"/>
                </a:solidFill>
              </a:rPr>
              <a:t>• Harmonics (THD):</a:t>
            </a:r>
            <a:r>
              <a:rPr b="0">
                <a:solidFill>
                  <a:srgbClr val="475569"/>
                </a:solidFill>
              </a:rPr>
              <a:t> Caused by Switch Mode Power Supplies (SMPS) in servers drawing non-sinusoidal current pulses.</a:t>
            </a:r>
          </a:p>
          <a:p>
            <a:pPr>
              <a:spcAft>
                <a:spcPts val="600"/>
              </a:spcAft>
              <a:defRPr sz="1100">
                <a:solidFill>
                  <a:srgbClr val="475569"/>
                </a:solidFill>
                <a:latin typeface="Calibri"/>
              </a:defRPr>
            </a:pPr>
            <a:r>
              <a:rPr b="1">
                <a:solidFill>
                  <a:srgbClr val="0F172A"/>
                </a:solidFill>
              </a:rPr>
              <a:t>• Triplen Harmonics:</a:t>
            </a:r>
            <a:r>
              <a:rPr b="0">
                <a:solidFill>
                  <a:srgbClr val="475569"/>
                </a:solidFill>
              </a:rPr>
              <a:t> 3rd, 9th, 15th harmonic currents do not cancel out in the neutral; they add up, causing neutral conductor overheating ($I_{neutral} &gt; 1.73 \times I_{phase}$).</a:t>
            </a:r>
          </a:p>
          <a:p>
            <a:pPr>
              <a:spcAft>
                <a:spcPts val="600"/>
              </a:spcAft>
              <a:defRPr sz="1100">
                <a:solidFill>
                  <a:srgbClr val="475569"/>
                </a:solidFill>
                <a:latin typeface="Calibri"/>
              </a:defRPr>
            </a:pPr>
            <a:r>
              <a:rPr b="1">
                <a:solidFill>
                  <a:srgbClr val="0F172A"/>
                </a:solidFill>
              </a:rPr>
              <a:t>• Active Harmonic Filters (AHF):</a:t>
            </a:r>
            <a:r>
              <a:rPr b="0">
                <a:solidFill>
                  <a:srgbClr val="475569"/>
                </a:solidFill>
              </a:rPr>
              <a:t> Injects counter-phase harmonic currents in real-time, maintaining Total Harmonic Distortion (THDi) &lt; 5% as per IEEE 519.</a:t>
            </a:r>
          </a:p>
          <a:p>
            <a:pPr>
              <a:spcAft>
                <a:spcPts val="600"/>
              </a:spcAft>
              <a:defRPr sz="1100">
                <a:solidFill>
                  <a:srgbClr val="475569"/>
                </a:solidFill>
                <a:latin typeface="Calibri"/>
              </a:defRPr>
            </a:pPr>
            <a:r>
              <a:rPr b="1">
                <a:solidFill>
                  <a:srgbClr val="0F172A"/>
                </a:solidFill>
              </a:rPr>
              <a:t>• Automatic Power Factor Correction (APFC):</a:t>
            </a:r>
            <a:r>
              <a:rPr b="0">
                <a:solidFill>
                  <a:srgbClr val="475569"/>
                </a:solidFill>
              </a:rPr>
              <a:t> Modern server PSUs feature Active PFC (PF &gt; 0.98), but legacy cooling inductive motors require capacitor banks with detuned reactors.</a:t>
            </a:r>
          </a:p>
        </p:txBody>
      </p:sp>
      <p:sp>
        <p:nvSpPr>
          <p:cNvPr id="12" name="Rounded Rectangle 11"/>
          <p:cNvSpPr/>
          <p:nvPr/>
        </p:nvSpPr>
        <p:spPr>
          <a:xfrm>
            <a:off x="6217920" y="1280160"/>
            <a:ext cx="5349240" cy="4846320"/>
          </a:xfrm>
          <a:prstGeom prst="roundRect">
            <a:avLst/>
          </a:prstGeom>
          <a:solidFill>
            <a:srgbClr val="F8FAFC"/>
          </a:solidFill>
          <a:ln w="254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46520" y="1463040"/>
            <a:ext cx="4892040" cy="411480"/>
          </a:xfrm>
          <a:prstGeom prst="rect">
            <a:avLst/>
          </a:prstGeom>
          <a:noFill/>
        </p:spPr>
        <p:txBody>
          <a:bodyPr wrap="square">
            <a:spAutoFit/>
          </a:bodyPr>
          <a:lstStyle/>
          <a:p>
            <a:pPr>
              <a:defRPr sz="1400" b="1">
                <a:solidFill>
                  <a:srgbClr val="0F172A"/>
                </a:solidFill>
                <a:latin typeface="Calibri"/>
              </a:defRPr>
            </a:pPr>
            <a:r>
              <a:t>Transfer Mechanisms: ATS vs. STS Comparison</a:t>
            </a:r>
          </a:p>
        </p:txBody>
      </p:sp>
      <p:sp>
        <p:nvSpPr>
          <p:cNvPr id="14" name="Rounded Rectangle 13"/>
          <p:cNvSpPr/>
          <p:nvPr/>
        </p:nvSpPr>
        <p:spPr>
          <a:xfrm>
            <a:off x="10195560" y="1463040"/>
            <a:ext cx="1188720" cy="22860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FFFFFF"/>
                </a:solidFill>
              </a:defRPr>
            </a:pPr>
            <a:r>
              <a:t>HIGH EXAM YIELD</a:t>
            </a:r>
          </a:p>
        </p:txBody>
      </p:sp>
      <p:sp>
        <p:nvSpPr>
          <p:cNvPr id="15" name="TextBox 14"/>
          <p:cNvSpPr txBox="1"/>
          <p:nvPr/>
        </p:nvSpPr>
        <p:spPr>
          <a:xfrm>
            <a:off x="6446520" y="1920240"/>
            <a:ext cx="4892040" cy="4069080"/>
          </a:xfrm>
          <a:prstGeom prst="rect">
            <a:avLst/>
          </a:prstGeom>
          <a:noFill/>
        </p:spPr>
        <p:txBody>
          <a:bodyPr wrap="square" tIns="0" lIns="0" rIns="0">
            <a:spAutoFit/>
          </a:bodyPr>
          <a:lstStyle/>
          <a:p>
            <a:pPr>
              <a:spcAft>
                <a:spcPts val="600"/>
              </a:spcAft>
              <a:defRPr sz="1100">
                <a:solidFill>
                  <a:srgbClr val="475569"/>
                </a:solidFill>
                <a:latin typeface="Calibri"/>
              </a:defRPr>
            </a:pPr>
            <a:r>
              <a:rPr b="1">
                <a:solidFill>
                  <a:srgbClr val="0F172A"/>
                </a:solidFill>
              </a:rPr>
              <a:t>• Automatic Transfer Switch (ATS):</a:t>
            </a:r>
            <a:r>
              <a:rPr b="0">
                <a:solidFill>
                  <a:srgbClr val="475569"/>
                </a:solidFill>
              </a:rPr>
              <a:t> Electromechanical switch with mechanical interlock. Typical break-before-make transfer time: 50 ms to 100 ms.</a:t>
            </a:r>
          </a:p>
          <a:p>
            <a:pPr>
              <a:spcAft>
                <a:spcPts val="600"/>
              </a:spcAft>
              <a:defRPr sz="1100">
                <a:solidFill>
                  <a:srgbClr val="475569"/>
                </a:solidFill>
                <a:latin typeface="Calibri"/>
              </a:defRPr>
            </a:pPr>
            <a:r>
              <a:rPr b="1">
                <a:solidFill>
                  <a:srgbClr val="0F172A"/>
                </a:solidFill>
              </a:rPr>
              <a:t>• Static Transfer Switch (STS):</a:t>
            </a:r>
            <a:r>
              <a:rPr b="0">
                <a:solidFill>
                  <a:srgbClr val="475569"/>
                </a:solidFill>
              </a:rPr>
              <a:t> Solid-state SCR (Silicon Controlled Rectifier) thyristor-based switch. Ultra-fast sub-cycle transfer time: 2 ms to 4 ms.</a:t>
            </a:r>
          </a:p>
          <a:p>
            <a:pPr>
              <a:spcAft>
                <a:spcPts val="600"/>
              </a:spcAft>
              <a:defRPr sz="1100">
                <a:solidFill>
                  <a:srgbClr val="475569"/>
                </a:solidFill>
                <a:latin typeface="Calibri"/>
              </a:defRPr>
            </a:pPr>
            <a:r>
              <a:rPr b="1">
                <a:solidFill>
                  <a:srgbClr val="0F172A"/>
                </a:solidFill>
              </a:rPr>
              <a:t>• ITIC / CBEMA Curve Compliance:</a:t>
            </a:r>
            <a:r>
              <a:rPr b="0">
                <a:solidFill>
                  <a:srgbClr val="475569"/>
                </a:solidFill>
              </a:rPr>
              <a:t> Server power supplies survive power loss for only 16 ms to 20 ms (hold-up time of bulk capacitors).</a:t>
            </a:r>
          </a:p>
          <a:p>
            <a:pPr>
              <a:spcAft>
                <a:spcPts val="600"/>
              </a:spcAft>
              <a:defRPr sz="1100">
                <a:solidFill>
                  <a:srgbClr val="475569"/>
                </a:solidFill>
                <a:latin typeface="Calibri"/>
              </a:defRPr>
            </a:pPr>
            <a:r>
              <a:rPr b="1">
                <a:solidFill>
                  <a:srgbClr val="0F172A"/>
                </a:solidFill>
              </a:rPr>
              <a:t>• Application of ATS:</a:t>
            </a:r>
            <a:r>
              <a:rPr b="0">
                <a:solidFill>
                  <a:srgbClr val="475569"/>
                </a:solidFill>
              </a:rPr>
              <a:t> Used upstream between Utility and Diesel Generator feeds (where UPS bridges the 10-15 second transition).</a:t>
            </a:r>
          </a:p>
          <a:p>
            <a:pPr>
              <a:spcAft>
                <a:spcPts val="600"/>
              </a:spcAft>
              <a:defRPr sz="1100">
                <a:solidFill>
                  <a:srgbClr val="475569"/>
                </a:solidFill>
                <a:latin typeface="Calibri"/>
              </a:defRPr>
            </a:pPr>
            <a:r>
              <a:rPr b="1">
                <a:solidFill>
                  <a:srgbClr val="0F172A"/>
                </a:solidFill>
              </a:rPr>
              <a:t>• Application of STS:</a:t>
            </a:r>
            <a:r>
              <a:rPr b="0">
                <a:solidFill>
                  <a:srgbClr val="475569"/>
                </a:solidFill>
              </a:rPr>
              <a:t> Used downstream near the IT racks for seamless phase-synchronized transfer between Feed A and Feed B without server reboot.</a:t>
            </a:r>
          </a:p>
          <a:p>
            <a:pPr>
              <a:spcAft>
                <a:spcPts val="600"/>
              </a:spcAft>
              <a:defRPr sz="1100">
                <a:solidFill>
                  <a:srgbClr val="475569"/>
                </a:solidFill>
                <a:latin typeface="Calibri"/>
              </a:defRPr>
            </a:pPr>
            <a:r>
              <a:rPr b="1">
                <a:solidFill>
                  <a:srgbClr val="0F172A"/>
                </a:solidFill>
              </a:rPr>
              <a:t>• Exam Comparison:</a:t>
            </a:r>
            <a:r>
              <a:rPr b="0">
                <a:solidFill>
                  <a:srgbClr val="475569"/>
                </a:solidFill>
              </a:rPr>
              <a:t> ATS has moving parts and wear; STS has no moving parts, instantaneous transfer, but higher continuous thermal dissipation.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92240"/>
            <a:ext cx="12191695" cy="36576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510528"/>
            <a:ext cx="11094415" cy="320040"/>
          </a:xfrm>
          <a:prstGeom prst="rect">
            <a:avLst/>
          </a:prstGeom>
          <a:noFill/>
        </p:spPr>
        <p:txBody>
          <a:bodyPr wrap="square">
            <a:spAutoFit/>
          </a:bodyPr>
          <a:lstStyle/>
          <a:p>
            <a:pPr>
              <a:defRPr sz="1000">
                <a:solidFill>
                  <a:srgbClr val="94A3B8"/>
                </a:solidFill>
                <a:latin typeface="Calibri"/>
              </a:defRPr>
            </a:pPr>
            <a:r>
              <a:t>M.Tech CSE · Data Centre Systems Engineering | Unit 2: Electrical Infrastructure Engineering | Slide 5 of 22</a:t>
            </a:r>
          </a:p>
        </p:txBody>
      </p:sp>
      <p:sp>
        <p:nvSpPr>
          <p:cNvPr id="5" name="Rounded Rectangle 4"/>
          <p:cNvSpPr/>
          <p:nvPr/>
        </p:nvSpPr>
        <p:spPr>
          <a:xfrm>
            <a:off x="548640" y="164592"/>
            <a:ext cx="2011680" cy="256032"/>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950" b="1">
                <a:solidFill>
                  <a:srgbClr val="FFFFFF"/>
                </a:solidFill>
                <a:latin typeface="Calibri"/>
              </a:defRPr>
            </a:pPr>
            <a:r>
              <a:t>BACKUP POWER</a:t>
            </a:r>
          </a:p>
        </p:txBody>
      </p:sp>
      <p:sp>
        <p:nvSpPr>
          <p:cNvPr id="6" name="TextBox 5"/>
          <p:cNvSpPr txBox="1"/>
          <p:nvPr/>
        </p:nvSpPr>
        <p:spPr>
          <a:xfrm>
            <a:off x="548640" y="438912"/>
            <a:ext cx="9601200" cy="502920"/>
          </a:xfrm>
          <a:prstGeom prst="rect">
            <a:avLst/>
          </a:prstGeom>
          <a:noFill/>
        </p:spPr>
        <p:txBody>
          <a:bodyPr wrap="square">
            <a:spAutoFit/>
          </a:bodyPr>
          <a:lstStyle/>
          <a:p>
            <a:pPr>
              <a:defRPr sz="2000" b="1">
                <a:solidFill>
                  <a:srgbClr val="FFFFFF"/>
                </a:solidFill>
                <a:latin typeface="Calibri"/>
              </a:defRPr>
            </a:pPr>
            <a:r>
              <a:t>Backup Power Generation: Diesel Generator (DG) Sets &amp; Fuel Autonomy</a:t>
            </a:r>
          </a:p>
          <a:p>
            <a:pPr>
              <a:defRPr sz="1100">
                <a:solidFill>
                  <a:srgbClr val="94A3B8"/>
                </a:solidFill>
                <a:latin typeface="Calibri"/>
              </a:defRPr>
            </a:pPr>
            <a:r>
              <a:t>The true primary power source according to Uptime Institute Tier certification</a:t>
            </a:r>
          </a:p>
        </p:txBody>
      </p:sp>
      <p:sp>
        <p:nvSpPr>
          <p:cNvPr id="7" name="Rounded Rectangle 6"/>
          <p:cNvSpPr/>
          <p:nvPr/>
        </p:nvSpPr>
        <p:spPr>
          <a:xfrm>
            <a:off x="11064240" y="228600"/>
            <a:ext cx="640080" cy="292608"/>
          </a:xfrm>
          <a:prstGeom prst="roundRect">
            <a:avLst/>
          </a:prstGeom>
          <a:solidFill>
            <a:srgbClr val="1E293B"/>
          </a:solidFill>
          <a:ln w="12700">
            <a:solidFill>
              <a:srgbClr val="47556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05</a:t>
            </a:r>
          </a:p>
        </p:txBody>
      </p:sp>
      <p:sp>
        <p:nvSpPr>
          <p:cNvPr id="8" name="Rounded Rectangle 7"/>
          <p:cNvSpPr/>
          <p:nvPr/>
        </p:nvSpPr>
        <p:spPr>
          <a:xfrm>
            <a:off x="548640" y="1280160"/>
            <a:ext cx="5349240" cy="484632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463040"/>
            <a:ext cx="4892040" cy="411480"/>
          </a:xfrm>
          <a:prstGeom prst="rect">
            <a:avLst/>
          </a:prstGeom>
          <a:noFill/>
        </p:spPr>
        <p:txBody>
          <a:bodyPr wrap="square">
            <a:spAutoFit/>
          </a:bodyPr>
          <a:lstStyle/>
          <a:p>
            <a:pPr>
              <a:defRPr sz="1400" b="1">
                <a:solidFill>
                  <a:srgbClr val="0F172A"/>
                </a:solidFill>
                <a:latin typeface="Calibri"/>
              </a:defRPr>
            </a:pPr>
            <a:r>
              <a:t>DG Ratings &amp; Sizing Criteria (ISO 8528-1)</a:t>
            </a:r>
          </a:p>
        </p:txBody>
      </p:sp>
      <p:sp>
        <p:nvSpPr>
          <p:cNvPr id="10" name="Rounded Rectangle 9"/>
          <p:cNvSpPr/>
          <p:nvPr/>
        </p:nvSpPr>
        <p:spPr>
          <a:xfrm>
            <a:off x="4526280" y="1463040"/>
            <a:ext cx="1188720" cy="228600"/>
          </a:xfrm>
          <a:prstGeom prst="round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FFFFFF"/>
                </a:solidFill>
              </a:defRPr>
            </a:pPr>
            <a:r>
              <a:t>ISO 8528 RATINGS</a:t>
            </a:r>
          </a:p>
        </p:txBody>
      </p:sp>
      <p:sp>
        <p:nvSpPr>
          <p:cNvPr id="11" name="TextBox 10"/>
          <p:cNvSpPr txBox="1"/>
          <p:nvPr/>
        </p:nvSpPr>
        <p:spPr>
          <a:xfrm>
            <a:off x="777240" y="1920240"/>
            <a:ext cx="4892040" cy="4069080"/>
          </a:xfrm>
          <a:prstGeom prst="rect">
            <a:avLst/>
          </a:prstGeom>
          <a:noFill/>
        </p:spPr>
        <p:txBody>
          <a:bodyPr wrap="square" tIns="0" lIns="0" rIns="0">
            <a:spAutoFit/>
          </a:bodyPr>
          <a:lstStyle/>
          <a:p>
            <a:pPr>
              <a:spcAft>
                <a:spcPts val="600"/>
              </a:spcAft>
              <a:defRPr sz="1100">
                <a:solidFill>
                  <a:srgbClr val="475569"/>
                </a:solidFill>
                <a:latin typeface="Calibri"/>
              </a:defRPr>
            </a:pPr>
            <a:r>
              <a:rPr b="1">
                <a:solidFill>
                  <a:srgbClr val="0F172A"/>
                </a:solidFill>
              </a:rPr>
              <a:t>• Standby Power Rating (ESP):</a:t>
            </a:r>
            <a:r>
              <a:rPr b="0">
                <a:solidFill>
                  <a:srgbClr val="475569"/>
                </a:solidFill>
              </a:rPr>
              <a:t> Maximum power for emergency duration; limited to 200 hours/year at 70% average load. (Not acceptable for Tier III/IV).</a:t>
            </a:r>
          </a:p>
          <a:p>
            <a:pPr>
              <a:spcAft>
                <a:spcPts val="600"/>
              </a:spcAft>
              <a:defRPr sz="1100">
                <a:solidFill>
                  <a:srgbClr val="475569"/>
                </a:solidFill>
                <a:latin typeface="Calibri"/>
              </a:defRPr>
            </a:pPr>
            <a:r>
              <a:rPr b="1">
                <a:solidFill>
                  <a:srgbClr val="0F172A"/>
                </a:solidFill>
              </a:rPr>
              <a:t>• Continuous Operating Power (COP):</a:t>
            </a:r>
            <a:r>
              <a:rPr b="0">
                <a:solidFill>
                  <a:srgbClr val="475569"/>
                </a:solidFill>
              </a:rPr>
              <a:t> Continuous base load without interruption for unlimited hours.</a:t>
            </a:r>
          </a:p>
          <a:p>
            <a:pPr>
              <a:spcAft>
                <a:spcPts val="600"/>
              </a:spcAft>
              <a:defRPr sz="1100">
                <a:solidFill>
                  <a:srgbClr val="475569"/>
                </a:solidFill>
                <a:latin typeface="Calibri"/>
              </a:defRPr>
            </a:pPr>
            <a:r>
              <a:rPr b="1">
                <a:solidFill>
                  <a:srgbClr val="0F172A"/>
                </a:solidFill>
              </a:rPr>
              <a:t>• Data Centre Continuous (DCC) Rating:</a:t>
            </a:r>
            <a:r>
              <a:rPr b="0">
                <a:solidFill>
                  <a:srgbClr val="475569"/>
                </a:solidFill>
              </a:rPr>
              <a:t> Vendor certification (e.g. Cummins, Caterpillar) allowing continuous operation at 100% rated load for unlimited hours.</a:t>
            </a:r>
          </a:p>
          <a:p>
            <a:pPr>
              <a:spcAft>
                <a:spcPts val="600"/>
              </a:spcAft>
              <a:defRPr sz="1100">
                <a:solidFill>
                  <a:srgbClr val="475569"/>
                </a:solidFill>
                <a:latin typeface="Calibri"/>
              </a:defRPr>
            </a:pPr>
            <a:r>
              <a:rPr b="1">
                <a:solidFill>
                  <a:srgbClr val="0F172A"/>
                </a:solidFill>
              </a:rPr>
              <a:t>• Step Load Acceptance:</a:t>
            </a:r>
            <a:r>
              <a:rPr b="0">
                <a:solidFill>
                  <a:srgbClr val="475569"/>
                </a:solidFill>
              </a:rPr>
              <a:t> Modern DG engines must accept 100% single-step block load within NFPA 110 Type 10 standards (cranks and accepts full load in &lt; 10 seconds).</a:t>
            </a:r>
          </a:p>
          <a:p>
            <a:pPr>
              <a:spcAft>
                <a:spcPts val="600"/>
              </a:spcAft>
              <a:defRPr sz="1100">
                <a:solidFill>
                  <a:srgbClr val="475569"/>
                </a:solidFill>
                <a:latin typeface="Calibri"/>
              </a:defRPr>
            </a:pPr>
            <a:r>
              <a:rPr b="1">
                <a:solidFill>
                  <a:srgbClr val="0F172A"/>
                </a:solidFill>
              </a:rPr>
              <a:t>• Electronic Governors:</a:t>
            </a:r>
            <a:r>
              <a:rPr b="0">
                <a:solidFill>
                  <a:srgbClr val="475569"/>
                </a:solidFill>
              </a:rPr>
              <a:t> Isochronous frequency control (maintains 50 Hz ± 0.25% regardless of IT load fluctuations).</a:t>
            </a:r>
          </a:p>
          <a:p>
            <a:pPr>
              <a:spcAft>
                <a:spcPts val="600"/>
              </a:spcAft>
              <a:defRPr sz="1100">
                <a:solidFill>
                  <a:srgbClr val="475569"/>
                </a:solidFill>
                <a:latin typeface="Calibri"/>
              </a:defRPr>
            </a:pPr>
            <a:r>
              <a:rPr b="1">
                <a:solidFill>
                  <a:srgbClr val="0F172A"/>
                </a:solidFill>
              </a:rPr>
              <a:t>• Auxiliary Systems:</a:t>
            </a:r>
            <a:r>
              <a:rPr b="0">
                <a:solidFill>
                  <a:srgbClr val="475569"/>
                </a:solidFill>
              </a:rPr>
              <a:t> Dual redundant starting electric motors with separate battery banks, jacket water heaters (40°C pre-heat), redundant fuel lift pumps.</a:t>
            </a:r>
          </a:p>
        </p:txBody>
      </p:sp>
      <p:sp>
        <p:nvSpPr>
          <p:cNvPr id="12" name="Rounded Rectangle 11"/>
          <p:cNvSpPr/>
          <p:nvPr/>
        </p:nvSpPr>
        <p:spPr>
          <a:xfrm>
            <a:off x="6217920" y="1280160"/>
            <a:ext cx="5349240" cy="484632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46520" y="1463040"/>
            <a:ext cx="4892040" cy="411480"/>
          </a:xfrm>
          <a:prstGeom prst="rect">
            <a:avLst/>
          </a:prstGeom>
          <a:noFill/>
        </p:spPr>
        <p:txBody>
          <a:bodyPr wrap="square">
            <a:spAutoFit/>
          </a:bodyPr>
          <a:lstStyle/>
          <a:p>
            <a:pPr>
              <a:defRPr sz="1400" b="1">
                <a:solidFill>
                  <a:srgbClr val="0F172A"/>
                </a:solidFill>
                <a:latin typeface="Calibri"/>
              </a:defRPr>
            </a:pPr>
            <a:r>
              <a:t>Fuel Storage &amp; Paralleling Switchgear</a:t>
            </a:r>
          </a:p>
        </p:txBody>
      </p:sp>
      <p:sp>
        <p:nvSpPr>
          <p:cNvPr id="14" name="Rounded Rectangle 13"/>
          <p:cNvSpPr/>
          <p:nvPr/>
        </p:nvSpPr>
        <p:spPr>
          <a:xfrm>
            <a:off x="10195560" y="1463040"/>
            <a:ext cx="1188720" cy="228600"/>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FFFFFF"/>
                </a:solidFill>
              </a:defRPr>
            </a:pPr>
            <a:r>
              <a:t>72-HOUR AUTONOMY</a:t>
            </a:r>
          </a:p>
        </p:txBody>
      </p:sp>
      <p:sp>
        <p:nvSpPr>
          <p:cNvPr id="15" name="TextBox 14"/>
          <p:cNvSpPr txBox="1"/>
          <p:nvPr/>
        </p:nvSpPr>
        <p:spPr>
          <a:xfrm>
            <a:off x="6446520" y="1920240"/>
            <a:ext cx="4892040" cy="4069080"/>
          </a:xfrm>
          <a:prstGeom prst="rect">
            <a:avLst/>
          </a:prstGeom>
          <a:noFill/>
        </p:spPr>
        <p:txBody>
          <a:bodyPr wrap="square" tIns="0" lIns="0" rIns="0">
            <a:spAutoFit/>
          </a:bodyPr>
          <a:lstStyle/>
          <a:p>
            <a:pPr>
              <a:spcAft>
                <a:spcPts val="600"/>
              </a:spcAft>
              <a:defRPr sz="1100">
                <a:solidFill>
                  <a:srgbClr val="475569"/>
                </a:solidFill>
                <a:latin typeface="Calibri"/>
              </a:defRPr>
            </a:pPr>
            <a:r>
              <a:rPr b="1">
                <a:solidFill>
                  <a:srgbClr val="0F172A"/>
                </a:solidFill>
              </a:rPr>
              <a:t>• Day Tank:</a:t>
            </a:r>
            <a:r>
              <a:rPr b="0">
                <a:solidFill>
                  <a:srgbClr val="475569"/>
                </a:solidFill>
              </a:rPr>
              <a:t> Local fuel tank inside acoustic generator room holding 1 to 2 hours of fuel for immediate engine gravity feed.</a:t>
            </a:r>
          </a:p>
          <a:p>
            <a:pPr>
              <a:spcAft>
                <a:spcPts val="600"/>
              </a:spcAft>
              <a:defRPr sz="1100">
                <a:solidFill>
                  <a:srgbClr val="475569"/>
                </a:solidFill>
                <a:latin typeface="Calibri"/>
              </a:defRPr>
            </a:pPr>
            <a:r>
              <a:rPr b="1">
                <a:solidFill>
                  <a:srgbClr val="0F172A"/>
                </a:solidFill>
              </a:rPr>
              <a:t>• Bulk Fuel Storage:</a:t>
            </a:r>
            <a:r>
              <a:rPr b="0">
                <a:solidFill>
                  <a:srgbClr val="475569"/>
                </a:solidFill>
              </a:rPr>
              <a:t> Underground or double-walled aboveground storage tanks sized for 48 to 72 hours of continuous full-load operation (Tier III/IV requirement).</a:t>
            </a:r>
          </a:p>
          <a:p>
            <a:pPr>
              <a:spcAft>
                <a:spcPts val="600"/>
              </a:spcAft>
              <a:defRPr sz="1100">
                <a:solidFill>
                  <a:srgbClr val="475569"/>
                </a:solidFill>
                <a:latin typeface="Calibri"/>
              </a:defRPr>
            </a:pPr>
            <a:r>
              <a:rPr b="1">
                <a:solidFill>
                  <a:srgbClr val="0F172A"/>
                </a:solidFill>
              </a:rPr>
              <a:t>• Fuel Polishing Systems:</a:t>
            </a:r>
            <a:r>
              <a:rPr b="0">
                <a:solidFill>
                  <a:srgbClr val="475569"/>
                </a:solidFill>
              </a:rPr>
              <a:t> Automated filtration removing water, sediment, and microbial growth to prevent injector fouling during emergency starts.</a:t>
            </a:r>
          </a:p>
          <a:p>
            <a:pPr>
              <a:spcAft>
                <a:spcPts val="600"/>
              </a:spcAft>
              <a:defRPr sz="1100">
                <a:solidFill>
                  <a:srgbClr val="475569"/>
                </a:solidFill>
                <a:latin typeface="Calibri"/>
              </a:defRPr>
            </a:pPr>
            <a:r>
              <a:rPr b="1">
                <a:solidFill>
                  <a:srgbClr val="0F172A"/>
                </a:solidFill>
              </a:rPr>
              <a:t>• Paralleling Switchgear (PSG):</a:t>
            </a:r>
            <a:r>
              <a:rPr b="0">
                <a:solidFill>
                  <a:srgbClr val="475569"/>
                </a:solidFill>
              </a:rPr>
              <a:t> Automatically synchronizes multiple generator outputs (voltage, frequency, phase angle) onto a common bus.</a:t>
            </a:r>
          </a:p>
          <a:p>
            <a:pPr>
              <a:spcAft>
                <a:spcPts val="600"/>
              </a:spcAft>
              <a:defRPr sz="1100">
                <a:solidFill>
                  <a:srgbClr val="475569"/>
                </a:solidFill>
                <a:latin typeface="Calibri"/>
              </a:defRPr>
            </a:pPr>
            <a:r>
              <a:rPr b="1">
                <a:solidFill>
                  <a:srgbClr val="0F172A"/>
                </a:solidFill>
              </a:rPr>
              <a:t>• Load Shedding &amp; Add Logic:</a:t>
            </a:r>
            <a:r>
              <a:rPr b="0">
                <a:solidFill>
                  <a:srgbClr val="475569"/>
                </a:solidFill>
              </a:rPr>
              <a:t> Progressively adds non-critical loads (HVAC chillers -&gt; CRAH units -&gt; battery chargers) to prevent engine stalling.</a:t>
            </a:r>
          </a:p>
          <a:p>
            <a:pPr>
              <a:spcAft>
                <a:spcPts val="600"/>
              </a:spcAft>
              <a:defRPr sz="1100">
                <a:solidFill>
                  <a:srgbClr val="475569"/>
                </a:solidFill>
                <a:latin typeface="Calibri"/>
              </a:defRPr>
            </a:pPr>
            <a:r>
              <a:rPr b="1">
                <a:solidFill>
                  <a:srgbClr val="0F172A"/>
                </a:solidFill>
              </a:rPr>
              <a:t>• Black Start Capability:</a:t>
            </a:r>
            <a:r>
              <a:rPr b="0">
                <a:solidFill>
                  <a:srgbClr val="475569"/>
                </a:solidFill>
              </a:rPr>
              <a:t> Ability to start and stabilize the entire facility without any external grid assistance.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92240"/>
            <a:ext cx="12191695" cy="36576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510528"/>
            <a:ext cx="11094415" cy="320040"/>
          </a:xfrm>
          <a:prstGeom prst="rect">
            <a:avLst/>
          </a:prstGeom>
          <a:noFill/>
        </p:spPr>
        <p:txBody>
          <a:bodyPr wrap="square">
            <a:spAutoFit/>
          </a:bodyPr>
          <a:lstStyle/>
          <a:p>
            <a:pPr>
              <a:defRPr sz="1000">
                <a:solidFill>
                  <a:srgbClr val="94A3B8"/>
                </a:solidFill>
                <a:latin typeface="Calibri"/>
              </a:defRPr>
            </a:pPr>
            <a:r>
              <a:t>M.Tech CSE · Data Centre Systems Engineering | Unit 2: Electrical Infrastructure Engineering | Slide 6 of 22</a:t>
            </a:r>
          </a:p>
        </p:txBody>
      </p:sp>
      <p:sp>
        <p:nvSpPr>
          <p:cNvPr id="5" name="Rounded Rectangle 4"/>
          <p:cNvSpPr/>
          <p:nvPr/>
        </p:nvSpPr>
        <p:spPr>
          <a:xfrm>
            <a:off x="548640" y="164592"/>
            <a:ext cx="2011680" cy="256032"/>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950" b="1">
                <a:solidFill>
                  <a:srgbClr val="FFFFFF"/>
                </a:solidFill>
                <a:latin typeface="Calibri"/>
              </a:defRPr>
            </a:pPr>
            <a:r>
              <a:t>BACKUP POWER</a:t>
            </a:r>
          </a:p>
        </p:txBody>
      </p:sp>
      <p:sp>
        <p:nvSpPr>
          <p:cNvPr id="6" name="TextBox 5"/>
          <p:cNvSpPr txBox="1"/>
          <p:nvPr/>
        </p:nvSpPr>
        <p:spPr>
          <a:xfrm>
            <a:off x="548640" y="438912"/>
            <a:ext cx="9601200" cy="502920"/>
          </a:xfrm>
          <a:prstGeom prst="rect">
            <a:avLst/>
          </a:prstGeom>
          <a:noFill/>
        </p:spPr>
        <p:txBody>
          <a:bodyPr wrap="square">
            <a:spAutoFit/>
          </a:bodyPr>
          <a:lstStyle/>
          <a:p>
            <a:pPr>
              <a:defRPr sz="2000" b="1">
                <a:solidFill>
                  <a:srgbClr val="FFFFFF"/>
                </a:solidFill>
                <a:latin typeface="Calibri"/>
              </a:defRPr>
            </a:pPr>
            <a:r>
              <a:t>Uninterruptible Power Supply (UPS) Topologies &amp; Architecture</a:t>
            </a:r>
          </a:p>
          <a:p>
            <a:pPr>
              <a:defRPr sz="1100">
                <a:solidFill>
                  <a:srgbClr val="94A3B8"/>
                </a:solidFill>
                <a:latin typeface="Calibri"/>
              </a:defRPr>
            </a:pPr>
            <a:r>
              <a:t>The zero-interruption bridge between utility loss and generator stabilization</a:t>
            </a:r>
          </a:p>
        </p:txBody>
      </p:sp>
      <p:sp>
        <p:nvSpPr>
          <p:cNvPr id="7" name="Rounded Rectangle 6"/>
          <p:cNvSpPr/>
          <p:nvPr/>
        </p:nvSpPr>
        <p:spPr>
          <a:xfrm>
            <a:off x="11064240" y="228600"/>
            <a:ext cx="640080" cy="292608"/>
          </a:xfrm>
          <a:prstGeom prst="roundRect">
            <a:avLst/>
          </a:prstGeom>
          <a:solidFill>
            <a:srgbClr val="1E293B"/>
          </a:solidFill>
          <a:ln w="12700">
            <a:solidFill>
              <a:srgbClr val="47556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06</a:t>
            </a:r>
          </a:p>
        </p:txBody>
      </p:sp>
      <p:sp>
        <p:nvSpPr>
          <p:cNvPr id="8" name="Rounded Rectangle 7"/>
          <p:cNvSpPr/>
          <p:nvPr/>
        </p:nvSpPr>
        <p:spPr>
          <a:xfrm>
            <a:off x="548640" y="1280160"/>
            <a:ext cx="3520440" cy="4846320"/>
          </a:xfrm>
          <a:prstGeom prst="roundRect">
            <a:avLst/>
          </a:prstGeom>
          <a:solidFill>
            <a:srgbClr val="F8FAFC"/>
          </a:solidFill>
          <a:ln w="254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463040"/>
            <a:ext cx="3063240" cy="411480"/>
          </a:xfrm>
          <a:prstGeom prst="rect">
            <a:avLst/>
          </a:prstGeom>
          <a:noFill/>
        </p:spPr>
        <p:txBody>
          <a:bodyPr wrap="square">
            <a:spAutoFit/>
          </a:bodyPr>
          <a:lstStyle/>
          <a:p>
            <a:pPr>
              <a:defRPr sz="1400" b="1">
                <a:solidFill>
                  <a:srgbClr val="0F172A"/>
                </a:solidFill>
                <a:latin typeface="Calibri"/>
              </a:defRPr>
            </a:pPr>
            <a:r>
              <a:t>Online Double Conversion (VFI)</a:t>
            </a:r>
          </a:p>
        </p:txBody>
      </p:sp>
      <p:sp>
        <p:nvSpPr>
          <p:cNvPr id="10" name="Rounded Rectangle 9"/>
          <p:cNvSpPr/>
          <p:nvPr/>
        </p:nvSpPr>
        <p:spPr>
          <a:xfrm>
            <a:off x="2697480" y="1463040"/>
            <a:ext cx="1188720" cy="22860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FFFFFF"/>
                </a:solidFill>
              </a:defRPr>
            </a:pPr>
            <a:r>
              <a:t>INDUSTRY STANDARD</a:t>
            </a:r>
          </a:p>
        </p:txBody>
      </p:sp>
      <p:sp>
        <p:nvSpPr>
          <p:cNvPr id="11" name="TextBox 10"/>
          <p:cNvSpPr txBox="1"/>
          <p:nvPr/>
        </p:nvSpPr>
        <p:spPr>
          <a:xfrm>
            <a:off x="777240" y="1920240"/>
            <a:ext cx="3063240" cy="4069080"/>
          </a:xfrm>
          <a:prstGeom prst="rect">
            <a:avLst/>
          </a:prstGeom>
          <a:noFill/>
        </p:spPr>
        <p:txBody>
          <a:bodyPr wrap="square" tIns="0" lIns="0" rIns="0">
            <a:spAutoFit/>
          </a:bodyPr>
          <a:lstStyle/>
          <a:p>
            <a:pPr>
              <a:spcAft>
                <a:spcPts val="600"/>
              </a:spcAft>
              <a:defRPr sz="1100">
                <a:solidFill>
                  <a:srgbClr val="475569"/>
                </a:solidFill>
                <a:latin typeface="Calibri"/>
              </a:defRPr>
            </a:pPr>
            <a:r>
              <a:rPr b="1">
                <a:solidFill>
                  <a:srgbClr val="0F172A"/>
                </a:solidFill>
              </a:rPr>
              <a:t>• Classification:</a:t>
            </a:r>
            <a:r>
              <a:rPr b="0">
                <a:solidFill>
                  <a:srgbClr val="475569"/>
                </a:solidFill>
              </a:rPr>
              <a:t> IEC 62040-3 VFI (Voltage &amp; Frequency Independent).</a:t>
            </a:r>
          </a:p>
          <a:p>
            <a:pPr>
              <a:spcAft>
                <a:spcPts val="600"/>
              </a:spcAft>
              <a:defRPr sz="1100">
                <a:solidFill>
                  <a:srgbClr val="475569"/>
                </a:solidFill>
                <a:latin typeface="Calibri"/>
              </a:defRPr>
            </a:pPr>
            <a:r>
              <a:rPr b="1">
                <a:solidFill>
                  <a:srgbClr val="0F172A"/>
                </a:solidFill>
              </a:rPr>
              <a:t>• Operation:</a:t>
            </a:r>
            <a:r>
              <a:rPr b="0">
                <a:solidFill>
                  <a:srgbClr val="475569"/>
                </a:solidFill>
              </a:rPr>
              <a:t> Rectifier converts AC to DC; Inverter continuously reconverts DC to clean AC.</a:t>
            </a:r>
          </a:p>
          <a:p>
            <a:pPr>
              <a:spcAft>
                <a:spcPts val="600"/>
              </a:spcAft>
              <a:defRPr sz="1100">
                <a:solidFill>
                  <a:srgbClr val="475569"/>
                </a:solidFill>
                <a:latin typeface="Calibri"/>
              </a:defRPr>
            </a:pPr>
            <a:r>
              <a:rPr b="1">
                <a:solidFill>
                  <a:srgbClr val="0F172A"/>
                </a:solidFill>
              </a:rPr>
              <a:t>• Transfer Time:</a:t>
            </a:r>
            <a:r>
              <a:rPr b="0">
                <a:solidFill>
                  <a:srgbClr val="475569"/>
                </a:solidFill>
              </a:rPr>
              <a:t> Exactly 0 ms (seamless continuous DC bus supply).</a:t>
            </a:r>
          </a:p>
          <a:p>
            <a:pPr>
              <a:spcAft>
                <a:spcPts val="600"/>
              </a:spcAft>
              <a:defRPr sz="1100">
                <a:solidFill>
                  <a:srgbClr val="475569"/>
                </a:solidFill>
                <a:latin typeface="Calibri"/>
              </a:defRPr>
            </a:pPr>
            <a:r>
              <a:rPr b="1">
                <a:solidFill>
                  <a:srgbClr val="0F172A"/>
                </a:solidFill>
              </a:rPr>
              <a:t>• Static Bypass:</a:t>
            </a:r>
            <a:r>
              <a:rPr b="0">
                <a:solidFill>
                  <a:srgbClr val="475569"/>
                </a:solidFill>
              </a:rPr>
              <a:t> Ultra-fast thyristor bypass switch in case of internal inverter failure or overcurrent.</a:t>
            </a:r>
          </a:p>
          <a:p>
            <a:pPr>
              <a:spcAft>
                <a:spcPts val="600"/>
              </a:spcAft>
              <a:defRPr sz="1100">
                <a:solidFill>
                  <a:srgbClr val="475569"/>
                </a:solidFill>
                <a:latin typeface="Calibri"/>
              </a:defRPr>
            </a:pPr>
            <a:r>
              <a:rPr b="1">
                <a:solidFill>
                  <a:srgbClr val="0F172A"/>
                </a:solidFill>
              </a:rPr>
              <a:t>• Maintenance Bypass:</a:t>
            </a:r>
            <a:r>
              <a:rPr b="0">
                <a:solidFill>
                  <a:srgbClr val="475569"/>
                </a:solidFill>
              </a:rPr>
              <a:t> Manual wrap-around switch allowing complete physical isolation for servicing.</a:t>
            </a:r>
          </a:p>
          <a:p>
            <a:pPr>
              <a:spcAft>
                <a:spcPts val="600"/>
              </a:spcAft>
              <a:defRPr sz="1100">
                <a:solidFill>
                  <a:srgbClr val="475569"/>
                </a:solidFill>
                <a:latin typeface="Calibri"/>
              </a:defRPr>
            </a:pPr>
            <a:r>
              <a:rPr b="1">
                <a:solidFill>
                  <a:srgbClr val="0F172A"/>
                </a:solidFill>
              </a:rPr>
              <a:t>• Efficiency:</a:t>
            </a:r>
            <a:r>
              <a:rPr b="0">
                <a:solidFill>
                  <a:srgbClr val="475569"/>
                </a:solidFill>
              </a:rPr>
              <a:t> 95% - 97% in true double conversion; up to 99% in ECO mode.</a:t>
            </a:r>
          </a:p>
          <a:p>
            <a:pPr>
              <a:spcAft>
                <a:spcPts val="600"/>
              </a:spcAft>
              <a:defRPr sz="1100">
                <a:solidFill>
                  <a:srgbClr val="475569"/>
                </a:solidFill>
                <a:latin typeface="Calibri"/>
              </a:defRPr>
            </a:pPr>
            <a:r>
              <a:rPr b="1">
                <a:solidFill>
                  <a:srgbClr val="0F172A"/>
                </a:solidFill>
              </a:rPr>
              <a:t>• Verdict:</a:t>
            </a:r>
            <a:r>
              <a:rPr b="0">
                <a:solidFill>
                  <a:srgbClr val="475569"/>
                </a:solidFill>
              </a:rPr>
              <a:t> The global standard for enterprise &amp; cloud data centres.</a:t>
            </a:r>
          </a:p>
        </p:txBody>
      </p:sp>
      <p:sp>
        <p:nvSpPr>
          <p:cNvPr id="12" name="Rounded Rectangle 11"/>
          <p:cNvSpPr/>
          <p:nvPr/>
        </p:nvSpPr>
        <p:spPr>
          <a:xfrm>
            <a:off x="4297680" y="1280160"/>
            <a:ext cx="3520440" cy="484632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26280" y="1463040"/>
            <a:ext cx="3063240" cy="411480"/>
          </a:xfrm>
          <a:prstGeom prst="rect">
            <a:avLst/>
          </a:prstGeom>
          <a:noFill/>
        </p:spPr>
        <p:txBody>
          <a:bodyPr wrap="square">
            <a:spAutoFit/>
          </a:bodyPr>
          <a:lstStyle/>
          <a:p>
            <a:pPr>
              <a:defRPr sz="1400" b="1">
                <a:solidFill>
                  <a:srgbClr val="0F172A"/>
                </a:solidFill>
                <a:latin typeface="Calibri"/>
              </a:defRPr>
            </a:pPr>
            <a:r>
              <a:t>Rotary / Dynamic UPS (DRUPS)</a:t>
            </a:r>
          </a:p>
        </p:txBody>
      </p:sp>
      <p:sp>
        <p:nvSpPr>
          <p:cNvPr id="14" name="Rounded Rectangle 13"/>
          <p:cNvSpPr/>
          <p:nvPr/>
        </p:nvSpPr>
        <p:spPr>
          <a:xfrm>
            <a:off x="6446520" y="1463040"/>
            <a:ext cx="1188720" cy="228600"/>
          </a:xfrm>
          <a:prstGeom prst="round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FFFFFF"/>
                </a:solidFill>
              </a:defRPr>
            </a:pPr>
            <a:r>
              <a:t>ROTARY / DRUPS</a:t>
            </a:r>
          </a:p>
        </p:txBody>
      </p:sp>
      <p:sp>
        <p:nvSpPr>
          <p:cNvPr id="15" name="TextBox 14"/>
          <p:cNvSpPr txBox="1"/>
          <p:nvPr/>
        </p:nvSpPr>
        <p:spPr>
          <a:xfrm>
            <a:off x="4526280" y="1920240"/>
            <a:ext cx="3063240" cy="4069080"/>
          </a:xfrm>
          <a:prstGeom prst="rect">
            <a:avLst/>
          </a:prstGeom>
          <a:noFill/>
        </p:spPr>
        <p:txBody>
          <a:bodyPr wrap="square" tIns="0" lIns="0" rIns="0">
            <a:spAutoFit/>
          </a:bodyPr>
          <a:lstStyle/>
          <a:p>
            <a:pPr>
              <a:spcAft>
                <a:spcPts val="600"/>
              </a:spcAft>
              <a:defRPr sz="1100">
                <a:solidFill>
                  <a:srgbClr val="475569"/>
                </a:solidFill>
                <a:latin typeface="Calibri"/>
              </a:defRPr>
            </a:pPr>
            <a:r>
              <a:rPr b="1">
                <a:solidFill>
                  <a:srgbClr val="0F172A"/>
                </a:solidFill>
              </a:rPr>
              <a:t>• Working:</a:t>
            </a:r>
            <a:r>
              <a:rPr b="0">
                <a:solidFill>
                  <a:srgbClr val="475569"/>
                </a:solidFill>
              </a:rPr>
              <a:t> Integrates diesel engine, kinetic energy flywheel, and synchronous motor-generator on a common shaft.</a:t>
            </a:r>
          </a:p>
          <a:p>
            <a:pPr>
              <a:spcAft>
                <a:spcPts val="600"/>
              </a:spcAft>
              <a:defRPr sz="1100">
                <a:solidFill>
                  <a:srgbClr val="475569"/>
                </a:solidFill>
                <a:latin typeface="Calibri"/>
              </a:defRPr>
            </a:pPr>
            <a:r>
              <a:rPr b="1">
                <a:solidFill>
                  <a:srgbClr val="0F172A"/>
                </a:solidFill>
              </a:rPr>
              <a:t>• Operation:</a:t>
            </a:r>
            <a:r>
              <a:rPr b="0">
                <a:solidFill>
                  <a:srgbClr val="475569"/>
                </a:solidFill>
              </a:rPr>
              <a:t> During utility failure, spinning flywheel supplies kinetic energy for 15-30s while diesel engine clutches and fires up.</a:t>
            </a:r>
          </a:p>
          <a:p>
            <a:pPr>
              <a:spcAft>
                <a:spcPts val="600"/>
              </a:spcAft>
              <a:defRPr sz="1100">
                <a:solidFill>
                  <a:srgbClr val="475569"/>
                </a:solidFill>
                <a:latin typeface="Calibri"/>
              </a:defRPr>
            </a:pPr>
            <a:r>
              <a:rPr b="1">
                <a:solidFill>
                  <a:srgbClr val="0F172A"/>
                </a:solidFill>
              </a:rPr>
              <a:t>• Advantages:</a:t>
            </a:r>
            <a:r>
              <a:rPr b="0">
                <a:solidFill>
                  <a:srgbClr val="475569"/>
                </a:solidFill>
              </a:rPr>
              <a:t> Eliminates chemical battery rooms, zero HVAC required for batteries, massive short-circuit clearing capability.</a:t>
            </a:r>
          </a:p>
          <a:p>
            <a:pPr>
              <a:spcAft>
                <a:spcPts val="600"/>
              </a:spcAft>
              <a:defRPr sz="1100">
                <a:solidFill>
                  <a:srgbClr val="475569"/>
                </a:solidFill>
                <a:latin typeface="Calibri"/>
              </a:defRPr>
            </a:pPr>
            <a:r>
              <a:rPr b="1">
                <a:solidFill>
                  <a:srgbClr val="0F172A"/>
                </a:solidFill>
              </a:rPr>
              <a:t>• Disadvantages:</a:t>
            </a:r>
            <a:r>
              <a:rPr b="0">
                <a:solidFill>
                  <a:srgbClr val="475569"/>
                </a:solidFill>
              </a:rPr>
              <a:t> Higher maintenance, mechanical wear, louder noise, higher initial capital cost, short ride-through window.</a:t>
            </a:r>
          </a:p>
          <a:p>
            <a:pPr>
              <a:spcAft>
                <a:spcPts val="600"/>
              </a:spcAft>
              <a:defRPr sz="1100">
                <a:solidFill>
                  <a:srgbClr val="475569"/>
                </a:solidFill>
                <a:latin typeface="Calibri"/>
              </a:defRPr>
            </a:pPr>
            <a:r>
              <a:rPr b="1">
                <a:solidFill>
                  <a:srgbClr val="0F172A"/>
                </a:solidFill>
              </a:rPr>
              <a:t>• Application:</a:t>
            </a:r>
            <a:r>
              <a:rPr b="0">
                <a:solidFill>
                  <a:srgbClr val="475569"/>
                </a:solidFill>
              </a:rPr>
              <a:t> Heavy industrial, European banking DCs, sites with extreme temperature conditions.</a:t>
            </a:r>
          </a:p>
        </p:txBody>
      </p:sp>
      <p:sp>
        <p:nvSpPr>
          <p:cNvPr id="16" name="Rounded Rectangle 15"/>
          <p:cNvSpPr/>
          <p:nvPr/>
        </p:nvSpPr>
        <p:spPr>
          <a:xfrm>
            <a:off x="8046720" y="1280160"/>
            <a:ext cx="3520440" cy="484632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75320" y="1463040"/>
            <a:ext cx="3063240" cy="411480"/>
          </a:xfrm>
          <a:prstGeom prst="rect">
            <a:avLst/>
          </a:prstGeom>
          <a:noFill/>
        </p:spPr>
        <p:txBody>
          <a:bodyPr wrap="square">
            <a:spAutoFit/>
          </a:bodyPr>
          <a:lstStyle/>
          <a:p>
            <a:pPr>
              <a:defRPr sz="1400" b="1">
                <a:solidFill>
                  <a:srgbClr val="0F172A"/>
                </a:solidFill>
                <a:latin typeface="Calibri"/>
              </a:defRPr>
            </a:pPr>
            <a:r>
              <a:t>Line Interactive &amp; Standby</a:t>
            </a:r>
          </a:p>
        </p:txBody>
      </p:sp>
      <p:sp>
        <p:nvSpPr>
          <p:cNvPr id="18" name="Rounded Rectangle 17"/>
          <p:cNvSpPr/>
          <p:nvPr/>
        </p:nvSpPr>
        <p:spPr>
          <a:xfrm>
            <a:off x="10195560" y="1463040"/>
            <a:ext cx="1188720" cy="228600"/>
          </a:xfrm>
          <a:prstGeom prst="round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FFFFFF"/>
                </a:solidFill>
              </a:defRPr>
            </a:pPr>
            <a:r>
              <a:t>UNSUITABLE FOR DCS</a:t>
            </a:r>
          </a:p>
        </p:txBody>
      </p:sp>
      <p:sp>
        <p:nvSpPr>
          <p:cNvPr id="19" name="TextBox 18"/>
          <p:cNvSpPr txBox="1"/>
          <p:nvPr/>
        </p:nvSpPr>
        <p:spPr>
          <a:xfrm>
            <a:off x="8275320" y="1920240"/>
            <a:ext cx="3063240" cy="4069080"/>
          </a:xfrm>
          <a:prstGeom prst="rect">
            <a:avLst/>
          </a:prstGeom>
          <a:noFill/>
        </p:spPr>
        <p:txBody>
          <a:bodyPr wrap="square" tIns="0" lIns="0" rIns="0">
            <a:spAutoFit/>
          </a:bodyPr>
          <a:lstStyle/>
          <a:p>
            <a:pPr>
              <a:spcAft>
                <a:spcPts val="600"/>
              </a:spcAft>
              <a:defRPr sz="1100">
                <a:solidFill>
                  <a:srgbClr val="475569"/>
                </a:solidFill>
                <a:latin typeface="Calibri"/>
              </a:defRPr>
            </a:pPr>
            <a:r>
              <a:rPr b="1">
                <a:solidFill>
                  <a:srgbClr val="0F172A"/>
                </a:solidFill>
              </a:rPr>
              <a:t>• Standby (Off-line / VFD):</a:t>
            </a:r>
            <a:r>
              <a:rPr b="0">
                <a:solidFill>
                  <a:srgbClr val="475569"/>
                </a:solidFill>
              </a:rPr>
              <a:t> Inverter is idle; load fed by raw utility. Transfer time: 6-12 ms. Unsuitable for mission-critical enterprise DCs.</a:t>
            </a:r>
          </a:p>
          <a:p>
            <a:pPr>
              <a:spcAft>
                <a:spcPts val="600"/>
              </a:spcAft>
              <a:defRPr sz="1100">
                <a:solidFill>
                  <a:srgbClr val="475569"/>
                </a:solidFill>
                <a:latin typeface="Calibri"/>
              </a:defRPr>
            </a:pPr>
            <a:r>
              <a:rPr b="1">
                <a:solidFill>
                  <a:srgbClr val="0F172A"/>
                </a:solidFill>
              </a:rPr>
              <a:t>• Line Interactive (VI):</a:t>
            </a:r>
            <a:r>
              <a:rPr b="0">
                <a:solidFill>
                  <a:srgbClr val="475569"/>
                </a:solidFill>
              </a:rPr>
              <a:t> Bi-directional inverter with buck-boost transformer. Transfer time: 4-8 ms.</a:t>
            </a:r>
          </a:p>
          <a:p>
            <a:pPr>
              <a:spcAft>
                <a:spcPts val="600"/>
              </a:spcAft>
              <a:defRPr sz="1100">
                <a:solidFill>
                  <a:srgbClr val="475569"/>
                </a:solidFill>
                <a:latin typeface="Calibri"/>
              </a:defRPr>
            </a:pPr>
            <a:r>
              <a:rPr b="1">
                <a:solidFill>
                  <a:srgbClr val="0F172A"/>
                </a:solidFill>
              </a:rPr>
              <a:t>• Drawbacks:</a:t>
            </a:r>
            <a:r>
              <a:rPr b="0">
                <a:solidFill>
                  <a:srgbClr val="475569"/>
                </a:solidFill>
              </a:rPr>
              <a:t> No true frequency isolation, power transients pass through, risk of server PSU drop during transfer.</a:t>
            </a:r>
          </a:p>
          <a:p>
            <a:pPr>
              <a:spcAft>
                <a:spcPts val="600"/>
              </a:spcAft>
              <a:defRPr sz="1100">
                <a:solidFill>
                  <a:srgbClr val="475569"/>
                </a:solidFill>
                <a:latin typeface="Calibri"/>
              </a:defRPr>
            </a:pPr>
            <a:r>
              <a:rPr b="1">
                <a:solidFill>
                  <a:srgbClr val="0F172A"/>
                </a:solidFill>
              </a:rPr>
              <a:t>• Exam Rule:</a:t>
            </a:r>
            <a:r>
              <a:rPr b="0">
                <a:solidFill>
                  <a:srgbClr val="475569"/>
                </a:solidFill>
              </a:rPr>
              <a:t> Only Online Double Conversion (Static) and DRUPS (Rotary) qualify for Tier III and Tier IV mission-critical data centres!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92240"/>
            <a:ext cx="12191695" cy="36576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510528"/>
            <a:ext cx="11094415" cy="320040"/>
          </a:xfrm>
          <a:prstGeom prst="rect">
            <a:avLst/>
          </a:prstGeom>
          <a:noFill/>
        </p:spPr>
        <p:txBody>
          <a:bodyPr wrap="square">
            <a:spAutoFit/>
          </a:bodyPr>
          <a:lstStyle/>
          <a:p>
            <a:pPr>
              <a:defRPr sz="1000">
                <a:solidFill>
                  <a:srgbClr val="94A3B8"/>
                </a:solidFill>
                <a:latin typeface="Calibri"/>
              </a:defRPr>
            </a:pPr>
            <a:r>
              <a:t>M.Tech CSE · Data Centre Systems Engineering | Unit 2: Electrical Infrastructure Engineering | Slide 7 of 22</a:t>
            </a:r>
          </a:p>
        </p:txBody>
      </p:sp>
      <p:sp>
        <p:nvSpPr>
          <p:cNvPr id="5" name="Rounded Rectangle 4"/>
          <p:cNvSpPr/>
          <p:nvPr/>
        </p:nvSpPr>
        <p:spPr>
          <a:xfrm>
            <a:off x="548640" y="164592"/>
            <a:ext cx="2011680" cy="256032"/>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950" b="1">
                <a:solidFill>
                  <a:srgbClr val="FFFFFF"/>
                </a:solidFill>
                <a:latin typeface="Calibri"/>
              </a:defRPr>
            </a:pPr>
            <a:r>
              <a:t>ENERGY STORAGE</a:t>
            </a:r>
          </a:p>
        </p:txBody>
      </p:sp>
      <p:sp>
        <p:nvSpPr>
          <p:cNvPr id="6" name="TextBox 5"/>
          <p:cNvSpPr txBox="1"/>
          <p:nvPr/>
        </p:nvSpPr>
        <p:spPr>
          <a:xfrm>
            <a:off x="548640" y="438912"/>
            <a:ext cx="9601200" cy="502920"/>
          </a:xfrm>
          <a:prstGeom prst="rect">
            <a:avLst/>
          </a:prstGeom>
          <a:noFill/>
        </p:spPr>
        <p:txBody>
          <a:bodyPr wrap="square">
            <a:spAutoFit/>
          </a:bodyPr>
          <a:lstStyle/>
          <a:p>
            <a:pPr>
              <a:defRPr sz="2000" b="1">
                <a:solidFill>
                  <a:srgbClr val="FFFFFF"/>
                </a:solidFill>
                <a:latin typeface="Calibri"/>
              </a:defRPr>
            </a:pPr>
            <a:r>
              <a:t>Energy Storage Technologies: VRLA vs. Lithium-Ion vs. Flywheel</a:t>
            </a:r>
          </a:p>
          <a:p>
            <a:pPr>
              <a:defRPr sz="1100">
                <a:solidFill>
                  <a:srgbClr val="94A3B8"/>
                </a:solidFill>
                <a:latin typeface="Calibri"/>
              </a:defRPr>
            </a:pPr>
            <a:r>
              <a:t>Critical comparison for CAPEX, footprint, thermal safety, and operating lifespan</a:t>
            </a:r>
          </a:p>
        </p:txBody>
      </p:sp>
      <p:sp>
        <p:nvSpPr>
          <p:cNvPr id="7" name="Rounded Rectangle 6"/>
          <p:cNvSpPr/>
          <p:nvPr/>
        </p:nvSpPr>
        <p:spPr>
          <a:xfrm>
            <a:off x="11064240" y="228600"/>
            <a:ext cx="640080" cy="292608"/>
          </a:xfrm>
          <a:prstGeom prst="roundRect">
            <a:avLst/>
          </a:prstGeom>
          <a:solidFill>
            <a:srgbClr val="1E293B"/>
          </a:solidFill>
          <a:ln w="12700">
            <a:solidFill>
              <a:srgbClr val="47556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07</a:t>
            </a:r>
          </a:p>
        </p:txBody>
      </p:sp>
      <p:sp>
        <p:nvSpPr>
          <p:cNvPr id="8" name="Rounded Rectangle 7"/>
          <p:cNvSpPr/>
          <p:nvPr/>
        </p:nvSpPr>
        <p:spPr>
          <a:xfrm>
            <a:off x="548640" y="1280160"/>
            <a:ext cx="3520440" cy="484632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463040"/>
            <a:ext cx="3063240" cy="411480"/>
          </a:xfrm>
          <a:prstGeom prst="rect">
            <a:avLst/>
          </a:prstGeom>
          <a:noFill/>
        </p:spPr>
        <p:txBody>
          <a:bodyPr wrap="square">
            <a:spAutoFit/>
          </a:bodyPr>
          <a:lstStyle/>
          <a:p>
            <a:pPr>
              <a:defRPr sz="1400" b="1">
                <a:solidFill>
                  <a:srgbClr val="0F172A"/>
                </a:solidFill>
                <a:latin typeface="Calibri"/>
              </a:defRPr>
            </a:pPr>
            <a:r>
              <a:t>VRLA (Valve Regulated Lead-Acid)</a:t>
            </a:r>
          </a:p>
        </p:txBody>
      </p:sp>
      <p:sp>
        <p:nvSpPr>
          <p:cNvPr id="10" name="Rounded Rectangle 9"/>
          <p:cNvSpPr/>
          <p:nvPr/>
        </p:nvSpPr>
        <p:spPr>
          <a:xfrm>
            <a:off x="2697480" y="1463040"/>
            <a:ext cx="1188720" cy="228600"/>
          </a:xfrm>
          <a:prstGeom prst="round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FFFFFF"/>
                </a:solidFill>
              </a:defRPr>
            </a:pPr>
            <a:r>
              <a:t>LEGACY TECH</a:t>
            </a:r>
          </a:p>
        </p:txBody>
      </p:sp>
      <p:sp>
        <p:nvSpPr>
          <p:cNvPr id="11" name="TextBox 10"/>
          <p:cNvSpPr txBox="1"/>
          <p:nvPr/>
        </p:nvSpPr>
        <p:spPr>
          <a:xfrm>
            <a:off x="777240" y="1920240"/>
            <a:ext cx="3063240" cy="4069080"/>
          </a:xfrm>
          <a:prstGeom prst="rect">
            <a:avLst/>
          </a:prstGeom>
          <a:noFill/>
        </p:spPr>
        <p:txBody>
          <a:bodyPr wrap="square" tIns="0" lIns="0" rIns="0">
            <a:spAutoFit/>
          </a:bodyPr>
          <a:lstStyle/>
          <a:p>
            <a:pPr>
              <a:spcAft>
                <a:spcPts val="600"/>
              </a:spcAft>
              <a:defRPr sz="1100">
                <a:solidFill>
                  <a:srgbClr val="475569"/>
                </a:solidFill>
                <a:latin typeface="Calibri"/>
              </a:defRPr>
            </a:pPr>
            <a:r>
              <a:rPr b="1">
                <a:solidFill>
                  <a:srgbClr val="0F172A"/>
                </a:solidFill>
              </a:rPr>
              <a:t>• Chemistry:</a:t>
            </a:r>
            <a:r>
              <a:rPr b="0">
                <a:solidFill>
                  <a:srgbClr val="475569"/>
                </a:solidFill>
              </a:rPr>
              <a:t> Absorbed Glass Mat (AGM) or Gel electrolyte lead-acid.</a:t>
            </a:r>
          </a:p>
          <a:p>
            <a:pPr>
              <a:spcAft>
                <a:spcPts val="600"/>
              </a:spcAft>
              <a:defRPr sz="1100">
                <a:solidFill>
                  <a:srgbClr val="475569"/>
                </a:solidFill>
                <a:latin typeface="Calibri"/>
              </a:defRPr>
            </a:pPr>
            <a:r>
              <a:rPr b="1">
                <a:solidFill>
                  <a:srgbClr val="0F172A"/>
                </a:solidFill>
              </a:rPr>
              <a:t>• Service Life:</a:t>
            </a:r>
            <a:r>
              <a:rPr b="0">
                <a:solidFill>
                  <a:srgbClr val="475569"/>
                </a:solidFill>
              </a:rPr>
              <a:t> 3 to 5 years (requires frequent cell monitoring).</a:t>
            </a:r>
          </a:p>
          <a:p>
            <a:pPr>
              <a:spcAft>
                <a:spcPts val="600"/>
              </a:spcAft>
              <a:defRPr sz="1100">
                <a:solidFill>
                  <a:srgbClr val="475569"/>
                </a:solidFill>
                <a:latin typeface="Calibri"/>
              </a:defRPr>
            </a:pPr>
            <a:r>
              <a:rPr b="1">
                <a:solidFill>
                  <a:srgbClr val="0F172A"/>
                </a:solidFill>
              </a:rPr>
              <a:t>• Weight &amp; Footprint:</a:t>
            </a:r>
            <a:r>
              <a:rPr b="0">
                <a:solidFill>
                  <a:srgbClr val="475569"/>
                </a:solidFill>
              </a:rPr>
              <a:t> Heavy (requires reinforced floor slabs, 800-1000 kg/m²); large dedicated battery rooms.</a:t>
            </a:r>
          </a:p>
          <a:p>
            <a:pPr>
              <a:spcAft>
                <a:spcPts val="600"/>
              </a:spcAft>
              <a:defRPr sz="1100">
                <a:solidFill>
                  <a:srgbClr val="475569"/>
                </a:solidFill>
                <a:latin typeface="Calibri"/>
              </a:defRPr>
            </a:pPr>
            <a:r>
              <a:rPr b="1">
                <a:solidFill>
                  <a:srgbClr val="0F172A"/>
                </a:solidFill>
              </a:rPr>
              <a:t>• Operating Temp:</a:t>
            </a:r>
            <a:r>
              <a:rPr b="0">
                <a:solidFill>
                  <a:srgbClr val="475569"/>
                </a:solidFill>
              </a:rPr>
              <a:t> Strict 20°C - 25°C. Every 10°C rise halves battery operational lifespan!</a:t>
            </a:r>
          </a:p>
          <a:p>
            <a:pPr>
              <a:spcAft>
                <a:spcPts val="600"/>
              </a:spcAft>
              <a:defRPr sz="1100">
                <a:solidFill>
                  <a:srgbClr val="475569"/>
                </a:solidFill>
                <a:latin typeface="Calibri"/>
              </a:defRPr>
            </a:pPr>
            <a:r>
              <a:rPr b="1">
                <a:solidFill>
                  <a:srgbClr val="0F172A"/>
                </a:solidFill>
              </a:rPr>
              <a:t>• Maintenance:</a:t>
            </a:r>
            <a:r>
              <a:rPr b="0">
                <a:solidFill>
                  <a:srgbClr val="475569"/>
                </a:solidFill>
              </a:rPr>
              <a:t> High maintenance, periodic impedance testing, risk of acid leaks &amp; thermal runaway.</a:t>
            </a:r>
          </a:p>
          <a:p>
            <a:pPr>
              <a:spcAft>
                <a:spcPts val="600"/>
              </a:spcAft>
              <a:defRPr sz="1100">
                <a:solidFill>
                  <a:srgbClr val="475569"/>
                </a:solidFill>
                <a:latin typeface="Calibri"/>
              </a:defRPr>
            </a:pPr>
            <a:r>
              <a:rPr b="1">
                <a:solidFill>
                  <a:srgbClr val="0F172A"/>
                </a:solidFill>
              </a:rPr>
              <a:t>• CAPEX:</a:t>
            </a:r>
            <a:r>
              <a:rPr b="0">
                <a:solidFill>
                  <a:srgbClr val="475569"/>
                </a:solidFill>
              </a:rPr>
              <a:t> Lowest initial capital expenditure (traditional baseline).</a:t>
            </a:r>
          </a:p>
        </p:txBody>
      </p:sp>
      <p:sp>
        <p:nvSpPr>
          <p:cNvPr id="12" name="Rounded Rectangle 11"/>
          <p:cNvSpPr/>
          <p:nvPr/>
        </p:nvSpPr>
        <p:spPr>
          <a:xfrm>
            <a:off x="4297680" y="1280160"/>
            <a:ext cx="3520440" cy="4846320"/>
          </a:xfrm>
          <a:prstGeom prst="roundRect">
            <a:avLst/>
          </a:prstGeom>
          <a:solidFill>
            <a:srgbClr val="F8FAFC"/>
          </a:solidFill>
          <a:ln w="254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26280" y="1463040"/>
            <a:ext cx="3063240" cy="411480"/>
          </a:xfrm>
          <a:prstGeom prst="rect">
            <a:avLst/>
          </a:prstGeom>
          <a:noFill/>
        </p:spPr>
        <p:txBody>
          <a:bodyPr wrap="square">
            <a:spAutoFit/>
          </a:bodyPr>
          <a:lstStyle/>
          <a:p>
            <a:pPr>
              <a:defRPr sz="1400" b="1">
                <a:solidFill>
                  <a:srgbClr val="0F172A"/>
                </a:solidFill>
                <a:latin typeface="Calibri"/>
              </a:defRPr>
            </a:pPr>
            <a:r>
              <a:t>Lithium-Ion (LFP / NMC)</a:t>
            </a:r>
          </a:p>
        </p:txBody>
      </p:sp>
      <p:sp>
        <p:nvSpPr>
          <p:cNvPr id="14" name="Rounded Rectangle 13"/>
          <p:cNvSpPr/>
          <p:nvPr/>
        </p:nvSpPr>
        <p:spPr>
          <a:xfrm>
            <a:off x="6446520" y="1463040"/>
            <a:ext cx="1188720" cy="228600"/>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FFFFFF"/>
                </a:solidFill>
              </a:defRPr>
            </a:pPr>
            <a:r>
              <a:t>MODERN CHOICE</a:t>
            </a:r>
          </a:p>
        </p:txBody>
      </p:sp>
      <p:sp>
        <p:nvSpPr>
          <p:cNvPr id="15" name="TextBox 14"/>
          <p:cNvSpPr txBox="1"/>
          <p:nvPr/>
        </p:nvSpPr>
        <p:spPr>
          <a:xfrm>
            <a:off x="4526280" y="1920240"/>
            <a:ext cx="3063240" cy="4069080"/>
          </a:xfrm>
          <a:prstGeom prst="rect">
            <a:avLst/>
          </a:prstGeom>
          <a:noFill/>
        </p:spPr>
        <p:txBody>
          <a:bodyPr wrap="square" tIns="0" lIns="0" rIns="0">
            <a:spAutoFit/>
          </a:bodyPr>
          <a:lstStyle/>
          <a:p>
            <a:pPr>
              <a:spcAft>
                <a:spcPts val="600"/>
              </a:spcAft>
              <a:defRPr sz="1100">
                <a:solidFill>
                  <a:srgbClr val="475569"/>
                </a:solidFill>
                <a:latin typeface="Calibri"/>
              </a:defRPr>
            </a:pPr>
            <a:r>
              <a:rPr b="1">
                <a:solidFill>
                  <a:srgbClr val="0F172A"/>
                </a:solidFill>
              </a:rPr>
              <a:t>• Chemistry:</a:t>
            </a:r>
            <a:r>
              <a:rPr b="0">
                <a:solidFill>
                  <a:srgbClr val="475569"/>
                </a:solidFill>
              </a:rPr>
              <a:t> Lithium Iron Phosphate (LFP) preferred for fire safety; NMC for high power density.</a:t>
            </a:r>
          </a:p>
          <a:p>
            <a:pPr>
              <a:spcAft>
                <a:spcPts val="600"/>
              </a:spcAft>
              <a:defRPr sz="1100">
                <a:solidFill>
                  <a:srgbClr val="475569"/>
                </a:solidFill>
                <a:latin typeface="Calibri"/>
              </a:defRPr>
            </a:pPr>
            <a:r>
              <a:rPr b="1">
                <a:solidFill>
                  <a:srgbClr val="0F172A"/>
                </a:solidFill>
              </a:rPr>
              <a:t>• Service Life:</a:t>
            </a:r>
            <a:r>
              <a:rPr b="0">
                <a:solidFill>
                  <a:srgbClr val="475569"/>
                </a:solidFill>
              </a:rPr>
              <a:t> 12 to 15 years (matches UPS lifecycle).</a:t>
            </a:r>
          </a:p>
          <a:p>
            <a:pPr>
              <a:spcAft>
                <a:spcPts val="600"/>
              </a:spcAft>
              <a:defRPr sz="1100">
                <a:solidFill>
                  <a:srgbClr val="475569"/>
                </a:solidFill>
                <a:latin typeface="Calibri"/>
              </a:defRPr>
            </a:pPr>
            <a:r>
              <a:rPr b="1">
                <a:solidFill>
                  <a:srgbClr val="0F172A"/>
                </a:solidFill>
              </a:rPr>
              <a:t>• Weight &amp; Footprint:</a:t>
            </a:r>
            <a:r>
              <a:rPr b="0">
                <a:solidFill>
                  <a:srgbClr val="475569"/>
                </a:solidFill>
              </a:rPr>
              <a:t> 60% lighter, 70% smaller footprint. Can be colocated directly in IT white space.</a:t>
            </a:r>
          </a:p>
          <a:p>
            <a:pPr>
              <a:spcAft>
                <a:spcPts val="600"/>
              </a:spcAft>
              <a:defRPr sz="1100">
                <a:solidFill>
                  <a:srgbClr val="475569"/>
                </a:solidFill>
                <a:latin typeface="Calibri"/>
              </a:defRPr>
            </a:pPr>
            <a:r>
              <a:rPr b="1">
                <a:solidFill>
                  <a:srgbClr val="0F172A"/>
                </a:solidFill>
              </a:rPr>
              <a:t>• Operating Temp:</a:t>
            </a:r>
            <a:r>
              <a:rPr b="0">
                <a:solidFill>
                  <a:srgbClr val="475569"/>
                </a:solidFill>
              </a:rPr>
              <a:t> Tolerant up to 30°C with negligible degradation; reduces battery room cooling energy.</a:t>
            </a:r>
          </a:p>
          <a:p>
            <a:pPr>
              <a:spcAft>
                <a:spcPts val="600"/>
              </a:spcAft>
              <a:defRPr sz="1100">
                <a:solidFill>
                  <a:srgbClr val="475569"/>
                </a:solidFill>
                <a:latin typeface="Calibri"/>
              </a:defRPr>
            </a:pPr>
            <a:r>
              <a:rPr b="1">
                <a:solidFill>
                  <a:srgbClr val="0F172A"/>
                </a:solidFill>
              </a:rPr>
              <a:t>• BMS:</a:t>
            </a:r>
            <a:r>
              <a:rPr b="0">
                <a:solidFill>
                  <a:srgbClr val="475569"/>
                </a:solidFill>
              </a:rPr>
              <a:t> Integrated Battery Management System monitors cell voltage, impedance, temperature in real-time.</a:t>
            </a:r>
          </a:p>
          <a:p>
            <a:pPr>
              <a:spcAft>
                <a:spcPts val="600"/>
              </a:spcAft>
              <a:defRPr sz="1100">
                <a:solidFill>
                  <a:srgbClr val="475569"/>
                </a:solidFill>
                <a:latin typeface="Calibri"/>
              </a:defRPr>
            </a:pPr>
            <a:r>
              <a:rPr b="1">
                <a:solidFill>
                  <a:srgbClr val="0F172A"/>
                </a:solidFill>
              </a:rPr>
              <a:t>• CAPEX:</a:t>
            </a:r>
            <a:r>
              <a:rPr b="0">
                <a:solidFill>
                  <a:srgbClr val="475569"/>
                </a:solidFill>
              </a:rPr>
              <a:t> 1.5x higher initial cost, but lower TCO over 10-year period due to zero battery replacement.</a:t>
            </a:r>
          </a:p>
        </p:txBody>
      </p:sp>
      <p:sp>
        <p:nvSpPr>
          <p:cNvPr id="16" name="Rounded Rectangle 15"/>
          <p:cNvSpPr/>
          <p:nvPr/>
        </p:nvSpPr>
        <p:spPr>
          <a:xfrm>
            <a:off x="8046720" y="1280160"/>
            <a:ext cx="3520440" cy="484632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75320" y="1463040"/>
            <a:ext cx="3063240" cy="411480"/>
          </a:xfrm>
          <a:prstGeom prst="rect">
            <a:avLst/>
          </a:prstGeom>
          <a:noFill/>
        </p:spPr>
        <p:txBody>
          <a:bodyPr wrap="square">
            <a:spAutoFit/>
          </a:bodyPr>
          <a:lstStyle/>
          <a:p>
            <a:pPr>
              <a:defRPr sz="1400" b="1">
                <a:solidFill>
                  <a:srgbClr val="0F172A"/>
                </a:solidFill>
                <a:latin typeface="Calibri"/>
              </a:defRPr>
            </a:pPr>
            <a:r>
              <a:t>Kinetic Flywheels</a:t>
            </a:r>
          </a:p>
        </p:txBody>
      </p:sp>
      <p:sp>
        <p:nvSpPr>
          <p:cNvPr id="18" name="Rounded Rectangle 17"/>
          <p:cNvSpPr/>
          <p:nvPr/>
        </p:nvSpPr>
        <p:spPr>
          <a:xfrm>
            <a:off x="10195560" y="1463040"/>
            <a:ext cx="1188720" cy="228600"/>
          </a:xfrm>
          <a:prstGeom prst="round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FFFFFF"/>
                </a:solidFill>
              </a:defRPr>
            </a:pPr>
            <a:r>
              <a:t>ZERO CHEMICAL</a:t>
            </a:r>
          </a:p>
        </p:txBody>
      </p:sp>
      <p:sp>
        <p:nvSpPr>
          <p:cNvPr id="19" name="TextBox 18"/>
          <p:cNvSpPr txBox="1"/>
          <p:nvPr/>
        </p:nvSpPr>
        <p:spPr>
          <a:xfrm>
            <a:off x="8275320" y="1920240"/>
            <a:ext cx="3063240" cy="4069080"/>
          </a:xfrm>
          <a:prstGeom prst="rect">
            <a:avLst/>
          </a:prstGeom>
          <a:noFill/>
        </p:spPr>
        <p:txBody>
          <a:bodyPr wrap="square" tIns="0" lIns="0" rIns="0">
            <a:spAutoFit/>
          </a:bodyPr>
          <a:lstStyle/>
          <a:p>
            <a:pPr>
              <a:spcAft>
                <a:spcPts val="600"/>
              </a:spcAft>
              <a:defRPr sz="1100">
                <a:solidFill>
                  <a:srgbClr val="475569"/>
                </a:solidFill>
                <a:latin typeface="Calibri"/>
              </a:defRPr>
            </a:pPr>
            <a:r>
              <a:rPr b="1">
                <a:solidFill>
                  <a:srgbClr val="0F172A"/>
                </a:solidFill>
              </a:rPr>
              <a:t>• Mechanism:</a:t>
            </a:r>
            <a:r>
              <a:rPr b="0">
                <a:solidFill>
                  <a:srgbClr val="475569"/>
                </a:solidFill>
              </a:rPr>
              <a:t> High-speed rotor (up to 36,000 RPM) spinning in magnetic vacuum bearings.</a:t>
            </a:r>
          </a:p>
          <a:p>
            <a:pPr>
              <a:spcAft>
                <a:spcPts val="600"/>
              </a:spcAft>
              <a:defRPr sz="1100">
                <a:solidFill>
                  <a:srgbClr val="475569"/>
                </a:solidFill>
                <a:latin typeface="Calibri"/>
              </a:defRPr>
            </a:pPr>
            <a:r>
              <a:rPr b="1">
                <a:solidFill>
                  <a:srgbClr val="0F172A"/>
                </a:solidFill>
              </a:rPr>
              <a:t>• Ride-Through:</a:t>
            </a:r>
            <a:r>
              <a:rPr b="0">
                <a:solidFill>
                  <a:srgbClr val="475569"/>
                </a:solidFill>
              </a:rPr>
              <a:t> 15 to 30 seconds (purely designed to bridge time until DG reaches nominal voltage &amp; frequency).</a:t>
            </a:r>
          </a:p>
          <a:p>
            <a:pPr>
              <a:spcAft>
                <a:spcPts val="600"/>
              </a:spcAft>
              <a:defRPr sz="1100">
                <a:solidFill>
                  <a:srgbClr val="475569"/>
                </a:solidFill>
                <a:latin typeface="Calibri"/>
              </a:defRPr>
            </a:pPr>
            <a:r>
              <a:rPr b="1">
                <a:solidFill>
                  <a:srgbClr val="0F172A"/>
                </a:solidFill>
              </a:rPr>
              <a:t>• Cycle Life:</a:t>
            </a:r>
            <a:r>
              <a:rPr b="0">
                <a:solidFill>
                  <a:srgbClr val="475569"/>
                </a:solidFill>
              </a:rPr>
              <a:t> Unlimited deep-discharge cycles (&gt; 1,000,000 cycles) with zero capacity fading.</a:t>
            </a:r>
          </a:p>
          <a:p>
            <a:pPr>
              <a:spcAft>
                <a:spcPts val="600"/>
              </a:spcAft>
              <a:defRPr sz="1100">
                <a:solidFill>
                  <a:srgbClr val="475569"/>
                </a:solidFill>
                <a:latin typeface="Calibri"/>
              </a:defRPr>
            </a:pPr>
            <a:r>
              <a:rPr b="1">
                <a:solidFill>
                  <a:srgbClr val="0F172A"/>
                </a:solidFill>
              </a:rPr>
              <a:t>• Safety:</a:t>
            </a:r>
            <a:r>
              <a:rPr b="0">
                <a:solidFill>
                  <a:srgbClr val="475569"/>
                </a:solidFill>
              </a:rPr>
              <a:t> Zero toxic chemicals, zero fire or thermal runaway hazard, completely recyclable.</a:t>
            </a:r>
          </a:p>
          <a:p>
            <a:pPr>
              <a:spcAft>
                <a:spcPts val="600"/>
              </a:spcAft>
              <a:defRPr sz="1100">
                <a:solidFill>
                  <a:srgbClr val="475569"/>
                </a:solidFill>
                <a:latin typeface="Calibri"/>
              </a:defRPr>
            </a:pPr>
            <a:r>
              <a:rPr b="1">
                <a:solidFill>
                  <a:srgbClr val="0F172A"/>
                </a:solidFill>
              </a:rPr>
              <a:t>• Drawback:</a:t>
            </a:r>
            <a:r>
              <a:rPr b="0">
                <a:solidFill>
                  <a:srgbClr val="475569"/>
                </a:solidFill>
              </a:rPr>
              <a:t> No prolonged autonomy. If generator fails to crank in 15 seconds, DC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92240"/>
            <a:ext cx="12191695" cy="36576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510528"/>
            <a:ext cx="11094415" cy="320040"/>
          </a:xfrm>
          <a:prstGeom prst="rect">
            <a:avLst/>
          </a:prstGeom>
          <a:noFill/>
        </p:spPr>
        <p:txBody>
          <a:bodyPr wrap="square">
            <a:spAutoFit/>
          </a:bodyPr>
          <a:lstStyle/>
          <a:p>
            <a:pPr>
              <a:defRPr sz="1000">
                <a:solidFill>
                  <a:srgbClr val="94A3B8"/>
                </a:solidFill>
                <a:latin typeface="Calibri"/>
              </a:defRPr>
            </a:pPr>
            <a:r>
              <a:t>M.Tech CSE · Data Centre Systems Engineering | Unit 2: Electrical Infrastructure Engineering | Slide 8 of 22</a:t>
            </a:r>
          </a:p>
        </p:txBody>
      </p:sp>
      <p:sp>
        <p:nvSpPr>
          <p:cNvPr id="5" name="Rounded Rectangle 4"/>
          <p:cNvSpPr/>
          <p:nvPr/>
        </p:nvSpPr>
        <p:spPr>
          <a:xfrm>
            <a:off x="548640" y="164592"/>
            <a:ext cx="2011680" cy="256032"/>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950" b="1">
                <a:solidFill>
                  <a:srgbClr val="FFFFFF"/>
                </a:solidFill>
                <a:latin typeface="Calibri"/>
              </a:defRPr>
            </a:pPr>
            <a:r>
              <a:t>REDUNDANCY MODELS</a:t>
            </a:r>
          </a:p>
        </p:txBody>
      </p:sp>
      <p:sp>
        <p:nvSpPr>
          <p:cNvPr id="6" name="TextBox 5"/>
          <p:cNvSpPr txBox="1"/>
          <p:nvPr/>
        </p:nvSpPr>
        <p:spPr>
          <a:xfrm>
            <a:off x="548640" y="438912"/>
            <a:ext cx="9601200" cy="502920"/>
          </a:xfrm>
          <a:prstGeom prst="rect">
            <a:avLst/>
          </a:prstGeom>
          <a:noFill/>
        </p:spPr>
        <p:txBody>
          <a:bodyPr wrap="square">
            <a:spAutoFit/>
          </a:bodyPr>
          <a:lstStyle/>
          <a:p>
            <a:pPr>
              <a:defRPr sz="2000" b="1">
                <a:solidFill>
                  <a:srgbClr val="FFFFFF"/>
                </a:solidFill>
                <a:latin typeface="Calibri"/>
              </a:defRPr>
            </a:pPr>
            <a:r>
              <a:t>Power Redundancy Architectures: N, N+1, 2N &amp; Distributed</a:t>
            </a:r>
          </a:p>
          <a:p>
            <a:pPr>
              <a:defRPr sz="1100">
                <a:solidFill>
                  <a:srgbClr val="94A3B8"/>
                </a:solidFill>
                <a:latin typeface="Calibri"/>
              </a:defRPr>
            </a:pPr>
            <a:r>
              <a:t>Mathematical and architectural topologies defined by Uptime Institute and TIA-942</a:t>
            </a:r>
          </a:p>
        </p:txBody>
      </p:sp>
      <p:sp>
        <p:nvSpPr>
          <p:cNvPr id="7" name="Rounded Rectangle 6"/>
          <p:cNvSpPr/>
          <p:nvPr/>
        </p:nvSpPr>
        <p:spPr>
          <a:xfrm>
            <a:off x="11064240" y="228600"/>
            <a:ext cx="640080" cy="292608"/>
          </a:xfrm>
          <a:prstGeom prst="roundRect">
            <a:avLst/>
          </a:prstGeom>
          <a:solidFill>
            <a:srgbClr val="1E293B"/>
          </a:solidFill>
          <a:ln w="12700">
            <a:solidFill>
              <a:srgbClr val="47556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08</a:t>
            </a:r>
          </a:p>
        </p:txBody>
      </p:sp>
      <p:sp>
        <p:nvSpPr>
          <p:cNvPr id="8" name="Rounded Rectangle 7"/>
          <p:cNvSpPr/>
          <p:nvPr/>
        </p:nvSpPr>
        <p:spPr>
          <a:xfrm>
            <a:off x="548640" y="1280160"/>
            <a:ext cx="2606040" cy="484632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463040"/>
            <a:ext cx="2148840" cy="411480"/>
          </a:xfrm>
          <a:prstGeom prst="rect">
            <a:avLst/>
          </a:prstGeom>
          <a:noFill/>
        </p:spPr>
        <p:txBody>
          <a:bodyPr wrap="square">
            <a:spAutoFit/>
          </a:bodyPr>
          <a:lstStyle/>
          <a:p>
            <a:pPr>
              <a:defRPr sz="1400" b="1">
                <a:solidFill>
                  <a:srgbClr val="0F172A"/>
                </a:solidFill>
                <a:latin typeface="Calibri"/>
              </a:defRPr>
            </a:pPr>
            <a:r>
              <a:t>N System (Basic)</a:t>
            </a:r>
          </a:p>
        </p:txBody>
      </p:sp>
      <p:sp>
        <p:nvSpPr>
          <p:cNvPr id="10" name="Rounded Rectangle 9"/>
          <p:cNvSpPr/>
          <p:nvPr/>
        </p:nvSpPr>
        <p:spPr>
          <a:xfrm>
            <a:off x="1783080" y="1463040"/>
            <a:ext cx="1188720" cy="228600"/>
          </a:xfrm>
          <a:prstGeom prst="roundRect">
            <a:avLst/>
          </a:prstGeom>
          <a:solidFill>
            <a:srgbClr val="4755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FFFFFF"/>
                </a:solidFill>
              </a:defRPr>
            </a:pPr>
            <a:r>
              <a:t>TIER I</a:t>
            </a:r>
          </a:p>
        </p:txBody>
      </p:sp>
      <p:sp>
        <p:nvSpPr>
          <p:cNvPr id="11" name="TextBox 10"/>
          <p:cNvSpPr txBox="1"/>
          <p:nvPr/>
        </p:nvSpPr>
        <p:spPr>
          <a:xfrm>
            <a:off x="777240" y="1920240"/>
            <a:ext cx="2148840" cy="4069080"/>
          </a:xfrm>
          <a:prstGeom prst="rect">
            <a:avLst/>
          </a:prstGeom>
          <a:noFill/>
        </p:spPr>
        <p:txBody>
          <a:bodyPr wrap="square" tIns="0" lIns="0" rIns="0">
            <a:spAutoFit/>
          </a:bodyPr>
          <a:lstStyle/>
          <a:p>
            <a:pPr>
              <a:spcAft>
                <a:spcPts val="600"/>
              </a:spcAft>
              <a:defRPr sz="1100">
                <a:solidFill>
                  <a:srgbClr val="475569"/>
                </a:solidFill>
                <a:latin typeface="Calibri"/>
              </a:defRPr>
            </a:pPr>
            <a:r>
              <a:rPr b="1">
                <a:solidFill>
                  <a:srgbClr val="0F172A"/>
                </a:solidFill>
              </a:rPr>
              <a:t>• Capacity:</a:t>
            </a:r>
            <a:r>
              <a:rPr b="0">
                <a:solidFill>
                  <a:srgbClr val="475569"/>
                </a:solidFill>
              </a:rPr>
              <a:t> Exactly 100% of IT load requirement.</a:t>
            </a:r>
          </a:p>
          <a:p>
            <a:pPr>
              <a:spcAft>
                <a:spcPts val="600"/>
              </a:spcAft>
              <a:defRPr sz="1100">
                <a:solidFill>
                  <a:srgbClr val="475569"/>
                </a:solidFill>
                <a:latin typeface="Calibri"/>
              </a:defRPr>
            </a:pPr>
            <a:r>
              <a:rPr b="1">
                <a:solidFill>
                  <a:srgbClr val="0F172A"/>
                </a:solidFill>
              </a:rPr>
              <a:t>• Redundancy:</a:t>
            </a:r>
            <a:r>
              <a:rPr b="0">
                <a:solidFill>
                  <a:srgbClr val="475569"/>
                </a:solidFill>
              </a:rPr>
              <a:t> Zero (0). No backup modules.</a:t>
            </a:r>
          </a:p>
          <a:p>
            <a:pPr>
              <a:spcAft>
                <a:spcPts val="600"/>
              </a:spcAft>
              <a:defRPr sz="1100">
                <a:solidFill>
                  <a:srgbClr val="475569"/>
                </a:solidFill>
                <a:latin typeface="Calibri"/>
              </a:defRPr>
            </a:pPr>
            <a:r>
              <a:rPr b="1">
                <a:solidFill>
                  <a:srgbClr val="0F172A"/>
                </a:solidFill>
              </a:rPr>
              <a:t>• SPOF:</a:t>
            </a:r>
            <a:r>
              <a:rPr b="0">
                <a:solidFill>
                  <a:srgbClr val="475569"/>
                </a:solidFill>
              </a:rPr>
              <a:t> Multiple Single Points of Failure throughout path.</a:t>
            </a:r>
          </a:p>
          <a:p>
            <a:pPr>
              <a:spcAft>
                <a:spcPts val="600"/>
              </a:spcAft>
              <a:defRPr sz="1100">
                <a:solidFill>
                  <a:srgbClr val="475569"/>
                </a:solidFill>
                <a:latin typeface="Calibri"/>
              </a:defRPr>
            </a:pPr>
            <a:r>
              <a:rPr b="1">
                <a:solidFill>
                  <a:srgbClr val="0F172A"/>
                </a:solidFill>
              </a:rPr>
              <a:t>• Maintenance:</a:t>
            </a:r>
            <a:r>
              <a:rPr b="0">
                <a:solidFill>
                  <a:srgbClr val="475569"/>
                </a:solidFill>
              </a:rPr>
              <a:t> Requires complete DC shutdown for maintenance.</a:t>
            </a:r>
          </a:p>
          <a:p>
            <a:pPr>
              <a:spcAft>
                <a:spcPts val="600"/>
              </a:spcAft>
              <a:defRPr sz="1100">
                <a:solidFill>
                  <a:srgbClr val="475569"/>
                </a:solidFill>
                <a:latin typeface="Calibri"/>
              </a:defRPr>
            </a:pPr>
            <a:r>
              <a:rPr b="1">
                <a:solidFill>
                  <a:srgbClr val="0F172A"/>
                </a:solidFill>
              </a:rPr>
              <a:t>• Cost:</a:t>
            </a:r>
            <a:r>
              <a:rPr b="0">
                <a:solidFill>
                  <a:srgbClr val="475569"/>
                </a:solidFill>
              </a:rPr>
              <a:t> Lowest baseline cost (1.0x).</a:t>
            </a:r>
          </a:p>
          <a:p>
            <a:pPr>
              <a:spcAft>
                <a:spcPts val="600"/>
              </a:spcAft>
              <a:defRPr sz="1100">
                <a:solidFill>
                  <a:srgbClr val="475569"/>
                </a:solidFill>
                <a:latin typeface="Calibri"/>
              </a:defRPr>
            </a:pPr>
            <a:r>
              <a:rPr b="1">
                <a:solidFill>
                  <a:srgbClr val="0F172A"/>
                </a:solidFill>
              </a:rPr>
              <a:t>• Tier Level:</a:t>
            </a:r>
            <a:r>
              <a:rPr b="0">
                <a:solidFill>
                  <a:srgbClr val="475569"/>
                </a:solidFill>
              </a:rPr>
              <a:t> Tier I.</a:t>
            </a:r>
          </a:p>
        </p:txBody>
      </p:sp>
      <p:sp>
        <p:nvSpPr>
          <p:cNvPr id="12" name="Rounded Rectangle 11"/>
          <p:cNvSpPr/>
          <p:nvPr/>
        </p:nvSpPr>
        <p:spPr>
          <a:xfrm>
            <a:off x="3319272" y="1280160"/>
            <a:ext cx="2606040" cy="484632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547872" y="1463040"/>
            <a:ext cx="2148840" cy="411480"/>
          </a:xfrm>
          <a:prstGeom prst="rect">
            <a:avLst/>
          </a:prstGeom>
          <a:noFill/>
        </p:spPr>
        <p:txBody>
          <a:bodyPr wrap="square">
            <a:spAutoFit/>
          </a:bodyPr>
          <a:lstStyle/>
          <a:p>
            <a:pPr>
              <a:defRPr sz="1400" b="1">
                <a:solidFill>
                  <a:srgbClr val="0F172A"/>
                </a:solidFill>
                <a:latin typeface="Calibri"/>
              </a:defRPr>
            </a:pPr>
            <a:r>
              <a:t>N+1 System (Parallel)</a:t>
            </a:r>
          </a:p>
        </p:txBody>
      </p:sp>
      <p:sp>
        <p:nvSpPr>
          <p:cNvPr id="14" name="Rounded Rectangle 13"/>
          <p:cNvSpPr/>
          <p:nvPr/>
        </p:nvSpPr>
        <p:spPr>
          <a:xfrm>
            <a:off x="4553712" y="1463040"/>
            <a:ext cx="1188720" cy="228600"/>
          </a:xfrm>
          <a:prstGeom prst="round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FFFFFF"/>
                </a:solidFill>
              </a:defRPr>
            </a:pPr>
            <a:r>
              <a:t>TIER II</a:t>
            </a:r>
          </a:p>
        </p:txBody>
      </p:sp>
      <p:sp>
        <p:nvSpPr>
          <p:cNvPr id="15" name="TextBox 14"/>
          <p:cNvSpPr txBox="1"/>
          <p:nvPr/>
        </p:nvSpPr>
        <p:spPr>
          <a:xfrm>
            <a:off x="3547872" y="1920240"/>
            <a:ext cx="2148840" cy="4069080"/>
          </a:xfrm>
          <a:prstGeom prst="rect">
            <a:avLst/>
          </a:prstGeom>
          <a:noFill/>
        </p:spPr>
        <p:txBody>
          <a:bodyPr wrap="square" tIns="0" lIns="0" rIns="0">
            <a:spAutoFit/>
          </a:bodyPr>
          <a:lstStyle/>
          <a:p>
            <a:pPr>
              <a:spcAft>
                <a:spcPts val="600"/>
              </a:spcAft>
              <a:defRPr sz="1100">
                <a:solidFill>
                  <a:srgbClr val="475569"/>
                </a:solidFill>
                <a:latin typeface="Calibri"/>
              </a:defRPr>
            </a:pPr>
            <a:r>
              <a:rPr b="1">
                <a:solidFill>
                  <a:srgbClr val="0F172A"/>
                </a:solidFill>
              </a:rPr>
              <a:t>• Capacity:</a:t>
            </a:r>
            <a:r>
              <a:rPr b="0">
                <a:solidFill>
                  <a:srgbClr val="475569"/>
                </a:solidFill>
              </a:rPr>
              <a:t> N modules required + 1 extra module for backup.</a:t>
            </a:r>
          </a:p>
          <a:p>
            <a:pPr>
              <a:spcAft>
                <a:spcPts val="600"/>
              </a:spcAft>
              <a:defRPr sz="1100">
                <a:solidFill>
                  <a:srgbClr val="475569"/>
                </a:solidFill>
                <a:latin typeface="Calibri"/>
              </a:defRPr>
            </a:pPr>
            <a:r>
              <a:rPr b="1">
                <a:solidFill>
                  <a:srgbClr val="0F172A"/>
                </a:solidFill>
              </a:rPr>
              <a:t>• Mechanism:</a:t>
            </a:r>
            <a:r>
              <a:rPr b="0">
                <a:solidFill>
                  <a:srgbClr val="475569"/>
                </a:solidFill>
              </a:rPr>
              <a:t> Modules share common input &amp; output buses.</a:t>
            </a:r>
          </a:p>
          <a:p>
            <a:pPr>
              <a:spcAft>
                <a:spcPts val="600"/>
              </a:spcAft>
              <a:defRPr sz="1100">
                <a:solidFill>
                  <a:srgbClr val="475569"/>
                </a:solidFill>
                <a:latin typeface="Calibri"/>
              </a:defRPr>
            </a:pPr>
            <a:r>
              <a:rPr b="1">
                <a:solidFill>
                  <a:srgbClr val="0F172A"/>
                </a:solidFill>
              </a:rPr>
              <a:t>• Maintenance:</a:t>
            </a:r>
            <a:r>
              <a:rPr b="0">
                <a:solidFill>
                  <a:srgbClr val="475569"/>
                </a:solidFill>
              </a:rPr>
              <a:t> Any single module can be serviced while remaining N modules carry the load.</a:t>
            </a:r>
          </a:p>
          <a:p>
            <a:pPr>
              <a:spcAft>
                <a:spcPts val="600"/>
              </a:spcAft>
              <a:defRPr sz="1100">
                <a:solidFill>
                  <a:srgbClr val="475569"/>
                </a:solidFill>
                <a:latin typeface="Calibri"/>
              </a:defRPr>
            </a:pPr>
            <a:r>
              <a:rPr b="1">
                <a:solidFill>
                  <a:srgbClr val="0F172A"/>
                </a:solidFill>
              </a:rPr>
              <a:t>• Limitation:</a:t>
            </a:r>
            <a:r>
              <a:rPr b="0">
                <a:solidFill>
                  <a:srgbClr val="475569"/>
                </a:solidFill>
              </a:rPr>
              <a:t> Distribution bus is still a single point of failure!</a:t>
            </a:r>
          </a:p>
          <a:p>
            <a:pPr>
              <a:spcAft>
                <a:spcPts val="600"/>
              </a:spcAft>
              <a:defRPr sz="1100">
                <a:solidFill>
                  <a:srgbClr val="475569"/>
                </a:solidFill>
                <a:latin typeface="Calibri"/>
              </a:defRPr>
            </a:pPr>
            <a:r>
              <a:rPr b="1">
                <a:solidFill>
                  <a:srgbClr val="0F172A"/>
                </a:solidFill>
              </a:rPr>
              <a:t>• Cost:</a:t>
            </a:r>
            <a:r>
              <a:rPr b="0">
                <a:solidFill>
                  <a:srgbClr val="475569"/>
                </a:solidFill>
              </a:rPr>
              <a:t> Approx 1.25x - 1.3x cost.</a:t>
            </a:r>
          </a:p>
          <a:p>
            <a:pPr>
              <a:spcAft>
                <a:spcPts val="600"/>
              </a:spcAft>
              <a:defRPr sz="1100">
                <a:solidFill>
                  <a:srgbClr val="475569"/>
                </a:solidFill>
                <a:latin typeface="Calibri"/>
              </a:defRPr>
            </a:pPr>
            <a:r>
              <a:rPr b="1">
                <a:solidFill>
                  <a:srgbClr val="0F172A"/>
                </a:solidFill>
              </a:rPr>
              <a:t>• Tier Level:</a:t>
            </a:r>
            <a:r>
              <a:rPr b="0">
                <a:solidFill>
                  <a:srgbClr val="475569"/>
                </a:solidFill>
              </a:rPr>
              <a:t> Tier II.</a:t>
            </a:r>
          </a:p>
        </p:txBody>
      </p:sp>
      <p:sp>
        <p:nvSpPr>
          <p:cNvPr id="16" name="Rounded Rectangle 15"/>
          <p:cNvSpPr/>
          <p:nvPr/>
        </p:nvSpPr>
        <p:spPr>
          <a:xfrm>
            <a:off x="6089904" y="1280160"/>
            <a:ext cx="2606040" cy="4846320"/>
          </a:xfrm>
          <a:prstGeom prst="roundRect">
            <a:avLst/>
          </a:prstGeom>
          <a:solidFill>
            <a:srgbClr val="F8FAFC"/>
          </a:solidFill>
          <a:ln w="254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18504" y="1463040"/>
            <a:ext cx="2148840" cy="411480"/>
          </a:xfrm>
          <a:prstGeom prst="rect">
            <a:avLst/>
          </a:prstGeom>
          <a:noFill/>
        </p:spPr>
        <p:txBody>
          <a:bodyPr wrap="square">
            <a:spAutoFit/>
          </a:bodyPr>
          <a:lstStyle/>
          <a:p>
            <a:pPr>
              <a:defRPr sz="1400" b="1">
                <a:solidFill>
                  <a:srgbClr val="0F172A"/>
                </a:solidFill>
                <a:latin typeface="Calibri"/>
              </a:defRPr>
            </a:pPr>
            <a:r>
              <a:t>2N System (Dual Path)</a:t>
            </a:r>
          </a:p>
        </p:txBody>
      </p:sp>
      <p:sp>
        <p:nvSpPr>
          <p:cNvPr id="18" name="Rounded Rectangle 17"/>
          <p:cNvSpPr/>
          <p:nvPr/>
        </p:nvSpPr>
        <p:spPr>
          <a:xfrm>
            <a:off x="7324344" y="1463040"/>
            <a:ext cx="1188720" cy="228600"/>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FFFFFF"/>
                </a:solidFill>
              </a:defRPr>
            </a:pPr>
            <a:r>
              <a:t>TIER IV</a:t>
            </a:r>
          </a:p>
        </p:txBody>
      </p:sp>
      <p:sp>
        <p:nvSpPr>
          <p:cNvPr id="19" name="TextBox 18"/>
          <p:cNvSpPr txBox="1"/>
          <p:nvPr/>
        </p:nvSpPr>
        <p:spPr>
          <a:xfrm>
            <a:off x="6318504" y="1920240"/>
            <a:ext cx="2148840" cy="4069080"/>
          </a:xfrm>
          <a:prstGeom prst="rect">
            <a:avLst/>
          </a:prstGeom>
          <a:noFill/>
        </p:spPr>
        <p:txBody>
          <a:bodyPr wrap="square" tIns="0" lIns="0" rIns="0">
            <a:spAutoFit/>
          </a:bodyPr>
          <a:lstStyle/>
          <a:p>
            <a:pPr>
              <a:spcAft>
                <a:spcPts val="600"/>
              </a:spcAft>
              <a:defRPr sz="1100">
                <a:solidFill>
                  <a:srgbClr val="475569"/>
                </a:solidFill>
                <a:latin typeface="Calibri"/>
              </a:defRPr>
            </a:pPr>
            <a:r>
              <a:rPr b="1">
                <a:solidFill>
                  <a:srgbClr val="0F172A"/>
                </a:solidFill>
              </a:rPr>
              <a:t>• Capacity:</a:t>
            </a:r>
            <a:r>
              <a:rPr b="0">
                <a:solidFill>
                  <a:srgbClr val="475569"/>
                </a:solidFill>
              </a:rPr>
              <a:t> Two complete independent distribution paths (Path A + Path B).</a:t>
            </a:r>
          </a:p>
          <a:p>
            <a:pPr>
              <a:spcAft>
                <a:spcPts val="600"/>
              </a:spcAft>
              <a:defRPr sz="1100">
                <a:solidFill>
                  <a:srgbClr val="475569"/>
                </a:solidFill>
                <a:latin typeface="Calibri"/>
              </a:defRPr>
            </a:pPr>
            <a:r>
              <a:rPr b="1">
                <a:solidFill>
                  <a:srgbClr val="0F172A"/>
                </a:solidFill>
              </a:rPr>
              <a:t>• Mechanism:</a:t>
            </a:r>
            <a:r>
              <a:rPr b="0">
                <a:solidFill>
                  <a:srgbClr val="475569"/>
                </a:solidFill>
              </a:rPr>
              <a:t> Each path can handle 100% of total load. Normal operation: 50% load each.</a:t>
            </a:r>
          </a:p>
          <a:p>
            <a:pPr>
              <a:spcAft>
                <a:spcPts val="600"/>
              </a:spcAft>
              <a:defRPr sz="1100">
                <a:solidFill>
                  <a:srgbClr val="475569"/>
                </a:solidFill>
                <a:latin typeface="Calibri"/>
              </a:defRPr>
            </a:pPr>
            <a:r>
              <a:rPr b="1">
                <a:solidFill>
                  <a:srgbClr val="0F172A"/>
                </a:solidFill>
              </a:rPr>
              <a:t>• Concurrency:</a:t>
            </a:r>
            <a:r>
              <a:rPr b="0">
                <a:solidFill>
                  <a:srgbClr val="475569"/>
                </a:solidFill>
              </a:rPr>
              <a:t> Concurrent Maintainability + Fault Tolerance.</a:t>
            </a:r>
          </a:p>
          <a:p>
            <a:pPr>
              <a:spcAft>
                <a:spcPts val="600"/>
              </a:spcAft>
              <a:defRPr sz="1100">
                <a:solidFill>
                  <a:srgbClr val="475569"/>
                </a:solidFill>
                <a:latin typeface="Calibri"/>
              </a:defRPr>
            </a:pPr>
            <a:r>
              <a:rPr b="1">
                <a:solidFill>
                  <a:srgbClr val="0F172A"/>
                </a:solidFill>
              </a:rPr>
              <a:t>• SPOF:</a:t>
            </a:r>
            <a:r>
              <a:rPr b="0">
                <a:solidFill>
                  <a:srgbClr val="475569"/>
                </a:solidFill>
              </a:rPr>
              <a:t> Zero single points of failure from grid to rack.</a:t>
            </a:r>
          </a:p>
          <a:p>
            <a:pPr>
              <a:spcAft>
                <a:spcPts val="600"/>
              </a:spcAft>
              <a:defRPr sz="1100">
                <a:solidFill>
                  <a:srgbClr val="475569"/>
                </a:solidFill>
                <a:latin typeface="Calibri"/>
              </a:defRPr>
            </a:pPr>
            <a:r>
              <a:rPr b="1">
                <a:solidFill>
                  <a:srgbClr val="0F172A"/>
                </a:solidFill>
              </a:rPr>
              <a:t>• Cost:</a:t>
            </a:r>
            <a:r>
              <a:rPr b="0">
                <a:solidFill>
                  <a:srgbClr val="475569"/>
                </a:solidFill>
              </a:rPr>
              <a:t> Approx 2.0x - 2.2x cost.</a:t>
            </a:r>
          </a:p>
          <a:p>
            <a:pPr>
              <a:spcAft>
                <a:spcPts val="600"/>
              </a:spcAft>
              <a:defRPr sz="1100">
                <a:solidFill>
                  <a:srgbClr val="475569"/>
                </a:solidFill>
                <a:latin typeface="Calibri"/>
              </a:defRPr>
            </a:pPr>
            <a:r>
              <a:rPr b="1">
                <a:solidFill>
                  <a:srgbClr val="0F172A"/>
                </a:solidFill>
              </a:rPr>
              <a:t>• Tier Level:</a:t>
            </a:r>
            <a:r>
              <a:rPr b="0">
                <a:solidFill>
                  <a:srgbClr val="475569"/>
                </a:solidFill>
              </a:rPr>
              <a:t> Tier IV.</a:t>
            </a:r>
          </a:p>
        </p:txBody>
      </p:sp>
      <p:sp>
        <p:nvSpPr>
          <p:cNvPr id="20" name="Rounded Rectangle 19"/>
          <p:cNvSpPr/>
          <p:nvPr/>
        </p:nvSpPr>
        <p:spPr>
          <a:xfrm>
            <a:off x="8860536" y="1280160"/>
            <a:ext cx="2606040" cy="484632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089136" y="1463040"/>
            <a:ext cx="2148840" cy="411480"/>
          </a:xfrm>
          <a:prstGeom prst="rect">
            <a:avLst/>
          </a:prstGeom>
          <a:noFill/>
        </p:spPr>
        <p:txBody>
          <a:bodyPr wrap="square">
            <a:spAutoFit/>
          </a:bodyPr>
          <a:lstStyle/>
          <a:p>
            <a:pPr>
              <a:defRPr sz="1400" b="1">
                <a:solidFill>
                  <a:srgbClr val="0F172A"/>
                </a:solidFill>
                <a:latin typeface="Calibri"/>
              </a:defRPr>
            </a:pPr>
            <a:r>
              <a:t>Distributed (3N/2)</a:t>
            </a:r>
          </a:p>
        </p:txBody>
      </p:sp>
      <p:sp>
        <p:nvSpPr>
          <p:cNvPr id="22" name="Rounded Rectangle 21"/>
          <p:cNvSpPr/>
          <p:nvPr/>
        </p:nvSpPr>
        <p:spPr>
          <a:xfrm>
            <a:off x="10094976" y="1463040"/>
            <a:ext cx="1188720" cy="228600"/>
          </a:xfrm>
          <a:prstGeom prst="round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FFFFFF"/>
                </a:solidFill>
              </a:defRPr>
            </a:pPr>
            <a:r>
              <a:t>TIER III</a:t>
            </a:r>
          </a:p>
        </p:txBody>
      </p:sp>
      <p:sp>
        <p:nvSpPr>
          <p:cNvPr id="23" name="TextBox 22"/>
          <p:cNvSpPr txBox="1"/>
          <p:nvPr/>
        </p:nvSpPr>
        <p:spPr>
          <a:xfrm>
            <a:off x="9089136" y="1920240"/>
            <a:ext cx="2148840" cy="4069080"/>
          </a:xfrm>
          <a:prstGeom prst="rect">
            <a:avLst/>
          </a:prstGeom>
          <a:noFill/>
        </p:spPr>
        <p:txBody>
          <a:bodyPr wrap="square" tIns="0" lIns="0" rIns="0">
            <a:spAutoFit/>
          </a:bodyPr>
          <a:lstStyle/>
          <a:p>
            <a:pPr>
              <a:spcAft>
                <a:spcPts val="600"/>
              </a:spcAft>
              <a:defRPr sz="1100">
                <a:solidFill>
                  <a:srgbClr val="475569"/>
                </a:solidFill>
                <a:latin typeface="Calibri"/>
              </a:defRPr>
            </a:pPr>
            <a:r>
              <a:rPr b="1">
                <a:solidFill>
                  <a:srgbClr val="0F172A"/>
                </a:solidFill>
              </a:rPr>
              <a:t>• Capacity:</a:t>
            </a:r>
            <a:r>
              <a:rPr b="0">
                <a:solidFill>
                  <a:srgbClr val="475569"/>
                </a:solidFill>
              </a:rPr>
              <a:t> 3 UPS modules feed 2 independent load buses (3-to-make-2).</a:t>
            </a:r>
          </a:p>
          <a:p>
            <a:pPr>
              <a:spcAft>
                <a:spcPts val="600"/>
              </a:spcAft>
              <a:defRPr sz="1100">
                <a:solidFill>
                  <a:srgbClr val="475569"/>
                </a:solidFill>
                <a:latin typeface="Calibri"/>
              </a:defRPr>
            </a:pPr>
            <a:r>
              <a:rPr b="1">
                <a:solidFill>
                  <a:srgbClr val="0F172A"/>
                </a:solidFill>
              </a:rPr>
              <a:t>• Efficiency:</a:t>
            </a:r>
            <a:r>
              <a:rPr b="0">
                <a:solidFill>
                  <a:srgbClr val="475569"/>
                </a:solidFill>
              </a:rPr>
              <a:t> High utilization factor (66% per unit vs 50% in 2N).</a:t>
            </a:r>
          </a:p>
          <a:p>
            <a:pPr>
              <a:spcAft>
                <a:spcPts val="600"/>
              </a:spcAft>
              <a:defRPr sz="1100">
                <a:solidFill>
                  <a:srgbClr val="475569"/>
                </a:solidFill>
                <a:latin typeface="Calibri"/>
              </a:defRPr>
            </a:pPr>
            <a:r>
              <a:rPr b="1">
                <a:solidFill>
                  <a:srgbClr val="0F172A"/>
                </a:solidFill>
              </a:rPr>
              <a:t>• Stranded Power:</a:t>
            </a:r>
            <a:r>
              <a:rPr b="0">
                <a:solidFill>
                  <a:srgbClr val="475569"/>
                </a:solidFill>
              </a:rPr>
              <a:t> Drastically reduces unused stranded capacity.</a:t>
            </a:r>
          </a:p>
          <a:p>
            <a:pPr>
              <a:spcAft>
                <a:spcPts val="600"/>
              </a:spcAft>
              <a:defRPr sz="1100">
                <a:solidFill>
                  <a:srgbClr val="475569"/>
                </a:solidFill>
                <a:latin typeface="Calibri"/>
              </a:defRPr>
            </a:pPr>
            <a:r>
              <a:rPr b="1">
                <a:solidFill>
                  <a:srgbClr val="0F172A"/>
                </a:solidFill>
              </a:rPr>
              <a:t>• Complexity:</a:t>
            </a:r>
            <a:r>
              <a:rPr b="0">
                <a:solidFill>
                  <a:srgbClr val="475569"/>
                </a:solidFill>
              </a:rPr>
              <a:t> Complex STS switching and circuit management.</a:t>
            </a:r>
          </a:p>
          <a:p>
            <a:pPr>
              <a:spcAft>
                <a:spcPts val="600"/>
              </a:spcAft>
              <a:defRPr sz="1100">
                <a:solidFill>
                  <a:srgbClr val="475569"/>
                </a:solidFill>
                <a:latin typeface="Calibri"/>
              </a:defRPr>
            </a:pPr>
            <a:r>
              <a:rPr b="1">
                <a:solidFill>
                  <a:srgbClr val="0F172A"/>
                </a:solidFill>
              </a:rPr>
              <a:t>• Cost:</a:t>
            </a:r>
            <a:r>
              <a:rPr b="0">
                <a:solidFill>
                  <a:srgbClr val="475569"/>
                </a:solidFill>
              </a:rPr>
              <a:t> Approx 1.5x - 1.6x cost.</a:t>
            </a:r>
          </a:p>
          <a:p>
            <a:pPr>
              <a:spcAft>
                <a:spcPts val="600"/>
              </a:spcAft>
              <a:defRPr sz="1100">
                <a:solidFill>
                  <a:srgbClr val="475569"/>
                </a:solidFill>
                <a:latin typeface="Calibri"/>
              </a:defRPr>
            </a:pPr>
            <a:r>
              <a:rPr b="1">
                <a:solidFill>
                  <a:srgbClr val="0F172A"/>
                </a:solidFill>
              </a:rPr>
              <a:t>• Tier Level:</a:t>
            </a:r>
            <a:r>
              <a:rPr b="0">
                <a:solidFill>
                  <a:srgbClr val="475569"/>
                </a:solidFill>
              </a:rPr>
              <a:t> Tier III.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92240"/>
            <a:ext cx="12191695" cy="36576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510528"/>
            <a:ext cx="11094415" cy="320040"/>
          </a:xfrm>
          <a:prstGeom prst="rect">
            <a:avLst/>
          </a:prstGeom>
          <a:noFill/>
        </p:spPr>
        <p:txBody>
          <a:bodyPr wrap="square">
            <a:spAutoFit/>
          </a:bodyPr>
          <a:lstStyle/>
          <a:p>
            <a:pPr>
              <a:defRPr sz="1000">
                <a:solidFill>
                  <a:srgbClr val="94A3B8"/>
                </a:solidFill>
                <a:latin typeface="Calibri"/>
              </a:defRPr>
            </a:pPr>
            <a:r>
              <a:t>M.Tech CSE · Data Centre Systems Engineering | Unit 2: Electrical Infrastructure Engineering | Slide 9 of 22</a:t>
            </a:r>
          </a:p>
        </p:txBody>
      </p:sp>
      <p:sp>
        <p:nvSpPr>
          <p:cNvPr id="5" name="Rounded Rectangle 4"/>
          <p:cNvSpPr/>
          <p:nvPr/>
        </p:nvSpPr>
        <p:spPr>
          <a:xfrm>
            <a:off x="548640" y="164592"/>
            <a:ext cx="2011680" cy="256032"/>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950" b="1">
                <a:solidFill>
                  <a:srgbClr val="FFFFFF"/>
                </a:solidFill>
                <a:latin typeface="Calibri"/>
              </a:defRPr>
            </a:pPr>
            <a:r>
              <a:t>POWER DISTRIBUTION</a:t>
            </a:r>
          </a:p>
        </p:txBody>
      </p:sp>
      <p:sp>
        <p:nvSpPr>
          <p:cNvPr id="6" name="TextBox 5"/>
          <p:cNvSpPr txBox="1"/>
          <p:nvPr/>
        </p:nvSpPr>
        <p:spPr>
          <a:xfrm>
            <a:off x="548640" y="438912"/>
            <a:ext cx="9601200" cy="502920"/>
          </a:xfrm>
          <a:prstGeom prst="rect">
            <a:avLst/>
          </a:prstGeom>
          <a:noFill/>
        </p:spPr>
        <p:txBody>
          <a:bodyPr wrap="square">
            <a:spAutoFit/>
          </a:bodyPr>
          <a:lstStyle/>
          <a:p>
            <a:pPr>
              <a:defRPr sz="2000" b="1">
                <a:solidFill>
                  <a:srgbClr val="FFFFFF"/>
                </a:solidFill>
                <a:latin typeface="Calibri"/>
              </a:defRPr>
            </a:pPr>
            <a:r>
              <a:t>End-to-End Single Line Diagram (SLD): Substation to Server Chip</a:t>
            </a:r>
          </a:p>
          <a:p>
            <a:pPr>
              <a:defRPr sz="1100">
                <a:solidFill>
                  <a:srgbClr val="94A3B8"/>
                </a:solidFill>
                <a:latin typeface="Calibri"/>
              </a:defRPr>
            </a:pPr>
            <a:r>
              <a:t>Visual breakdown of the electrical distribution hierarchy in a mission-critical facility</a:t>
            </a:r>
          </a:p>
        </p:txBody>
      </p:sp>
      <p:sp>
        <p:nvSpPr>
          <p:cNvPr id="7" name="Rounded Rectangle 6"/>
          <p:cNvSpPr/>
          <p:nvPr/>
        </p:nvSpPr>
        <p:spPr>
          <a:xfrm>
            <a:off x="11064240" y="228600"/>
            <a:ext cx="640080" cy="292608"/>
          </a:xfrm>
          <a:prstGeom prst="roundRect">
            <a:avLst/>
          </a:prstGeom>
          <a:solidFill>
            <a:srgbClr val="1E293B"/>
          </a:solidFill>
          <a:ln w="12700">
            <a:solidFill>
              <a:srgbClr val="47556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09</a:t>
            </a:r>
          </a:p>
        </p:txBody>
      </p:sp>
      <p:sp>
        <p:nvSpPr>
          <p:cNvPr id="8" name="Rounded Rectangle 7"/>
          <p:cNvSpPr/>
          <p:nvPr/>
        </p:nvSpPr>
        <p:spPr>
          <a:xfrm>
            <a:off x="548640" y="1280160"/>
            <a:ext cx="11094415" cy="4846320"/>
          </a:xfrm>
          <a:prstGeom prst="roundRect">
            <a:avLst/>
          </a:prstGeom>
          <a:solidFill>
            <a:srgbClr val="F8FAFC"/>
          </a:solidFill>
          <a:ln w="254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463040"/>
            <a:ext cx="10637215" cy="411480"/>
          </a:xfrm>
          <a:prstGeom prst="rect">
            <a:avLst/>
          </a:prstGeom>
          <a:noFill/>
        </p:spPr>
        <p:txBody>
          <a:bodyPr wrap="square">
            <a:spAutoFit/>
          </a:bodyPr>
          <a:lstStyle/>
          <a:p>
            <a:pPr>
              <a:defRPr sz="1400" b="1">
                <a:solidFill>
                  <a:srgbClr val="0F172A"/>
                </a:solidFill>
                <a:latin typeface="Calibri"/>
              </a:defRPr>
            </a:pPr>
            <a:r>
              <a:t>Data Centre Power Flow Hierarchy &amp; Component Mapping</a:t>
            </a:r>
          </a:p>
        </p:txBody>
      </p:sp>
      <p:sp>
        <p:nvSpPr>
          <p:cNvPr id="10" name="Rounded Rectangle 9"/>
          <p:cNvSpPr/>
          <p:nvPr/>
        </p:nvSpPr>
        <p:spPr>
          <a:xfrm>
            <a:off x="10271455" y="1463040"/>
            <a:ext cx="1188720" cy="22860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FFFFFF"/>
                </a:solidFill>
              </a:defRPr>
            </a:pPr>
            <a:r>
              <a:t>END-TO-END FLOW</a:t>
            </a:r>
          </a:p>
        </p:txBody>
      </p:sp>
      <p:sp>
        <p:nvSpPr>
          <p:cNvPr id="11" name="TextBox 10"/>
          <p:cNvSpPr txBox="1"/>
          <p:nvPr/>
        </p:nvSpPr>
        <p:spPr>
          <a:xfrm>
            <a:off x="777240" y="1920240"/>
            <a:ext cx="10637215" cy="4069080"/>
          </a:xfrm>
          <a:prstGeom prst="rect">
            <a:avLst/>
          </a:prstGeom>
          <a:noFill/>
        </p:spPr>
        <p:txBody>
          <a:bodyPr wrap="square" tIns="0" lIns="0" rIns="0">
            <a:spAutoFit/>
          </a:bodyPr>
          <a:lstStyle/>
          <a:p>
            <a:pPr>
              <a:spcAft>
                <a:spcPts val="600"/>
              </a:spcAft>
              <a:defRPr sz="1100">
                <a:solidFill>
                  <a:srgbClr val="475569"/>
                </a:solidFill>
                <a:latin typeface="Calibri"/>
              </a:defRPr>
            </a:pPr>
            <a:r>
              <a:rPr b="1">
                <a:solidFill>
                  <a:srgbClr val="0F172A"/>
                </a:solidFill>
              </a:rPr>
              <a:t>• Level 1:</a:t>
            </a:r>
            <a:r>
              <a:rPr b="0">
                <a:solidFill>
                  <a:srgbClr val="475569"/>
                </a:solidFill>
              </a:rPr>
              <a:t> Utility Grid &amp; Generation -&gt; Dual 33kV/11kV Substations + N+1 Diesel Generators (DCC rated) with Auto-Synchronization Switchgear.</a:t>
            </a:r>
          </a:p>
          <a:p>
            <a:pPr>
              <a:spcAft>
                <a:spcPts val="600"/>
              </a:spcAft>
              <a:defRPr sz="1100">
                <a:solidFill>
                  <a:srgbClr val="475569"/>
                </a:solidFill>
                <a:latin typeface="Calibri"/>
              </a:defRPr>
            </a:pPr>
            <a:r>
              <a:rPr b="1">
                <a:solidFill>
                  <a:srgbClr val="0F172A"/>
                </a:solidFill>
              </a:rPr>
              <a:t>• Level 2:</a:t>
            </a:r>
            <a:r>
              <a:rPr b="0">
                <a:solidFill>
                  <a:srgbClr val="475569"/>
                </a:solidFill>
              </a:rPr>
              <a:t> Main MV/LV Switchboard &amp; ATS -&gt; Automatic Transfer Switch selects Utility or Generator; feeds main low voltage switchboards (415V, 3-phase).</a:t>
            </a:r>
          </a:p>
          <a:p>
            <a:pPr>
              <a:spcAft>
                <a:spcPts val="600"/>
              </a:spcAft>
              <a:defRPr sz="1100">
                <a:solidFill>
                  <a:srgbClr val="475569"/>
                </a:solidFill>
                <a:latin typeface="Calibri"/>
              </a:defRPr>
            </a:pPr>
            <a:r>
              <a:rPr b="1">
                <a:solidFill>
                  <a:srgbClr val="0F172A"/>
                </a:solidFill>
              </a:rPr>
              <a:t>• Level 3:</a:t>
            </a:r>
            <a:r>
              <a:rPr b="0">
                <a:solidFill>
                  <a:srgbClr val="475569"/>
                </a:solidFill>
              </a:rPr>
              <a:t> Centralized UPS System -&gt; 2N Dual Independent UPS plants (System A &amp; System B) with dedicated battery banks (VRLA or Li-Ion).</a:t>
            </a:r>
          </a:p>
          <a:p>
            <a:pPr>
              <a:spcAft>
                <a:spcPts val="600"/>
              </a:spcAft>
              <a:defRPr sz="1100">
                <a:solidFill>
                  <a:srgbClr val="475569"/>
                </a:solidFill>
                <a:latin typeface="Calibri"/>
              </a:defRPr>
            </a:pPr>
            <a:r>
              <a:rPr b="1">
                <a:solidFill>
                  <a:srgbClr val="0F172A"/>
                </a:solidFill>
              </a:rPr>
              <a:t>• Level 4:</a:t>
            </a:r>
            <a:r>
              <a:rPr b="0">
                <a:solidFill>
                  <a:srgbClr val="475569"/>
                </a:solidFill>
              </a:rPr>
              <a:t> Power Distribution Units (PDUs) -&gt; Stepped down / conditioned power via K-20 isolation transformers; integrated Branch Circuit Monitoring (BCMS).</a:t>
            </a:r>
          </a:p>
          <a:p>
            <a:pPr>
              <a:spcAft>
                <a:spcPts val="600"/>
              </a:spcAft>
              <a:defRPr sz="1100">
                <a:solidFill>
                  <a:srgbClr val="475569"/>
                </a:solidFill>
                <a:latin typeface="Calibri"/>
              </a:defRPr>
            </a:pPr>
            <a:r>
              <a:rPr b="1">
                <a:solidFill>
                  <a:srgbClr val="0F172A"/>
                </a:solidFill>
              </a:rPr>
              <a:t>• Level 5:</a:t>
            </a:r>
            <a:r>
              <a:rPr b="0">
                <a:solidFill>
                  <a:srgbClr val="475569"/>
                </a:solidFill>
              </a:rPr>
              <a:t> Overhead Busway / RPP -&gt; Modular overhead busbars with hot-swappable tap-off boxes feeding individual server racks.</a:t>
            </a:r>
          </a:p>
          <a:p>
            <a:pPr>
              <a:spcAft>
                <a:spcPts val="600"/>
              </a:spcAft>
              <a:defRPr sz="1100">
                <a:solidFill>
                  <a:srgbClr val="475569"/>
                </a:solidFill>
                <a:latin typeface="Calibri"/>
              </a:defRPr>
            </a:pPr>
            <a:r>
              <a:rPr b="1">
                <a:solidFill>
                  <a:srgbClr val="0F172A"/>
                </a:solidFill>
              </a:rPr>
              <a:t>• Level 6:</a:t>
            </a:r>
            <a:r>
              <a:rPr b="0">
                <a:solidFill>
                  <a:srgbClr val="475569"/>
                </a:solidFill>
              </a:rPr>
              <a:t> Rack Power Distribution (ePDU) -&gt; Dual intelligent rack PDUs (ePDU A and ePDU B) per cabinet; feeds redundant server power supply units (PSUs).</a:t>
            </a:r>
          </a:p>
          <a:p>
            <a:pPr>
              <a:spcAft>
                <a:spcPts val="600"/>
              </a:spcAft>
              <a:defRPr sz="1100">
                <a:solidFill>
                  <a:srgbClr val="475569"/>
                </a:solidFill>
                <a:latin typeface="Calibri"/>
              </a:defRPr>
            </a:pPr>
            <a:r>
              <a:rPr b="1">
                <a:solidFill>
                  <a:srgbClr val="0F172A"/>
                </a:solidFill>
              </a:rPr>
              <a:t>• Level 7:</a:t>
            </a:r>
            <a:r>
              <a:rPr b="0">
                <a:solidFill>
                  <a:srgbClr val="475569"/>
                </a:solidFill>
              </a:rPr>
              <a:t> Server Dual PSUs -&gt; Server Power Supply 1 (A-Feed) and Power Supply 2 (B-Feed) convert 230V AC to 12V DC / 48V DC on server motherboard.</a:t>
            </a:r>
          </a:p>
          <a:p>
            <a:pPr>
              <a:spcAft>
                <a:spcPts val="600"/>
              </a:spcAft>
              <a:defRPr sz="1100">
                <a:solidFill>
                  <a:srgbClr val="475569"/>
                </a:solidFill>
                <a:latin typeface="Calibri"/>
              </a:defRPr>
            </a:pPr>
            <a:r>
              <a:rPr b="1">
                <a:solidFill>
                  <a:srgbClr val="0F172A"/>
                </a:solidFill>
              </a:rPr>
              <a:t>• Exam Tip:</a:t>
            </a:r>
            <a:r>
              <a:rPr b="0">
                <a:solidFill>
                  <a:srgbClr val="475569"/>
                </a:solidFill>
              </a:rPr>
              <a:t> In your exam SLD diagram, always draw BOTH paths (A &amp; B feeds) completely isolated with cross-tie breakers and STS indicated!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92240"/>
            <a:ext cx="12191695" cy="36576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510528"/>
            <a:ext cx="11094415" cy="320040"/>
          </a:xfrm>
          <a:prstGeom prst="rect">
            <a:avLst/>
          </a:prstGeom>
          <a:noFill/>
        </p:spPr>
        <p:txBody>
          <a:bodyPr wrap="square">
            <a:spAutoFit/>
          </a:bodyPr>
          <a:lstStyle/>
          <a:p>
            <a:pPr>
              <a:defRPr sz="1000">
                <a:solidFill>
                  <a:srgbClr val="94A3B8"/>
                </a:solidFill>
                <a:latin typeface="Calibri"/>
              </a:defRPr>
            </a:pPr>
            <a:r>
              <a:t>M.Tech CSE · Data Centre Systems Engineering | Unit 2: Electrical Infrastructure Engineering | Slide 10 of 22</a:t>
            </a:r>
          </a:p>
        </p:txBody>
      </p:sp>
      <p:sp>
        <p:nvSpPr>
          <p:cNvPr id="5" name="Rounded Rectangle 4"/>
          <p:cNvSpPr/>
          <p:nvPr/>
        </p:nvSpPr>
        <p:spPr>
          <a:xfrm>
            <a:off x="548640" y="164592"/>
            <a:ext cx="2011680" cy="256032"/>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950" b="1">
                <a:solidFill>
                  <a:srgbClr val="FFFFFF"/>
                </a:solidFill>
                <a:latin typeface="Calibri"/>
              </a:defRPr>
            </a:pPr>
            <a:r>
              <a:t>POWER DISTRIBUTION</a:t>
            </a:r>
          </a:p>
        </p:txBody>
      </p:sp>
      <p:sp>
        <p:nvSpPr>
          <p:cNvPr id="6" name="TextBox 5"/>
          <p:cNvSpPr txBox="1"/>
          <p:nvPr/>
        </p:nvSpPr>
        <p:spPr>
          <a:xfrm>
            <a:off x="548640" y="438912"/>
            <a:ext cx="9601200" cy="502920"/>
          </a:xfrm>
          <a:prstGeom prst="rect">
            <a:avLst/>
          </a:prstGeom>
          <a:noFill/>
        </p:spPr>
        <p:txBody>
          <a:bodyPr wrap="square">
            <a:spAutoFit/>
          </a:bodyPr>
          <a:lstStyle/>
          <a:p>
            <a:pPr>
              <a:defRPr sz="2000" b="1">
                <a:solidFill>
                  <a:srgbClr val="FFFFFF"/>
                </a:solidFill>
                <a:latin typeface="Calibri"/>
              </a:defRPr>
            </a:pPr>
            <a:r>
              <a:t>Floor Distribution: PDUs, RPPs vs. Overhead Busway Systems</a:t>
            </a:r>
          </a:p>
          <a:p>
            <a:pPr>
              <a:defRPr sz="1100">
                <a:solidFill>
                  <a:srgbClr val="94A3B8"/>
                </a:solidFill>
                <a:latin typeface="Calibri"/>
              </a:defRPr>
            </a:pPr>
            <a:r>
              <a:t>Transitioning from underfloor cable whips to modular, flexible overhead bus ducts</a:t>
            </a:r>
          </a:p>
        </p:txBody>
      </p:sp>
      <p:sp>
        <p:nvSpPr>
          <p:cNvPr id="7" name="Rounded Rectangle 6"/>
          <p:cNvSpPr/>
          <p:nvPr/>
        </p:nvSpPr>
        <p:spPr>
          <a:xfrm>
            <a:off x="11064240" y="228600"/>
            <a:ext cx="640080" cy="292608"/>
          </a:xfrm>
          <a:prstGeom prst="roundRect">
            <a:avLst/>
          </a:prstGeom>
          <a:solidFill>
            <a:srgbClr val="1E293B"/>
          </a:solidFill>
          <a:ln w="12700">
            <a:solidFill>
              <a:srgbClr val="47556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10</a:t>
            </a:r>
          </a:p>
        </p:txBody>
      </p:sp>
      <p:sp>
        <p:nvSpPr>
          <p:cNvPr id="8" name="Rounded Rectangle 7"/>
          <p:cNvSpPr/>
          <p:nvPr/>
        </p:nvSpPr>
        <p:spPr>
          <a:xfrm>
            <a:off x="548640" y="1280160"/>
            <a:ext cx="5349240" cy="484632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463040"/>
            <a:ext cx="4892040" cy="411480"/>
          </a:xfrm>
          <a:prstGeom prst="rect">
            <a:avLst/>
          </a:prstGeom>
          <a:noFill/>
        </p:spPr>
        <p:txBody>
          <a:bodyPr wrap="square">
            <a:spAutoFit/>
          </a:bodyPr>
          <a:lstStyle/>
          <a:p>
            <a:pPr>
              <a:defRPr sz="1400" b="1">
                <a:solidFill>
                  <a:srgbClr val="0F172A"/>
                </a:solidFill>
                <a:latin typeface="Calibri"/>
              </a:defRPr>
            </a:pPr>
            <a:r>
              <a:t>Power Distribution Units (PDUs) &amp; RPPs</a:t>
            </a:r>
          </a:p>
        </p:txBody>
      </p:sp>
      <p:sp>
        <p:nvSpPr>
          <p:cNvPr id="10" name="Rounded Rectangle 9"/>
          <p:cNvSpPr/>
          <p:nvPr/>
        </p:nvSpPr>
        <p:spPr>
          <a:xfrm>
            <a:off x="4526280" y="1463040"/>
            <a:ext cx="1188720" cy="228600"/>
          </a:xfrm>
          <a:prstGeom prst="round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FFFFFF"/>
                </a:solidFill>
              </a:defRPr>
            </a:pPr>
            <a:r>
              <a:t>TRANSFORMER PDU</a:t>
            </a:r>
          </a:p>
        </p:txBody>
      </p:sp>
      <p:sp>
        <p:nvSpPr>
          <p:cNvPr id="11" name="TextBox 10"/>
          <p:cNvSpPr txBox="1"/>
          <p:nvPr/>
        </p:nvSpPr>
        <p:spPr>
          <a:xfrm>
            <a:off x="777240" y="1920240"/>
            <a:ext cx="4892040" cy="4069080"/>
          </a:xfrm>
          <a:prstGeom prst="rect">
            <a:avLst/>
          </a:prstGeom>
          <a:noFill/>
        </p:spPr>
        <p:txBody>
          <a:bodyPr wrap="square" tIns="0" lIns="0" rIns="0">
            <a:spAutoFit/>
          </a:bodyPr>
          <a:lstStyle/>
          <a:p>
            <a:pPr>
              <a:spcAft>
                <a:spcPts val="600"/>
              </a:spcAft>
              <a:defRPr sz="1100">
                <a:solidFill>
                  <a:srgbClr val="475569"/>
                </a:solidFill>
                <a:latin typeface="Calibri"/>
              </a:defRPr>
            </a:pPr>
            <a:r>
              <a:rPr b="1">
                <a:solidFill>
                  <a:srgbClr val="0F172A"/>
                </a:solidFill>
              </a:rPr>
              <a:t>• PDU Function:</a:t>
            </a:r>
            <a:r>
              <a:rPr b="0">
                <a:solidFill>
                  <a:srgbClr val="475569"/>
                </a:solidFill>
              </a:rPr>
              <a:t> Acts as the primary power gatekeeper for server rows. Includes main circuit breaker, isolation transformer, and sub-feed panels.</a:t>
            </a:r>
          </a:p>
          <a:p>
            <a:pPr>
              <a:spcAft>
                <a:spcPts val="600"/>
              </a:spcAft>
              <a:defRPr sz="1100">
                <a:solidFill>
                  <a:srgbClr val="475569"/>
                </a:solidFill>
                <a:latin typeface="Calibri"/>
              </a:defRPr>
            </a:pPr>
            <a:r>
              <a:rPr b="1">
                <a:solidFill>
                  <a:srgbClr val="0F172A"/>
                </a:solidFill>
              </a:rPr>
              <a:t>• Isolation Transformer:</a:t>
            </a:r>
            <a:r>
              <a:rPr b="0">
                <a:solidFill>
                  <a:srgbClr val="475569"/>
                </a:solidFill>
              </a:rPr>
              <a:t> Delta-Wye (Dyn11) transformer steps down voltage, creates clean local neutral ground bond, and blocks common-mode noise.</a:t>
            </a:r>
          </a:p>
          <a:p>
            <a:pPr>
              <a:spcAft>
                <a:spcPts val="600"/>
              </a:spcAft>
              <a:defRPr sz="1100">
                <a:solidFill>
                  <a:srgbClr val="475569"/>
                </a:solidFill>
                <a:latin typeface="Calibri"/>
              </a:defRPr>
            </a:pPr>
            <a:r>
              <a:rPr b="1">
                <a:solidFill>
                  <a:srgbClr val="0F172A"/>
                </a:solidFill>
              </a:rPr>
              <a:t>• Remote Power Panels (RPP):</a:t>
            </a:r>
            <a:r>
              <a:rPr b="0">
                <a:solidFill>
                  <a:srgbClr val="475569"/>
                </a:solidFill>
              </a:rPr>
              <a:t> Secondary panel boards dedicated solely to circuit breakers without an isolation transformer.</a:t>
            </a:r>
          </a:p>
          <a:p>
            <a:pPr>
              <a:spcAft>
                <a:spcPts val="600"/>
              </a:spcAft>
              <a:defRPr sz="1100">
                <a:solidFill>
                  <a:srgbClr val="475569"/>
                </a:solidFill>
                <a:latin typeface="Calibri"/>
              </a:defRPr>
            </a:pPr>
            <a:r>
              <a:rPr b="1">
                <a:solidFill>
                  <a:srgbClr val="0F172A"/>
                </a:solidFill>
              </a:rPr>
              <a:t>• Branch Circuit Monitoring System (BCMS):</a:t>
            </a:r>
            <a:r>
              <a:rPr b="0">
                <a:solidFill>
                  <a:srgbClr val="475569"/>
                </a:solidFill>
              </a:rPr>
              <a:t> Meters voltage, current, active power (kW), energy (kWh), and power factor per individual circuit breaker.</a:t>
            </a:r>
          </a:p>
          <a:p>
            <a:pPr>
              <a:spcAft>
                <a:spcPts val="600"/>
              </a:spcAft>
              <a:defRPr sz="1100">
                <a:solidFill>
                  <a:srgbClr val="475569"/>
                </a:solidFill>
                <a:latin typeface="Calibri"/>
              </a:defRPr>
            </a:pPr>
            <a:r>
              <a:rPr b="1">
                <a:solidFill>
                  <a:srgbClr val="0F172A"/>
                </a:solidFill>
              </a:rPr>
              <a:t>• Traditional Underfloor Cabling:</a:t>
            </a:r>
            <a:r>
              <a:rPr b="0">
                <a:solidFill>
                  <a:srgbClr val="475569"/>
                </a:solidFill>
              </a:rPr>
              <a:t> Flexible conduit whips routed beneath raised floor. Major drawback: cable nests obstruct cold air airflow from CRAC units.</a:t>
            </a:r>
          </a:p>
        </p:txBody>
      </p:sp>
      <p:sp>
        <p:nvSpPr>
          <p:cNvPr id="12" name="Rounded Rectangle 11"/>
          <p:cNvSpPr/>
          <p:nvPr/>
        </p:nvSpPr>
        <p:spPr>
          <a:xfrm>
            <a:off x="6217920" y="1280160"/>
            <a:ext cx="5349240" cy="4846320"/>
          </a:xfrm>
          <a:prstGeom prst="roundRect">
            <a:avLst/>
          </a:prstGeom>
          <a:solidFill>
            <a:srgbClr val="F8FAFC"/>
          </a:solidFill>
          <a:ln w="254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46520" y="1463040"/>
            <a:ext cx="4892040" cy="411480"/>
          </a:xfrm>
          <a:prstGeom prst="rect">
            <a:avLst/>
          </a:prstGeom>
          <a:noFill/>
        </p:spPr>
        <p:txBody>
          <a:bodyPr wrap="square">
            <a:spAutoFit/>
          </a:bodyPr>
          <a:lstStyle/>
          <a:p>
            <a:pPr>
              <a:defRPr sz="1400" b="1">
                <a:solidFill>
                  <a:srgbClr val="0F172A"/>
                </a:solidFill>
                <a:latin typeface="Calibri"/>
              </a:defRPr>
            </a:pPr>
            <a:r>
              <a:t>Overhead Track Busway Systems (Modern)</a:t>
            </a:r>
          </a:p>
        </p:txBody>
      </p:sp>
      <p:sp>
        <p:nvSpPr>
          <p:cNvPr id="14" name="Rounded Rectangle 13"/>
          <p:cNvSpPr/>
          <p:nvPr/>
        </p:nvSpPr>
        <p:spPr>
          <a:xfrm>
            <a:off x="10195560" y="1463040"/>
            <a:ext cx="1188720" cy="228600"/>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FFFFFF"/>
                </a:solidFill>
              </a:defRPr>
            </a:pPr>
            <a:r>
              <a:t>MODERN BUSWAY</a:t>
            </a:r>
          </a:p>
        </p:txBody>
      </p:sp>
      <p:sp>
        <p:nvSpPr>
          <p:cNvPr id="15" name="TextBox 14"/>
          <p:cNvSpPr txBox="1"/>
          <p:nvPr/>
        </p:nvSpPr>
        <p:spPr>
          <a:xfrm>
            <a:off x="6446520" y="1920240"/>
            <a:ext cx="4892040" cy="4069080"/>
          </a:xfrm>
          <a:prstGeom prst="rect">
            <a:avLst/>
          </a:prstGeom>
          <a:noFill/>
        </p:spPr>
        <p:txBody>
          <a:bodyPr wrap="square" tIns="0" lIns="0" rIns="0">
            <a:spAutoFit/>
          </a:bodyPr>
          <a:lstStyle/>
          <a:p>
            <a:pPr>
              <a:spcAft>
                <a:spcPts val="600"/>
              </a:spcAft>
              <a:defRPr sz="1100">
                <a:solidFill>
                  <a:srgbClr val="475569"/>
                </a:solidFill>
                <a:latin typeface="Calibri"/>
              </a:defRPr>
            </a:pPr>
            <a:r>
              <a:rPr b="1">
                <a:solidFill>
                  <a:srgbClr val="0F172A"/>
                </a:solidFill>
              </a:rPr>
              <a:t>• Concept:</a:t>
            </a:r>
            <a:r>
              <a:rPr b="0">
                <a:solidFill>
                  <a:srgbClr val="475569"/>
                </a:solidFill>
              </a:rPr>
              <a:t> Continuous modular aluminum/copper busbar track suspended above server rack rows (eliminates underfloor whips entirely).</a:t>
            </a:r>
          </a:p>
          <a:p>
            <a:pPr>
              <a:spcAft>
                <a:spcPts val="600"/>
              </a:spcAft>
              <a:defRPr sz="1100">
                <a:solidFill>
                  <a:srgbClr val="475569"/>
                </a:solidFill>
                <a:latin typeface="Calibri"/>
              </a:defRPr>
            </a:pPr>
            <a:r>
              <a:rPr b="1">
                <a:solidFill>
                  <a:srgbClr val="0F172A"/>
                </a:solidFill>
              </a:rPr>
              <a:t>• Hot-Swappable Tap-Off Boxes:</a:t>
            </a:r>
            <a:r>
              <a:rPr b="0">
                <a:solidFill>
                  <a:srgbClr val="475569"/>
                </a:solidFill>
              </a:rPr>
              <a:t> Plugs into the overhead track while live without cutting power to adjacent racks; customizable with breaker sizes (16A, 32A, 63A).</a:t>
            </a:r>
          </a:p>
          <a:p>
            <a:pPr>
              <a:spcAft>
                <a:spcPts val="600"/>
              </a:spcAft>
              <a:defRPr sz="1100">
                <a:solidFill>
                  <a:srgbClr val="475569"/>
                </a:solidFill>
                <a:latin typeface="Calibri"/>
              </a:defRPr>
            </a:pPr>
            <a:r>
              <a:rPr b="1">
                <a:solidFill>
                  <a:srgbClr val="0F172A"/>
                </a:solidFill>
              </a:rPr>
              <a:t>• Footprint Savings:</a:t>
            </a:r>
            <a:r>
              <a:rPr b="0">
                <a:solidFill>
                  <a:srgbClr val="475569"/>
                </a:solidFill>
              </a:rPr>
              <a:t> Frees up 100% of white space floor footprint previously occupied by bulky floor-standing RPPs.</a:t>
            </a:r>
          </a:p>
          <a:p>
            <a:pPr>
              <a:spcAft>
                <a:spcPts val="600"/>
              </a:spcAft>
              <a:defRPr sz="1100">
                <a:solidFill>
                  <a:srgbClr val="475569"/>
                </a:solidFill>
                <a:latin typeface="Calibri"/>
              </a:defRPr>
            </a:pPr>
            <a:r>
              <a:rPr b="1">
                <a:solidFill>
                  <a:srgbClr val="0F172A"/>
                </a:solidFill>
              </a:rPr>
              <a:t>• Airflow Optimization:</a:t>
            </a:r>
            <a:r>
              <a:rPr b="0">
                <a:solidFill>
                  <a:srgbClr val="475569"/>
                </a:solidFill>
              </a:rPr>
              <a:t> Clear underfloor plenum allows laminar cold air distribution; directly improves cooling efficiency and lowers PUE.</a:t>
            </a:r>
          </a:p>
          <a:p>
            <a:pPr>
              <a:spcAft>
                <a:spcPts val="600"/>
              </a:spcAft>
              <a:defRPr sz="1100">
                <a:solidFill>
                  <a:srgbClr val="475569"/>
                </a:solidFill>
                <a:latin typeface="Calibri"/>
              </a:defRPr>
            </a:pPr>
            <a:r>
              <a:rPr b="1">
                <a:solidFill>
                  <a:srgbClr val="0F172A"/>
                </a:solidFill>
              </a:rPr>
              <a:t>• Flexibility &amp; Scalability:</a:t>
            </a:r>
            <a:r>
              <a:rPr b="0">
                <a:solidFill>
                  <a:srgbClr val="475569"/>
                </a:solidFill>
              </a:rPr>
              <a:t> Rapid deployment for tenant moves, adds, and changes (MAC) in cloud colocation facilities.</a:t>
            </a:r>
          </a:p>
          <a:p>
            <a:pPr>
              <a:spcAft>
                <a:spcPts val="600"/>
              </a:spcAft>
              <a:defRPr sz="1100">
                <a:solidFill>
                  <a:srgbClr val="475569"/>
                </a:solidFill>
                <a:latin typeface="Calibri"/>
              </a:defRPr>
            </a:pPr>
            <a:r>
              <a:rPr b="1">
                <a:solidFill>
                  <a:srgbClr val="0F172A"/>
                </a:solidFill>
              </a:rPr>
              <a:t>• Exam Tip:</a:t>
            </a:r>
            <a:r>
              <a:rPr b="0">
                <a:solidFill>
                  <a:srgbClr val="475569"/>
                </a:solidFill>
              </a:rPr>
              <a:t> Always cite Overhead Busway as the modern replacement for RPPs due to airflow, modularity, and zero stranded floor space.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92240"/>
            <a:ext cx="12191695" cy="36576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510528"/>
            <a:ext cx="11094415" cy="320040"/>
          </a:xfrm>
          <a:prstGeom prst="rect">
            <a:avLst/>
          </a:prstGeom>
          <a:noFill/>
        </p:spPr>
        <p:txBody>
          <a:bodyPr wrap="square">
            <a:spAutoFit/>
          </a:bodyPr>
          <a:lstStyle/>
          <a:p>
            <a:pPr>
              <a:defRPr sz="1000">
                <a:solidFill>
                  <a:srgbClr val="94A3B8"/>
                </a:solidFill>
                <a:latin typeface="Calibri"/>
              </a:defRPr>
            </a:pPr>
            <a:r>
              <a:t>M.Tech CSE · Data Centre Systems Engineering | Unit 2: Electrical Infrastructure Engineering | Slide 11 of 22</a:t>
            </a:r>
          </a:p>
        </p:txBody>
      </p:sp>
      <p:sp>
        <p:nvSpPr>
          <p:cNvPr id="5" name="Rounded Rectangle 4"/>
          <p:cNvSpPr/>
          <p:nvPr/>
        </p:nvSpPr>
        <p:spPr>
          <a:xfrm>
            <a:off x="548640" y="164592"/>
            <a:ext cx="2011680" cy="256032"/>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950" b="1">
                <a:solidFill>
                  <a:srgbClr val="FFFFFF"/>
                </a:solidFill>
                <a:latin typeface="Calibri"/>
              </a:defRPr>
            </a:pPr>
            <a:r>
              <a:t>RACK POWER</a:t>
            </a:r>
          </a:p>
        </p:txBody>
      </p:sp>
      <p:sp>
        <p:nvSpPr>
          <p:cNvPr id="6" name="TextBox 5"/>
          <p:cNvSpPr txBox="1"/>
          <p:nvPr/>
        </p:nvSpPr>
        <p:spPr>
          <a:xfrm>
            <a:off x="548640" y="438912"/>
            <a:ext cx="9601200" cy="502920"/>
          </a:xfrm>
          <a:prstGeom prst="rect">
            <a:avLst/>
          </a:prstGeom>
          <a:noFill/>
        </p:spPr>
        <p:txBody>
          <a:bodyPr wrap="square">
            <a:spAutoFit/>
          </a:bodyPr>
          <a:lstStyle/>
          <a:p>
            <a:pPr>
              <a:defRPr sz="2000" b="1">
                <a:solidFill>
                  <a:srgbClr val="FFFFFF"/>
                </a:solidFill>
                <a:latin typeface="Calibri"/>
              </a:defRPr>
            </a:pPr>
            <a:r>
              <a:t>In-Rack Power Distribution: Intelligent ePDUs &amp; Dual-Corded Servers</a:t>
            </a:r>
          </a:p>
          <a:p>
            <a:pPr>
              <a:defRPr sz="1100">
                <a:solidFill>
                  <a:srgbClr val="94A3B8"/>
                </a:solidFill>
                <a:latin typeface="Calibri"/>
              </a:defRPr>
            </a:pPr>
            <a:r>
              <a:t>Ensuring 2N server-level availability and granular energy metering</a:t>
            </a:r>
          </a:p>
        </p:txBody>
      </p:sp>
      <p:sp>
        <p:nvSpPr>
          <p:cNvPr id="7" name="Rounded Rectangle 6"/>
          <p:cNvSpPr/>
          <p:nvPr/>
        </p:nvSpPr>
        <p:spPr>
          <a:xfrm>
            <a:off x="11064240" y="228600"/>
            <a:ext cx="640080" cy="292608"/>
          </a:xfrm>
          <a:prstGeom prst="roundRect">
            <a:avLst/>
          </a:prstGeom>
          <a:solidFill>
            <a:srgbClr val="1E293B"/>
          </a:solidFill>
          <a:ln w="12700">
            <a:solidFill>
              <a:srgbClr val="47556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11</a:t>
            </a:r>
          </a:p>
        </p:txBody>
      </p:sp>
      <p:sp>
        <p:nvSpPr>
          <p:cNvPr id="8" name="Rounded Rectangle 7"/>
          <p:cNvSpPr/>
          <p:nvPr/>
        </p:nvSpPr>
        <p:spPr>
          <a:xfrm>
            <a:off x="548640" y="1280160"/>
            <a:ext cx="3520440" cy="484632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463040"/>
            <a:ext cx="3063240" cy="411480"/>
          </a:xfrm>
          <a:prstGeom prst="rect">
            <a:avLst/>
          </a:prstGeom>
          <a:noFill/>
        </p:spPr>
        <p:txBody>
          <a:bodyPr wrap="square">
            <a:spAutoFit/>
          </a:bodyPr>
          <a:lstStyle/>
          <a:p>
            <a:pPr>
              <a:defRPr sz="1400" b="1">
                <a:solidFill>
                  <a:srgbClr val="0F172A"/>
                </a:solidFill>
                <a:latin typeface="Calibri"/>
              </a:defRPr>
            </a:pPr>
            <a:r>
              <a:t>Rack PDU Categories</a:t>
            </a:r>
          </a:p>
        </p:txBody>
      </p:sp>
      <p:sp>
        <p:nvSpPr>
          <p:cNvPr id="10" name="Rounded Rectangle 9"/>
          <p:cNvSpPr/>
          <p:nvPr/>
        </p:nvSpPr>
        <p:spPr>
          <a:xfrm>
            <a:off x="2697480" y="1463040"/>
            <a:ext cx="1188720" cy="22860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FFFFFF"/>
                </a:solidFill>
              </a:defRPr>
            </a:pPr>
            <a:r>
              <a:t>RACK PDU TYPES</a:t>
            </a:r>
          </a:p>
        </p:txBody>
      </p:sp>
      <p:sp>
        <p:nvSpPr>
          <p:cNvPr id="11" name="TextBox 10"/>
          <p:cNvSpPr txBox="1"/>
          <p:nvPr/>
        </p:nvSpPr>
        <p:spPr>
          <a:xfrm>
            <a:off x="777240" y="1920240"/>
            <a:ext cx="3063240" cy="4069080"/>
          </a:xfrm>
          <a:prstGeom prst="rect">
            <a:avLst/>
          </a:prstGeom>
          <a:noFill/>
        </p:spPr>
        <p:txBody>
          <a:bodyPr wrap="square" tIns="0" lIns="0" rIns="0">
            <a:spAutoFit/>
          </a:bodyPr>
          <a:lstStyle/>
          <a:p>
            <a:pPr>
              <a:spcAft>
                <a:spcPts val="600"/>
              </a:spcAft>
              <a:defRPr sz="1100">
                <a:solidFill>
                  <a:srgbClr val="475569"/>
                </a:solidFill>
                <a:latin typeface="Calibri"/>
              </a:defRPr>
            </a:pPr>
            <a:r>
              <a:rPr b="1">
                <a:solidFill>
                  <a:srgbClr val="0F172A"/>
                </a:solidFill>
              </a:rPr>
              <a:t>• Basic PDU:</a:t>
            </a:r>
            <a:r>
              <a:rPr b="0">
                <a:solidFill>
                  <a:srgbClr val="475569"/>
                </a:solidFill>
              </a:rPr>
              <a:t> Simple power strip distributing reliable power; zero metering or network intelligence.</a:t>
            </a:r>
          </a:p>
          <a:p>
            <a:pPr>
              <a:spcAft>
                <a:spcPts val="600"/>
              </a:spcAft>
              <a:defRPr sz="1100">
                <a:solidFill>
                  <a:srgbClr val="475569"/>
                </a:solidFill>
                <a:latin typeface="Calibri"/>
              </a:defRPr>
            </a:pPr>
            <a:r>
              <a:rPr b="1">
                <a:solidFill>
                  <a:srgbClr val="0F172A"/>
                </a:solidFill>
              </a:rPr>
              <a:t>• Metered PDU:</a:t>
            </a:r>
            <a:r>
              <a:rPr b="0">
                <a:solidFill>
                  <a:srgbClr val="475569"/>
                </a:solidFill>
              </a:rPr>
              <a:t> Digital display showing total aggregate current (Amps); prevents breaker tripping overloads.</a:t>
            </a:r>
          </a:p>
          <a:p>
            <a:pPr>
              <a:spcAft>
                <a:spcPts val="600"/>
              </a:spcAft>
              <a:defRPr sz="1100">
                <a:solidFill>
                  <a:srgbClr val="475569"/>
                </a:solidFill>
                <a:latin typeface="Calibri"/>
              </a:defRPr>
            </a:pPr>
            <a:r>
              <a:rPr b="1">
                <a:solidFill>
                  <a:srgbClr val="0F172A"/>
                </a:solidFill>
              </a:rPr>
              <a:t>• Monitored PDU:</a:t>
            </a:r>
            <a:r>
              <a:rPr b="0">
                <a:solidFill>
                  <a:srgbClr val="475569"/>
                </a:solidFill>
              </a:rPr>
              <a:t> Network-enabled (SNMP/HTTP); measures input phase voltage, current, kWh, and power factor remotely.</a:t>
            </a:r>
          </a:p>
          <a:p>
            <a:pPr>
              <a:spcAft>
                <a:spcPts val="600"/>
              </a:spcAft>
              <a:defRPr sz="1100">
                <a:solidFill>
                  <a:srgbClr val="475569"/>
                </a:solidFill>
                <a:latin typeface="Calibri"/>
              </a:defRPr>
            </a:pPr>
            <a:r>
              <a:rPr b="1">
                <a:solidFill>
                  <a:srgbClr val="0F172A"/>
                </a:solidFill>
              </a:rPr>
              <a:t>• Switched PDU:</a:t>
            </a:r>
            <a:r>
              <a:rPr b="0">
                <a:solidFill>
                  <a:srgbClr val="475569"/>
                </a:solidFill>
              </a:rPr>
              <a:t> Individual outlet-level metering plus remote power switching (reboot frozen servers remotely without physical site visit).</a:t>
            </a:r>
          </a:p>
          <a:p>
            <a:pPr>
              <a:spcAft>
                <a:spcPts val="600"/>
              </a:spcAft>
              <a:defRPr sz="1100">
                <a:solidFill>
                  <a:srgbClr val="475569"/>
                </a:solidFill>
                <a:latin typeface="Calibri"/>
              </a:defRPr>
            </a:pPr>
            <a:r>
              <a:rPr b="1">
                <a:solidFill>
                  <a:srgbClr val="0F172A"/>
                </a:solidFill>
              </a:rPr>
              <a:t>• High-Density 3-Phase:</a:t>
            </a:r>
            <a:r>
              <a:rPr b="0">
                <a:solidFill>
                  <a:srgbClr val="475569"/>
                </a:solidFill>
              </a:rPr>
              <a:t> 415V 32A/63A 3-phase rack PDUs delivering 22 kW to 43 kW per rack for AI/GPU clusters.</a:t>
            </a:r>
          </a:p>
        </p:txBody>
      </p:sp>
      <p:sp>
        <p:nvSpPr>
          <p:cNvPr id="12" name="Rounded Rectangle 11"/>
          <p:cNvSpPr/>
          <p:nvPr/>
        </p:nvSpPr>
        <p:spPr>
          <a:xfrm>
            <a:off x="4297680" y="1280160"/>
            <a:ext cx="3520440" cy="4846320"/>
          </a:xfrm>
          <a:prstGeom prst="roundRect">
            <a:avLst/>
          </a:prstGeom>
          <a:solidFill>
            <a:srgbClr val="F8FAFC"/>
          </a:solidFill>
          <a:ln w="254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26280" y="1463040"/>
            <a:ext cx="3063240" cy="411480"/>
          </a:xfrm>
          <a:prstGeom prst="rect">
            <a:avLst/>
          </a:prstGeom>
          <a:noFill/>
        </p:spPr>
        <p:txBody>
          <a:bodyPr wrap="square">
            <a:spAutoFit/>
          </a:bodyPr>
          <a:lstStyle/>
          <a:p>
            <a:pPr>
              <a:defRPr sz="1400" b="1">
                <a:solidFill>
                  <a:srgbClr val="0F172A"/>
                </a:solidFill>
                <a:latin typeface="Calibri"/>
              </a:defRPr>
            </a:pPr>
            <a:r>
              <a:t>Dual-Corded Server Architecture</a:t>
            </a:r>
          </a:p>
        </p:txBody>
      </p:sp>
      <p:sp>
        <p:nvSpPr>
          <p:cNvPr id="14" name="Rounded Rectangle 13"/>
          <p:cNvSpPr/>
          <p:nvPr/>
        </p:nvSpPr>
        <p:spPr>
          <a:xfrm>
            <a:off x="6446520" y="1463040"/>
            <a:ext cx="1188720" cy="228600"/>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FFFFFF"/>
                </a:solidFill>
              </a:defRPr>
            </a:pPr>
            <a:r>
              <a:t>DUAL CORDING</a:t>
            </a:r>
          </a:p>
        </p:txBody>
      </p:sp>
      <p:sp>
        <p:nvSpPr>
          <p:cNvPr id="15" name="TextBox 14"/>
          <p:cNvSpPr txBox="1"/>
          <p:nvPr/>
        </p:nvSpPr>
        <p:spPr>
          <a:xfrm>
            <a:off x="4526280" y="1920240"/>
            <a:ext cx="3063240" cy="4069080"/>
          </a:xfrm>
          <a:prstGeom prst="rect">
            <a:avLst/>
          </a:prstGeom>
          <a:noFill/>
        </p:spPr>
        <p:txBody>
          <a:bodyPr wrap="square" tIns="0" lIns="0" rIns="0">
            <a:spAutoFit/>
          </a:bodyPr>
          <a:lstStyle/>
          <a:p>
            <a:pPr>
              <a:spcAft>
                <a:spcPts val="600"/>
              </a:spcAft>
              <a:defRPr sz="1100">
                <a:solidFill>
                  <a:srgbClr val="475569"/>
                </a:solidFill>
                <a:latin typeface="Calibri"/>
              </a:defRPr>
            </a:pPr>
            <a:r>
              <a:rPr b="1">
                <a:solidFill>
                  <a:srgbClr val="0F172A"/>
                </a:solidFill>
              </a:rPr>
              <a:t>• Dual Power Supplies (PSU):</a:t>
            </a:r>
            <a:r>
              <a:rPr b="0">
                <a:solidFill>
                  <a:srgbClr val="475569"/>
                </a:solidFill>
              </a:rPr>
              <a:t> Enterprise servers incorporate two independent power supplies (PSU 1 and PSU 2).</a:t>
            </a:r>
          </a:p>
          <a:p>
            <a:pPr>
              <a:spcAft>
                <a:spcPts val="600"/>
              </a:spcAft>
              <a:defRPr sz="1100">
                <a:solidFill>
                  <a:srgbClr val="475569"/>
                </a:solidFill>
                <a:latin typeface="Calibri"/>
              </a:defRPr>
            </a:pPr>
            <a:r>
              <a:rPr b="1">
                <a:solidFill>
                  <a:srgbClr val="0F172A"/>
                </a:solidFill>
              </a:rPr>
              <a:t>• Redundant Connection:</a:t>
            </a:r>
            <a:r>
              <a:rPr b="0">
                <a:solidFill>
                  <a:srgbClr val="475569"/>
                </a:solidFill>
              </a:rPr>
              <a:t> PSU 1 connects to Rack PDU A (from UPS Path A); PSU 2 connects to Rack PDU B (from UPS Path B).</a:t>
            </a:r>
          </a:p>
          <a:p>
            <a:pPr>
              <a:spcAft>
                <a:spcPts val="600"/>
              </a:spcAft>
              <a:defRPr sz="1100">
                <a:solidFill>
                  <a:srgbClr val="475569"/>
                </a:solidFill>
                <a:latin typeface="Calibri"/>
              </a:defRPr>
            </a:pPr>
            <a:r>
              <a:rPr b="1">
                <a:solidFill>
                  <a:srgbClr val="0F172A"/>
                </a:solidFill>
              </a:rPr>
              <a:t>• Load Sharing:</a:t>
            </a:r>
            <a:r>
              <a:rPr b="0">
                <a:solidFill>
                  <a:srgbClr val="475569"/>
                </a:solidFill>
              </a:rPr>
              <a:t> PSUs operate in active/active load-sharing mode (each carries 50% load under normal conditions).</a:t>
            </a:r>
          </a:p>
          <a:p>
            <a:pPr>
              <a:spcAft>
                <a:spcPts val="600"/>
              </a:spcAft>
              <a:defRPr sz="1100">
                <a:solidFill>
                  <a:srgbClr val="475569"/>
                </a:solidFill>
                <a:latin typeface="Calibri"/>
              </a:defRPr>
            </a:pPr>
            <a:r>
              <a:rPr b="1">
                <a:solidFill>
                  <a:srgbClr val="0F172A"/>
                </a:solidFill>
              </a:rPr>
              <a:t>• Instant Failover:</a:t>
            </a:r>
            <a:r>
              <a:rPr b="0">
                <a:solidFill>
                  <a:srgbClr val="475569"/>
                </a:solidFill>
              </a:rPr>
              <a:t> If Path A completely drops, PSU 2 instantaneously carries 100% load with zero server disruption.</a:t>
            </a:r>
          </a:p>
          <a:p>
            <a:pPr>
              <a:spcAft>
                <a:spcPts val="600"/>
              </a:spcAft>
              <a:defRPr sz="1100">
                <a:solidFill>
                  <a:srgbClr val="475569"/>
                </a:solidFill>
                <a:latin typeface="Calibri"/>
              </a:defRPr>
            </a:pPr>
            <a:r>
              <a:rPr b="1">
                <a:solidFill>
                  <a:srgbClr val="0F172A"/>
                </a:solidFill>
              </a:rPr>
              <a:t>• Single-Corded Exception:</a:t>
            </a:r>
            <a:r>
              <a:rPr b="0">
                <a:solidFill>
                  <a:srgbClr val="475569"/>
                </a:solidFill>
              </a:rPr>
              <a:t> Legacy gear with single power cord requires a Rack-mount ATS (rATS) to achieve dual-path feed.</a:t>
            </a:r>
          </a:p>
        </p:txBody>
      </p:sp>
      <p:sp>
        <p:nvSpPr>
          <p:cNvPr id="16" name="Rounded Rectangle 15"/>
          <p:cNvSpPr/>
          <p:nvPr/>
        </p:nvSpPr>
        <p:spPr>
          <a:xfrm>
            <a:off x="8046720" y="1280160"/>
            <a:ext cx="3520440" cy="484632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75320" y="1463040"/>
            <a:ext cx="3063240" cy="411480"/>
          </a:xfrm>
          <a:prstGeom prst="rect">
            <a:avLst/>
          </a:prstGeom>
          <a:noFill/>
        </p:spPr>
        <p:txBody>
          <a:bodyPr wrap="square">
            <a:spAutoFit/>
          </a:bodyPr>
          <a:lstStyle/>
          <a:p>
            <a:pPr>
              <a:defRPr sz="1400" b="1">
                <a:solidFill>
                  <a:srgbClr val="0F172A"/>
                </a:solidFill>
                <a:latin typeface="Calibri"/>
              </a:defRPr>
            </a:pPr>
            <a:r>
              <a:t>Rack Safety &amp; Cable Management</a:t>
            </a:r>
          </a:p>
        </p:txBody>
      </p:sp>
      <p:sp>
        <p:nvSpPr>
          <p:cNvPr id="18" name="Rounded Rectangle 17"/>
          <p:cNvSpPr/>
          <p:nvPr/>
        </p:nvSpPr>
        <p:spPr>
          <a:xfrm>
            <a:off x="10195560" y="1463040"/>
            <a:ext cx="1188720" cy="228600"/>
          </a:xfrm>
          <a:prstGeom prst="round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FFFFFF"/>
                </a:solidFill>
              </a:defRPr>
            </a:pPr>
            <a:r>
              <a:t>BEST PRACTICES</a:t>
            </a:r>
          </a:p>
        </p:txBody>
      </p:sp>
      <p:sp>
        <p:nvSpPr>
          <p:cNvPr id="19" name="TextBox 18"/>
          <p:cNvSpPr txBox="1"/>
          <p:nvPr/>
        </p:nvSpPr>
        <p:spPr>
          <a:xfrm>
            <a:off x="8275320" y="1920240"/>
            <a:ext cx="3063240" cy="4069080"/>
          </a:xfrm>
          <a:prstGeom prst="rect">
            <a:avLst/>
          </a:prstGeom>
          <a:noFill/>
        </p:spPr>
        <p:txBody>
          <a:bodyPr wrap="square" tIns="0" lIns="0" rIns="0">
            <a:spAutoFit/>
          </a:bodyPr>
          <a:lstStyle/>
          <a:p>
            <a:pPr>
              <a:spcAft>
                <a:spcPts val="600"/>
              </a:spcAft>
              <a:defRPr sz="1100">
                <a:solidFill>
                  <a:srgbClr val="475569"/>
                </a:solidFill>
                <a:latin typeface="Calibri"/>
              </a:defRPr>
            </a:pPr>
            <a:r>
              <a:rPr b="1">
                <a:solidFill>
                  <a:srgbClr val="0F172A"/>
                </a:solidFill>
              </a:rPr>
              <a:t>• Locking Connectors:</a:t>
            </a:r>
            <a:r>
              <a:rPr b="0">
                <a:solidFill>
                  <a:srgbClr val="475569"/>
                </a:solidFill>
              </a:rPr>
              <a:t> IEC C13 / C14 and C19 / C20 locking plugs prevent accidental dislodgement during rack maintenance.</a:t>
            </a:r>
          </a:p>
          <a:p>
            <a:pPr>
              <a:spcAft>
                <a:spcPts val="600"/>
              </a:spcAft>
              <a:defRPr sz="1100">
                <a:solidFill>
                  <a:srgbClr val="475569"/>
                </a:solidFill>
                <a:latin typeface="Calibri"/>
              </a:defRPr>
            </a:pPr>
            <a:r>
              <a:rPr b="1">
                <a:solidFill>
                  <a:srgbClr val="0F172A"/>
                </a:solidFill>
              </a:rPr>
              <a:t>• Color-Coded Cables:</a:t>
            </a:r>
            <a:r>
              <a:rPr b="0">
                <a:solidFill>
                  <a:srgbClr val="475569"/>
                </a:solidFill>
              </a:rPr>
              <a:t> Industry standard practice: Red/Black for Feed A power cables, Blue/Grey for Feed B power cables.</a:t>
            </a:r>
          </a:p>
          <a:p>
            <a:pPr>
              <a:spcAft>
                <a:spcPts val="600"/>
              </a:spcAft>
              <a:defRPr sz="1100">
                <a:solidFill>
                  <a:srgbClr val="475569"/>
                </a:solidFill>
                <a:latin typeface="Calibri"/>
              </a:defRPr>
            </a:pPr>
            <a:r>
              <a:rPr b="1">
                <a:solidFill>
                  <a:srgbClr val="0F172A"/>
                </a:solidFill>
              </a:rPr>
              <a:t>• Thermal Separation:</a:t>
            </a:r>
            <a:r>
              <a:rPr b="0">
                <a:solidFill>
                  <a:srgbClr val="475569"/>
                </a:solidFill>
              </a:rPr>
              <a:t> Power cables segregated from network fiber/copper cables in overhead ladder racks to avoid inductive EMI noise.</a:t>
            </a:r>
          </a:p>
          <a:p>
            <a:pPr>
              <a:spcAft>
                <a:spcPts val="600"/>
              </a:spcAft>
              <a:defRPr sz="1100">
                <a:solidFill>
                  <a:srgbClr val="475569"/>
                </a:solidFill>
                <a:latin typeface="Calibri"/>
              </a:defRPr>
            </a:pPr>
            <a:r>
              <a:rPr b="1">
                <a:solidFill>
                  <a:srgbClr val="0F172A"/>
                </a:solidFill>
              </a:rPr>
              <a:t>• Derating Rule:</a:t>
            </a:r>
            <a:r>
              <a:rPr b="0">
                <a:solidFill>
                  <a:srgbClr val="475569"/>
                </a:solidFill>
              </a:rPr>
              <a:t> Continuous circuit loads must not exceed 80% of circuit breaker rating (e.g. 16A breaker max continuous load = 12.8A) as per NEC / IEC rules.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92240"/>
            <a:ext cx="12191695" cy="36576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510528"/>
            <a:ext cx="11094415" cy="320040"/>
          </a:xfrm>
          <a:prstGeom prst="rect">
            <a:avLst/>
          </a:prstGeom>
          <a:noFill/>
        </p:spPr>
        <p:txBody>
          <a:bodyPr wrap="square">
            <a:spAutoFit/>
          </a:bodyPr>
          <a:lstStyle/>
          <a:p>
            <a:pPr>
              <a:defRPr sz="1000">
                <a:solidFill>
                  <a:srgbClr val="94A3B8"/>
                </a:solidFill>
                <a:latin typeface="Calibri"/>
              </a:defRPr>
            </a:pPr>
            <a:r>
              <a:t>M.Tech CSE · Data Centre Systems Engineering | Unit 2: Electrical Infrastructure Engineering | Slide 12 of 22</a:t>
            </a:r>
          </a:p>
        </p:txBody>
      </p:sp>
      <p:sp>
        <p:nvSpPr>
          <p:cNvPr id="5" name="Rounded Rectangle 4"/>
          <p:cNvSpPr/>
          <p:nvPr/>
        </p:nvSpPr>
        <p:spPr>
          <a:xfrm>
            <a:off x="548640" y="164592"/>
            <a:ext cx="2011680" cy="256032"/>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950" b="1">
                <a:solidFill>
                  <a:srgbClr val="FFFFFF"/>
                </a:solidFill>
                <a:latin typeface="Calibri"/>
              </a:defRPr>
            </a:pPr>
            <a:r>
              <a:t>EARTHING &amp; GROUNDING</a:t>
            </a:r>
          </a:p>
        </p:txBody>
      </p:sp>
      <p:sp>
        <p:nvSpPr>
          <p:cNvPr id="6" name="TextBox 5"/>
          <p:cNvSpPr txBox="1"/>
          <p:nvPr/>
        </p:nvSpPr>
        <p:spPr>
          <a:xfrm>
            <a:off x="548640" y="438912"/>
            <a:ext cx="9601200" cy="502920"/>
          </a:xfrm>
          <a:prstGeom prst="rect">
            <a:avLst/>
          </a:prstGeom>
          <a:noFill/>
        </p:spPr>
        <p:txBody>
          <a:bodyPr wrap="square">
            <a:spAutoFit/>
          </a:bodyPr>
          <a:lstStyle/>
          <a:p>
            <a:pPr>
              <a:defRPr sz="2000" b="1">
                <a:solidFill>
                  <a:srgbClr val="FFFFFF"/>
                </a:solidFill>
                <a:latin typeface="Calibri"/>
              </a:defRPr>
            </a:pPr>
            <a:r>
              <a:t>Data Centre Earthing Philosophies &amp; The TN-S Grounding Scheme</a:t>
            </a:r>
          </a:p>
          <a:p>
            <a:pPr>
              <a:defRPr sz="1100">
                <a:solidFill>
                  <a:srgbClr val="94A3B8"/>
                </a:solidFill>
                <a:latin typeface="Calibri"/>
              </a:defRPr>
            </a:pPr>
            <a:r>
              <a:t>Guaranteeing human life safety, clearing fault currents, and eliminating electrical noise</a:t>
            </a:r>
          </a:p>
        </p:txBody>
      </p:sp>
      <p:sp>
        <p:nvSpPr>
          <p:cNvPr id="7" name="Rounded Rectangle 6"/>
          <p:cNvSpPr/>
          <p:nvPr/>
        </p:nvSpPr>
        <p:spPr>
          <a:xfrm>
            <a:off x="11064240" y="228600"/>
            <a:ext cx="640080" cy="292608"/>
          </a:xfrm>
          <a:prstGeom prst="roundRect">
            <a:avLst/>
          </a:prstGeom>
          <a:solidFill>
            <a:srgbClr val="1E293B"/>
          </a:solidFill>
          <a:ln w="12700">
            <a:solidFill>
              <a:srgbClr val="47556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12</a:t>
            </a:r>
          </a:p>
        </p:txBody>
      </p:sp>
      <p:sp>
        <p:nvSpPr>
          <p:cNvPr id="8" name="Rounded Rectangle 7"/>
          <p:cNvSpPr/>
          <p:nvPr/>
        </p:nvSpPr>
        <p:spPr>
          <a:xfrm>
            <a:off x="548640" y="1280160"/>
            <a:ext cx="5349240" cy="484632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463040"/>
            <a:ext cx="4892040" cy="411480"/>
          </a:xfrm>
          <a:prstGeom prst="rect">
            <a:avLst/>
          </a:prstGeom>
          <a:noFill/>
        </p:spPr>
        <p:txBody>
          <a:bodyPr wrap="square">
            <a:spAutoFit/>
          </a:bodyPr>
          <a:lstStyle/>
          <a:p>
            <a:pPr>
              <a:defRPr sz="1400" b="1">
                <a:solidFill>
                  <a:srgbClr val="0F172A"/>
                </a:solidFill>
                <a:latin typeface="Calibri"/>
              </a:defRPr>
            </a:pPr>
            <a:r>
              <a:t>Three Pillars of Data Centre Grounding</a:t>
            </a:r>
          </a:p>
        </p:txBody>
      </p:sp>
      <p:sp>
        <p:nvSpPr>
          <p:cNvPr id="10" name="Rounded Rectangle 9"/>
          <p:cNvSpPr/>
          <p:nvPr/>
        </p:nvSpPr>
        <p:spPr>
          <a:xfrm>
            <a:off x="4526280" y="1463040"/>
            <a:ext cx="1188720" cy="22860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FFFFFF"/>
                </a:solidFill>
              </a:defRPr>
            </a:pPr>
            <a:r>
              <a:t>IEEE 1100 EMERALD</a:t>
            </a:r>
          </a:p>
        </p:txBody>
      </p:sp>
      <p:sp>
        <p:nvSpPr>
          <p:cNvPr id="11" name="TextBox 10"/>
          <p:cNvSpPr txBox="1"/>
          <p:nvPr/>
        </p:nvSpPr>
        <p:spPr>
          <a:xfrm>
            <a:off x="777240" y="1920240"/>
            <a:ext cx="4892040" cy="4069080"/>
          </a:xfrm>
          <a:prstGeom prst="rect">
            <a:avLst/>
          </a:prstGeom>
          <a:noFill/>
        </p:spPr>
        <p:txBody>
          <a:bodyPr wrap="square" tIns="0" lIns="0" rIns="0">
            <a:spAutoFit/>
          </a:bodyPr>
          <a:lstStyle/>
          <a:p>
            <a:pPr>
              <a:spcAft>
                <a:spcPts val="600"/>
              </a:spcAft>
              <a:defRPr sz="1100">
                <a:solidFill>
                  <a:srgbClr val="475569"/>
                </a:solidFill>
                <a:latin typeface="Calibri"/>
              </a:defRPr>
            </a:pPr>
            <a:r>
              <a:rPr b="1">
                <a:solidFill>
                  <a:srgbClr val="0F172A"/>
                </a:solidFill>
              </a:rPr>
              <a:t>• Pillar 1 - Safety Grounding (PE):</a:t>
            </a:r>
            <a:r>
              <a:rPr b="0">
                <a:solidFill>
                  <a:srgbClr val="475569"/>
                </a:solidFill>
              </a:rPr>
              <a:t> Low-impedance path to earth to clear short-circuit faults instantly via protective circuit breakers; limits touch voltage to safe levels (&lt; 50V).</a:t>
            </a:r>
          </a:p>
          <a:p>
            <a:pPr>
              <a:spcAft>
                <a:spcPts val="600"/>
              </a:spcAft>
              <a:defRPr sz="1100">
                <a:solidFill>
                  <a:srgbClr val="475569"/>
                </a:solidFill>
                <a:latin typeface="Calibri"/>
              </a:defRPr>
            </a:pPr>
            <a:r>
              <a:rPr b="1">
                <a:solidFill>
                  <a:srgbClr val="0F172A"/>
                </a:solidFill>
              </a:rPr>
              <a:t>• Pillar 2 - System Grounding:</a:t>
            </a:r>
            <a:r>
              <a:rPr b="0">
                <a:solidFill>
                  <a:srgbClr val="475569"/>
                </a:solidFill>
              </a:rPr>
              <a:t> Grounding the transformer star neutral to stabilize phase-to-ground voltages under normal and transient conditions.</a:t>
            </a:r>
          </a:p>
          <a:p>
            <a:pPr>
              <a:spcAft>
                <a:spcPts val="600"/>
              </a:spcAft>
              <a:defRPr sz="1100">
                <a:solidFill>
                  <a:srgbClr val="475569"/>
                </a:solidFill>
                <a:latin typeface="Calibri"/>
              </a:defRPr>
            </a:pPr>
            <a:r>
              <a:rPr b="1">
                <a:solidFill>
                  <a:srgbClr val="0F172A"/>
                </a:solidFill>
              </a:rPr>
              <a:t>• Pillar 3 - High-Frequency Signal Grounding:</a:t>
            </a:r>
            <a:r>
              <a:rPr b="0">
                <a:solidFill>
                  <a:srgbClr val="475569"/>
                </a:solidFill>
              </a:rPr>
              <a:t> Providing an equipotential ground plane for microelectronic logic reference, shielding against RFI, EMI, and ESD transients.</a:t>
            </a:r>
          </a:p>
          <a:p>
            <a:pPr>
              <a:spcAft>
                <a:spcPts val="600"/>
              </a:spcAft>
              <a:defRPr sz="1100">
                <a:solidFill>
                  <a:srgbClr val="475569"/>
                </a:solidFill>
                <a:latin typeface="Calibri"/>
              </a:defRPr>
            </a:pPr>
            <a:r>
              <a:rPr b="1">
                <a:solidFill>
                  <a:srgbClr val="0F172A"/>
                </a:solidFill>
              </a:rPr>
              <a:t>• Standard Reference:</a:t>
            </a:r>
            <a:r>
              <a:rPr b="0">
                <a:solidFill>
                  <a:srgbClr val="475569"/>
                </a:solidFill>
              </a:rPr>
              <a:t> IEEE 1100 ('Emerald Book' - Recommended Practice for Powering and Grounding Electronic Equipment).</a:t>
            </a:r>
          </a:p>
          <a:p>
            <a:pPr>
              <a:spcAft>
                <a:spcPts val="600"/>
              </a:spcAft>
              <a:defRPr sz="1100">
                <a:solidFill>
                  <a:srgbClr val="475569"/>
                </a:solidFill>
                <a:latin typeface="Calibri"/>
              </a:defRPr>
            </a:pPr>
            <a:r>
              <a:rPr b="1">
                <a:solidFill>
                  <a:srgbClr val="0F172A"/>
                </a:solidFill>
              </a:rPr>
              <a:t>• Earth Resistance Requirement:</a:t>
            </a:r>
            <a:r>
              <a:rPr b="0">
                <a:solidFill>
                  <a:srgbClr val="475569"/>
                </a:solidFill>
              </a:rPr>
              <a:t> Commercial buildings allow 5.0 Ohms. Data centres strictly mandate &lt; 1.0 Ohm (target &lt; 0.5 Ohm for mission-critical).</a:t>
            </a:r>
          </a:p>
        </p:txBody>
      </p:sp>
      <p:sp>
        <p:nvSpPr>
          <p:cNvPr id="12" name="Rounded Rectangle 11"/>
          <p:cNvSpPr/>
          <p:nvPr/>
        </p:nvSpPr>
        <p:spPr>
          <a:xfrm>
            <a:off x="6217920" y="1280160"/>
            <a:ext cx="5349240" cy="4846320"/>
          </a:xfrm>
          <a:prstGeom prst="roundRect">
            <a:avLst/>
          </a:prstGeom>
          <a:solidFill>
            <a:srgbClr val="F8FAFC"/>
          </a:solidFill>
          <a:ln w="254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46520" y="1463040"/>
            <a:ext cx="4892040" cy="411480"/>
          </a:xfrm>
          <a:prstGeom prst="rect">
            <a:avLst/>
          </a:prstGeom>
          <a:noFill/>
        </p:spPr>
        <p:txBody>
          <a:bodyPr wrap="square">
            <a:spAutoFit/>
          </a:bodyPr>
          <a:lstStyle/>
          <a:p>
            <a:pPr>
              <a:defRPr sz="1400" b="1">
                <a:solidFill>
                  <a:srgbClr val="0F172A"/>
                </a:solidFill>
                <a:latin typeface="Calibri"/>
              </a:defRPr>
            </a:pPr>
            <a:r>
              <a:t>Why TN-S Grounding is Mandatory for DCs</a:t>
            </a:r>
          </a:p>
        </p:txBody>
      </p:sp>
      <p:sp>
        <p:nvSpPr>
          <p:cNvPr id="14" name="Rounded Rectangle 13"/>
          <p:cNvSpPr/>
          <p:nvPr/>
        </p:nvSpPr>
        <p:spPr>
          <a:xfrm>
            <a:off x="10195560" y="1463040"/>
            <a:ext cx="1188720" cy="228600"/>
          </a:xfrm>
          <a:prstGeom prst="round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FFFFFF"/>
                </a:solidFill>
              </a:defRPr>
            </a:pPr>
            <a:r>
              <a:t>MANDATORY SCHEME</a:t>
            </a:r>
          </a:p>
        </p:txBody>
      </p:sp>
      <p:sp>
        <p:nvSpPr>
          <p:cNvPr id="15" name="TextBox 14"/>
          <p:cNvSpPr txBox="1"/>
          <p:nvPr/>
        </p:nvSpPr>
        <p:spPr>
          <a:xfrm>
            <a:off x="6446520" y="1920240"/>
            <a:ext cx="4892040" cy="4069080"/>
          </a:xfrm>
          <a:prstGeom prst="rect">
            <a:avLst/>
          </a:prstGeom>
          <a:noFill/>
        </p:spPr>
        <p:txBody>
          <a:bodyPr wrap="square" tIns="0" lIns="0" rIns="0">
            <a:spAutoFit/>
          </a:bodyPr>
          <a:lstStyle/>
          <a:p>
            <a:pPr>
              <a:spcAft>
                <a:spcPts val="600"/>
              </a:spcAft>
              <a:defRPr sz="1100">
                <a:solidFill>
                  <a:srgbClr val="475569"/>
                </a:solidFill>
                <a:latin typeface="Calibri"/>
              </a:defRPr>
            </a:pPr>
            <a:r>
              <a:rPr b="1">
                <a:solidFill>
                  <a:srgbClr val="0F172A"/>
                </a:solidFill>
              </a:rPr>
              <a:t>• TN-S Definition:</a:t>
            </a:r>
            <a:r>
              <a:rPr b="0">
                <a:solidFill>
                  <a:srgbClr val="475569"/>
                </a:solidFill>
              </a:rPr>
              <a:t> Terre-Neutre Séparé (Separate Neutral and Protective Earth conductors throughout the entire electrical network).</a:t>
            </a:r>
          </a:p>
          <a:p>
            <a:pPr>
              <a:spcAft>
                <a:spcPts val="600"/>
              </a:spcAft>
              <a:defRPr sz="1100">
                <a:solidFill>
                  <a:srgbClr val="475569"/>
                </a:solidFill>
                <a:latin typeface="Calibri"/>
              </a:defRPr>
            </a:pPr>
            <a:r>
              <a:rPr b="1">
                <a:solidFill>
                  <a:srgbClr val="0F172A"/>
                </a:solidFill>
              </a:rPr>
              <a:t>• Single Point of Neutral-Earth Bond:</a:t>
            </a:r>
            <a:r>
              <a:rPr b="0">
                <a:solidFill>
                  <a:srgbClr val="475569"/>
                </a:solidFill>
              </a:rPr>
              <a:t> N and PE are bonded ONLY at the secondary of the main incoming transformer or PDU; NEVER bonded downstream!</a:t>
            </a:r>
          </a:p>
          <a:p>
            <a:pPr>
              <a:spcAft>
                <a:spcPts val="600"/>
              </a:spcAft>
              <a:defRPr sz="1100">
                <a:solidFill>
                  <a:srgbClr val="475569"/>
                </a:solidFill>
                <a:latin typeface="Calibri"/>
              </a:defRPr>
            </a:pPr>
            <a:r>
              <a:rPr b="1">
                <a:solidFill>
                  <a:srgbClr val="0F172A"/>
                </a:solidFill>
              </a:rPr>
              <a:t>• Danger of TN-C (Combined PEN):</a:t>
            </a:r>
            <a:r>
              <a:rPr b="0">
                <a:solidFill>
                  <a:srgbClr val="475569"/>
                </a:solidFill>
              </a:rPr>
              <a:t> In TN-C, 3rd harmonic server neutral currents travel along the equipment metallic chassis, causing electric shock hazards and catastrophic data packet corruption.</a:t>
            </a:r>
          </a:p>
          <a:p>
            <a:pPr>
              <a:spcAft>
                <a:spcPts val="600"/>
              </a:spcAft>
              <a:defRPr sz="1100">
                <a:solidFill>
                  <a:srgbClr val="475569"/>
                </a:solidFill>
                <a:latin typeface="Calibri"/>
              </a:defRPr>
            </a:pPr>
            <a:r>
              <a:rPr b="1">
                <a:solidFill>
                  <a:srgbClr val="0F172A"/>
                </a:solidFill>
              </a:rPr>
              <a:t>• Zero Earth Leakage Current:</a:t>
            </a:r>
            <a:r>
              <a:rPr b="0">
                <a:solidFill>
                  <a:srgbClr val="475569"/>
                </a:solidFill>
              </a:rPr>
              <a:t> In TN-S, under normal operating conditions, zero current flows through the PE conductor, ensuring a zero-voltage clean reference.</a:t>
            </a:r>
          </a:p>
          <a:p>
            <a:pPr>
              <a:spcAft>
                <a:spcPts val="600"/>
              </a:spcAft>
              <a:defRPr sz="1100">
                <a:solidFill>
                  <a:srgbClr val="475569"/>
                </a:solidFill>
                <a:latin typeface="Calibri"/>
              </a:defRPr>
            </a:pPr>
            <a:r>
              <a:rPr b="1">
                <a:solidFill>
                  <a:srgbClr val="0F172A"/>
                </a:solidFill>
              </a:rPr>
              <a:t>• Residual Current Devices (RCD):</a:t>
            </a:r>
            <a:r>
              <a:rPr b="0">
                <a:solidFill>
                  <a:srgbClr val="475569"/>
                </a:solidFill>
              </a:rPr>
              <a:t> TN-S allows sensitive, reliable operation of earth fault protection devices and ground fault relays.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92240"/>
            <a:ext cx="12191695" cy="36576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510528"/>
            <a:ext cx="11094415" cy="320040"/>
          </a:xfrm>
          <a:prstGeom prst="rect">
            <a:avLst/>
          </a:prstGeom>
          <a:noFill/>
        </p:spPr>
        <p:txBody>
          <a:bodyPr wrap="square">
            <a:spAutoFit/>
          </a:bodyPr>
          <a:lstStyle/>
          <a:p>
            <a:pPr>
              <a:defRPr sz="1000">
                <a:solidFill>
                  <a:srgbClr val="94A3B8"/>
                </a:solidFill>
                <a:latin typeface="Calibri"/>
              </a:defRPr>
            </a:pPr>
            <a:r>
              <a:t>M.Tech CSE · Data Centre Systems Engineering | Unit 2: Electrical Infrastructure Engineering | Slide 13 of 22</a:t>
            </a:r>
          </a:p>
        </p:txBody>
      </p:sp>
      <p:sp>
        <p:nvSpPr>
          <p:cNvPr id="5" name="Rounded Rectangle 4"/>
          <p:cNvSpPr/>
          <p:nvPr/>
        </p:nvSpPr>
        <p:spPr>
          <a:xfrm>
            <a:off x="548640" y="164592"/>
            <a:ext cx="2011680" cy="256032"/>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950" b="1">
                <a:solidFill>
                  <a:srgbClr val="FFFFFF"/>
                </a:solidFill>
                <a:latin typeface="Calibri"/>
              </a:defRPr>
            </a:pPr>
            <a:r>
              <a:t>LPS &amp; SRG</a:t>
            </a:r>
          </a:p>
        </p:txBody>
      </p:sp>
      <p:sp>
        <p:nvSpPr>
          <p:cNvPr id="6" name="TextBox 5"/>
          <p:cNvSpPr txBox="1"/>
          <p:nvPr/>
        </p:nvSpPr>
        <p:spPr>
          <a:xfrm>
            <a:off x="548640" y="438912"/>
            <a:ext cx="9601200" cy="502920"/>
          </a:xfrm>
          <a:prstGeom prst="rect">
            <a:avLst/>
          </a:prstGeom>
          <a:noFill/>
        </p:spPr>
        <p:txBody>
          <a:bodyPr wrap="square">
            <a:spAutoFit/>
          </a:bodyPr>
          <a:lstStyle/>
          <a:p>
            <a:pPr>
              <a:defRPr sz="2000" b="1">
                <a:solidFill>
                  <a:srgbClr val="FFFFFF"/>
                </a:solidFill>
                <a:latin typeface="Calibri"/>
              </a:defRPr>
            </a:pPr>
            <a:r>
              <a:t>Signal Reference Grid (SRG) &amp; Cascaded Lightning Protection (IEC 62305)</a:t>
            </a:r>
          </a:p>
          <a:p>
            <a:pPr>
              <a:defRPr sz="1100">
                <a:solidFill>
                  <a:srgbClr val="94A3B8"/>
                </a:solidFill>
                <a:latin typeface="Calibri"/>
              </a:defRPr>
            </a:pPr>
            <a:r>
              <a:t>Eliminating high-frequency digital noise and defending against multi-kiloamp lightning strikes</a:t>
            </a:r>
          </a:p>
        </p:txBody>
      </p:sp>
      <p:sp>
        <p:nvSpPr>
          <p:cNvPr id="7" name="Rounded Rectangle 6"/>
          <p:cNvSpPr/>
          <p:nvPr/>
        </p:nvSpPr>
        <p:spPr>
          <a:xfrm>
            <a:off x="11064240" y="228600"/>
            <a:ext cx="640080" cy="292608"/>
          </a:xfrm>
          <a:prstGeom prst="roundRect">
            <a:avLst/>
          </a:prstGeom>
          <a:solidFill>
            <a:srgbClr val="1E293B"/>
          </a:solidFill>
          <a:ln w="12700">
            <a:solidFill>
              <a:srgbClr val="47556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13</a:t>
            </a:r>
          </a:p>
        </p:txBody>
      </p:sp>
      <p:sp>
        <p:nvSpPr>
          <p:cNvPr id="8" name="Rounded Rectangle 7"/>
          <p:cNvSpPr/>
          <p:nvPr/>
        </p:nvSpPr>
        <p:spPr>
          <a:xfrm>
            <a:off x="548640" y="1280160"/>
            <a:ext cx="5349240" cy="484632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463040"/>
            <a:ext cx="4892040" cy="411480"/>
          </a:xfrm>
          <a:prstGeom prst="rect">
            <a:avLst/>
          </a:prstGeom>
          <a:noFill/>
        </p:spPr>
        <p:txBody>
          <a:bodyPr wrap="square">
            <a:spAutoFit/>
          </a:bodyPr>
          <a:lstStyle/>
          <a:p>
            <a:pPr>
              <a:defRPr sz="1400" b="1">
                <a:solidFill>
                  <a:srgbClr val="0F172A"/>
                </a:solidFill>
                <a:latin typeface="Calibri"/>
              </a:defRPr>
            </a:pPr>
            <a:r>
              <a:t>Signal Reference Grid (SRG) Architecture</a:t>
            </a:r>
          </a:p>
        </p:txBody>
      </p:sp>
      <p:sp>
        <p:nvSpPr>
          <p:cNvPr id="10" name="Rounded Rectangle 9"/>
          <p:cNvSpPr/>
          <p:nvPr/>
        </p:nvSpPr>
        <p:spPr>
          <a:xfrm>
            <a:off x="4526280" y="1463040"/>
            <a:ext cx="1188720" cy="228600"/>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FFFFFF"/>
                </a:solidFill>
              </a:defRPr>
            </a:pPr>
            <a:r>
              <a:t>IEEE 1100 / SRG</a:t>
            </a:r>
          </a:p>
        </p:txBody>
      </p:sp>
      <p:sp>
        <p:nvSpPr>
          <p:cNvPr id="11" name="TextBox 10"/>
          <p:cNvSpPr txBox="1"/>
          <p:nvPr/>
        </p:nvSpPr>
        <p:spPr>
          <a:xfrm>
            <a:off x="777240" y="1920240"/>
            <a:ext cx="4892040" cy="4069080"/>
          </a:xfrm>
          <a:prstGeom prst="rect">
            <a:avLst/>
          </a:prstGeom>
          <a:noFill/>
        </p:spPr>
        <p:txBody>
          <a:bodyPr wrap="square" tIns="0" lIns="0" rIns="0">
            <a:spAutoFit/>
          </a:bodyPr>
          <a:lstStyle/>
          <a:p>
            <a:pPr>
              <a:spcAft>
                <a:spcPts val="600"/>
              </a:spcAft>
              <a:defRPr sz="1100">
                <a:solidFill>
                  <a:srgbClr val="475569"/>
                </a:solidFill>
                <a:latin typeface="Calibri"/>
              </a:defRPr>
            </a:pPr>
            <a:r>
              <a:t>• What is SRG? A prefabricated copper strip grid (typically 2 ft × 2 ft mesh) laid directly beneath the raised floor tiles in the server room.</a:t>
            </a:r>
          </a:p>
          <a:p>
            <a:pPr>
              <a:spcAft>
                <a:spcPts val="600"/>
              </a:spcAft>
              <a:defRPr sz="1100">
                <a:solidFill>
                  <a:srgbClr val="475569"/>
                </a:solidFill>
                <a:latin typeface="Calibri"/>
              </a:defRPr>
            </a:pPr>
            <a:r>
              <a:rPr b="1">
                <a:solidFill>
                  <a:srgbClr val="0F172A"/>
                </a:solidFill>
              </a:rPr>
              <a:t>• High-Frequency Physics:</a:t>
            </a:r>
            <a:r>
              <a:rPr b="0">
                <a:solidFill>
                  <a:srgbClr val="475569"/>
                </a:solidFill>
              </a:rPr>
              <a:t> At 50 Hz power frequency, a single grounding cable works. At high frequencies (MHz/GHz clock harmonics), a single wire acts like an antenna due to high inductive reactance ($X_L = 2\pi f L$).</a:t>
            </a:r>
          </a:p>
          <a:p>
            <a:pPr>
              <a:spcAft>
                <a:spcPts val="600"/>
              </a:spcAft>
              <a:defRPr sz="1100">
                <a:solidFill>
                  <a:srgbClr val="475569"/>
                </a:solidFill>
                <a:latin typeface="Calibri"/>
              </a:defRPr>
            </a:pPr>
            <a:r>
              <a:rPr b="1">
                <a:solidFill>
                  <a:srgbClr val="0F172A"/>
                </a:solidFill>
              </a:rPr>
              <a:t>• Mesh Principle:</a:t>
            </a:r>
            <a:r>
              <a:rPr b="0">
                <a:solidFill>
                  <a:srgbClr val="475569"/>
                </a:solidFill>
              </a:rPr>
              <a:t> A 2 ft × 2 ft mesh provides thousands of parallel paths, drastically reducing impedance ($Z \rightarrow 0$) at high frequencies.</a:t>
            </a:r>
          </a:p>
          <a:p>
            <a:pPr>
              <a:spcAft>
                <a:spcPts val="600"/>
              </a:spcAft>
              <a:defRPr sz="1100">
                <a:solidFill>
                  <a:srgbClr val="475569"/>
                </a:solidFill>
                <a:latin typeface="Calibri"/>
              </a:defRPr>
            </a:pPr>
            <a:r>
              <a:rPr b="1">
                <a:solidFill>
                  <a:srgbClr val="0F172A"/>
                </a:solidFill>
              </a:rPr>
              <a:t>• Bonding Protocol:</a:t>
            </a:r>
            <a:r>
              <a:rPr b="0">
                <a:solidFill>
                  <a:srgbClr val="475569"/>
                </a:solidFill>
              </a:rPr>
              <a:t> Every server cabinet, PDU chassis, overhead cable tray, and raised floor stanchion is bonded to the SRG using short, flat braided copper straps.</a:t>
            </a:r>
          </a:p>
          <a:p>
            <a:pPr>
              <a:spcAft>
                <a:spcPts val="600"/>
              </a:spcAft>
              <a:defRPr sz="1100">
                <a:solidFill>
                  <a:srgbClr val="475569"/>
                </a:solidFill>
                <a:latin typeface="Calibri"/>
              </a:defRPr>
            </a:pPr>
            <a:r>
              <a:rPr b="1">
                <a:solidFill>
                  <a:srgbClr val="0F172A"/>
                </a:solidFill>
              </a:rPr>
              <a:t>• Benefits:</a:t>
            </a:r>
            <a:r>
              <a:rPr b="0">
                <a:solidFill>
                  <a:srgbClr val="475569"/>
                </a:solidFill>
              </a:rPr>
              <a:t> Eliminates ground loops, dissipates static ESD, and stops data corruption between interconnected servers.</a:t>
            </a:r>
          </a:p>
        </p:txBody>
      </p:sp>
      <p:sp>
        <p:nvSpPr>
          <p:cNvPr id="12" name="Rounded Rectangle 11"/>
          <p:cNvSpPr/>
          <p:nvPr/>
        </p:nvSpPr>
        <p:spPr>
          <a:xfrm>
            <a:off x="6217920" y="1280160"/>
            <a:ext cx="5349240" cy="4846320"/>
          </a:xfrm>
          <a:prstGeom prst="roundRect">
            <a:avLst/>
          </a:prstGeom>
          <a:solidFill>
            <a:srgbClr val="F8FAFC"/>
          </a:solidFill>
          <a:ln w="254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46520" y="1463040"/>
            <a:ext cx="4892040" cy="411480"/>
          </a:xfrm>
          <a:prstGeom prst="rect">
            <a:avLst/>
          </a:prstGeom>
          <a:noFill/>
        </p:spPr>
        <p:txBody>
          <a:bodyPr wrap="square">
            <a:spAutoFit/>
          </a:bodyPr>
          <a:lstStyle/>
          <a:p>
            <a:pPr>
              <a:defRPr sz="1400" b="1">
                <a:solidFill>
                  <a:srgbClr val="0F172A"/>
                </a:solidFill>
                <a:latin typeface="Calibri"/>
              </a:defRPr>
            </a:pPr>
            <a:r>
              <a:t>Cascaded Lightning Surge Protection (IEC 62305)</a:t>
            </a:r>
          </a:p>
        </p:txBody>
      </p:sp>
      <p:sp>
        <p:nvSpPr>
          <p:cNvPr id="14" name="Rounded Rectangle 13"/>
          <p:cNvSpPr/>
          <p:nvPr/>
        </p:nvSpPr>
        <p:spPr>
          <a:xfrm>
            <a:off x="10195560" y="1463040"/>
            <a:ext cx="1188720" cy="228600"/>
          </a:xfrm>
          <a:prstGeom prst="round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FFFFFF"/>
                </a:solidFill>
              </a:defRPr>
            </a:pPr>
            <a:r>
              <a:t>IEC 62305 / SPDS</a:t>
            </a:r>
          </a:p>
        </p:txBody>
      </p:sp>
      <p:sp>
        <p:nvSpPr>
          <p:cNvPr id="15" name="TextBox 14"/>
          <p:cNvSpPr txBox="1"/>
          <p:nvPr/>
        </p:nvSpPr>
        <p:spPr>
          <a:xfrm>
            <a:off x="6446520" y="1920240"/>
            <a:ext cx="4892040" cy="4069080"/>
          </a:xfrm>
          <a:prstGeom prst="rect">
            <a:avLst/>
          </a:prstGeom>
          <a:noFill/>
        </p:spPr>
        <p:txBody>
          <a:bodyPr wrap="square" tIns="0" lIns="0" rIns="0">
            <a:spAutoFit/>
          </a:bodyPr>
          <a:lstStyle/>
          <a:p>
            <a:pPr>
              <a:spcAft>
                <a:spcPts val="600"/>
              </a:spcAft>
              <a:defRPr sz="1100">
                <a:solidFill>
                  <a:srgbClr val="475569"/>
                </a:solidFill>
                <a:latin typeface="Calibri"/>
              </a:defRPr>
            </a:pPr>
            <a:r>
              <a:rPr b="1">
                <a:solidFill>
                  <a:srgbClr val="0F172A"/>
                </a:solidFill>
              </a:rPr>
              <a:t>• External Lightning Protection System (LPS):</a:t>
            </a:r>
            <a:r>
              <a:rPr b="0">
                <a:solidFill>
                  <a:srgbClr val="475569"/>
                </a:solidFill>
              </a:rPr>
              <a:t> Faraday cage mesh on roof + air termination rods + low-inductance down conductors + ring earth electrode.</a:t>
            </a:r>
          </a:p>
          <a:p>
            <a:pPr>
              <a:spcAft>
                <a:spcPts val="600"/>
              </a:spcAft>
              <a:defRPr sz="1100">
                <a:solidFill>
                  <a:srgbClr val="475569"/>
                </a:solidFill>
                <a:latin typeface="Calibri"/>
              </a:defRPr>
            </a:pPr>
            <a:r>
              <a:rPr b="1">
                <a:solidFill>
                  <a:srgbClr val="0F172A"/>
                </a:solidFill>
              </a:rPr>
              <a:t>• Type 1 (Class I) SPD:</a:t>
            </a:r>
            <a:r>
              <a:rPr b="0">
                <a:solidFill>
                  <a:srgbClr val="475569"/>
                </a:solidFill>
              </a:rPr>
              <a:t> Installed at main incoming service entrance switchgear. Tested with 10/350 µs lightning waveform; discharges direct strike currents ($I_{imp} \ge 25\text{ kA}$).</a:t>
            </a:r>
          </a:p>
          <a:p>
            <a:pPr>
              <a:spcAft>
                <a:spcPts val="600"/>
              </a:spcAft>
              <a:defRPr sz="1100">
                <a:solidFill>
                  <a:srgbClr val="475569"/>
                </a:solidFill>
                <a:latin typeface="Calibri"/>
              </a:defRPr>
            </a:pPr>
            <a:r>
              <a:rPr b="1">
                <a:solidFill>
                  <a:srgbClr val="0F172A"/>
                </a:solidFill>
              </a:rPr>
              <a:t>• Type 2 (Class II) SPD:</a:t>
            </a:r>
            <a:r>
              <a:rPr b="0">
                <a:solidFill>
                  <a:srgbClr val="475569"/>
                </a:solidFill>
              </a:rPr>
              <a:t> Installed at sub-distribution boards and UPS input/output switchboards. Tested with 8/20 µs waveform ($I_n \ge 20\text{ kA}$); clamps residual switching transients.</a:t>
            </a:r>
          </a:p>
          <a:p>
            <a:pPr>
              <a:spcAft>
                <a:spcPts val="600"/>
              </a:spcAft>
              <a:defRPr sz="1100">
                <a:solidFill>
                  <a:srgbClr val="475569"/>
                </a:solidFill>
                <a:latin typeface="Calibri"/>
              </a:defRPr>
            </a:pPr>
            <a:r>
              <a:rPr b="1">
                <a:solidFill>
                  <a:srgbClr val="0F172A"/>
                </a:solidFill>
              </a:rPr>
              <a:t>• Type 3 (Class III) SPD:</a:t>
            </a:r>
            <a:r>
              <a:rPr b="0">
                <a:solidFill>
                  <a:srgbClr val="475569"/>
                </a:solidFill>
              </a:rPr>
              <a:t> Installed at PDU branch circuits and Rack PDUs. Clamps fine voltage spikes to &lt; 1.0 kV, safe for sensitive server silicon.</a:t>
            </a:r>
          </a:p>
          <a:p>
            <a:pPr>
              <a:spcAft>
                <a:spcPts val="600"/>
              </a:spcAft>
              <a:defRPr sz="1100">
                <a:solidFill>
                  <a:srgbClr val="475569"/>
                </a:solidFill>
                <a:latin typeface="Calibri"/>
              </a:defRPr>
            </a:pPr>
            <a:r>
              <a:rPr b="1">
                <a:solidFill>
                  <a:srgbClr val="0F172A"/>
                </a:solidFill>
              </a:rPr>
              <a:t>• Coordination Rule:</a:t>
            </a:r>
            <a:r>
              <a:rPr b="0">
                <a:solidFill>
                  <a:srgbClr val="475569"/>
                </a:solidFill>
              </a:rPr>
              <a:t> SPDs must be coordinated with minimum cable separation distance or series inductors so Type 1 fires before downstream Type 2/3.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92240"/>
            <a:ext cx="12191695" cy="36576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510528"/>
            <a:ext cx="11094415" cy="320040"/>
          </a:xfrm>
          <a:prstGeom prst="rect">
            <a:avLst/>
          </a:prstGeom>
          <a:noFill/>
        </p:spPr>
        <p:txBody>
          <a:bodyPr wrap="square">
            <a:spAutoFit/>
          </a:bodyPr>
          <a:lstStyle/>
          <a:p>
            <a:pPr>
              <a:defRPr sz="1000">
                <a:solidFill>
                  <a:srgbClr val="94A3B8"/>
                </a:solidFill>
                <a:latin typeface="Calibri"/>
              </a:defRPr>
            </a:pPr>
            <a:r>
              <a:t>M.Tech CSE · Data Centre Systems Engineering | Unit 2: Electrical Infrastructure Engineering | Slide 14 of 22</a:t>
            </a:r>
          </a:p>
        </p:txBody>
      </p:sp>
      <p:sp>
        <p:nvSpPr>
          <p:cNvPr id="5" name="Rounded Rectangle 4"/>
          <p:cNvSpPr/>
          <p:nvPr/>
        </p:nvSpPr>
        <p:spPr>
          <a:xfrm>
            <a:off x="548640" y="164592"/>
            <a:ext cx="2011680" cy="256032"/>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950" b="1">
                <a:solidFill>
                  <a:srgbClr val="FFFFFF"/>
                </a:solidFill>
                <a:latin typeface="Calibri"/>
              </a:defRPr>
            </a:pPr>
            <a:r>
              <a:t>ELECTRICAL DESIGN</a:t>
            </a:r>
          </a:p>
        </p:txBody>
      </p:sp>
      <p:sp>
        <p:nvSpPr>
          <p:cNvPr id="6" name="TextBox 5"/>
          <p:cNvSpPr txBox="1"/>
          <p:nvPr/>
        </p:nvSpPr>
        <p:spPr>
          <a:xfrm>
            <a:off x="548640" y="438912"/>
            <a:ext cx="9601200" cy="502920"/>
          </a:xfrm>
          <a:prstGeom prst="rect">
            <a:avLst/>
          </a:prstGeom>
          <a:noFill/>
        </p:spPr>
        <p:txBody>
          <a:bodyPr wrap="square">
            <a:spAutoFit/>
          </a:bodyPr>
          <a:lstStyle/>
          <a:p>
            <a:pPr>
              <a:defRPr sz="2000" b="1">
                <a:solidFill>
                  <a:srgbClr val="FFFFFF"/>
                </a:solidFill>
                <a:latin typeface="Calibri"/>
              </a:defRPr>
            </a:pPr>
            <a:r>
              <a:t>Electrical Load Calculation &amp; Sizing Methodology</a:t>
            </a:r>
          </a:p>
          <a:p>
            <a:pPr>
              <a:defRPr sz="1100">
                <a:solidFill>
                  <a:srgbClr val="94A3B8"/>
                </a:solidFill>
                <a:latin typeface="Calibri"/>
              </a:defRPr>
            </a:pPr>
            <a:r>
              <a:t>Step-by-step engineering calculation pipeline from white space rack kW to utility grid kVA</a:t>
            </a:r>
          </a:p>
        </p:txBody>
      </p:sp>
      <p:sp>
        <p:nvSpPr>
          <p:cNvPr id="7" name="Rounded Rectangle 6"/>
          <p:cNvSpPr/>
          <p:nvPr/>
        </p:nvSpPr>
        <p:spPr>
          <a:xfrm>
            <a:off x="11064240" y="228600"/>
            <a:ext cx="640080" cy="292608"/>
          </a:xfrm>
          <a:prstGeom prst="roundRect">
            <a:avLst/>
          </a:prstGeom>
          <a:solidFill>
            <a:srgbClr val="1E293B"/>
          </a:solidFill>
          <a:ln w="12700">
            <a:solidFill>
              <a:srgbClr val="47556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14</a:t>
            </a:r>
          </a:p>
        </p:txBody>
      </p:sp>
      <p:sp>
        <p:nvSpPr>
          <p:cNvPr id="8" name="Rounded Rectangle 7"/>
          <p:cNvSpPr/>
          <p:nvPr/>
        </p:nvSpPr>
        <p:spPr>
          <a:xfrm>
            <a:off x="548640" y="1280160"/>
            <a:ext cx="11094415" cy="4846320"/>
          </a:xfrm>
          <a:prstGeom prst="roundRect">
            <a:avLst/>
          </a:prstGeom>
          <a:solidFill>
            <a:srgbClr val="F8FAFC"/>
          </a:solidFill>
          <a:ln w="254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463040"/>
            <a:ext cx="10637215" cy="411480"/>
          </a:xfrm>
          <a:prstGeom prst="rect">
            <a:avLst/>
          </a:prstGeom>
          <a:noFill/>
        </p:spPr>
        <p:txBody>
          <a:bodyPr wrap="square">
            <a:spAutoFit/>
          </a:bodyPr>
          <a:lstStyle/>
          <a:p>
            <a:pPr>
              <a:defRPr sz="1400" b="1">
                <a:solidFill>
                  <a:srgbClr val="0F172A"/>
                </a:solidFill>
                <a:latin typeface="Calibri"/>
              </a:defRPr>
            </a:pPr>
            <a:r>
              <a:t>Step-by-Step Engineering Sizing Pipeline</a:t>
            </a:r>
          </a:p>
        </p:txBody>
      </p:sp>
      <p:sp>
        <p:nvSpPr>
          <p:cNvPr id="10" name="Rounded Rectangle 9"/>
          <p:cNvSpPr/>
          <p:nvPr/>
        </p:nvSpPr>
        <p:spPr>
          <a:xfrm>
            <a:off x="10271455" y="1463040"/>
            <a:ext cx="1188720" cy="22860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FFFFFF"/>
                </a:solidFill>
              </a:defRPr>
            </a:pPr>
            <a:r>
              <a:t>SIZING ALGORITHM</a:t>
            </a:r>
          </a:p>
        </p:txBody>
      </p:sp>
      <p:sp>
        <p:nvSpPr>
          <p:cNvPr id="11" name="TextBox 10"/>
          <p:cNvSpPr txBox="1"/>
          <p:nvPr/>
        </p:nvSpPr>
        <p:spPr>
          <a:xfrm>
            <a:off x="777240" y="1920240"/>
            <a:ext cx="10637215" cy="4069080"/>
          </a:xfrm>
          <a:prstGeom prst="rect">
            <a:avLst/>
          </a:prstGeom>
          <a:noFill/>
        </p:spPr>
        <p:txBody>
          <a:bodyPr wrap="square" tIns="0" lIns="0" rIns="0">
            <a:spAutoFit/>
          </a:bodyPr>
          <a:lstStyle/>
          <a:p>
            <a:pPr>
              <a:spcAft>
                <a:spcPts val="600"/>
              </a:spcAft>
              <a:defRPr sz="1100">
                <a:solidFill>
                  <a:srgbClr val="475569"/>
                </a:solidFill>
                <a:latin typeface="Calibri"/>
              </a:defRPr>
            </a:pPr>
            <a:r>
              <a:rPr b="1">
                <a:solidFill>
                  <a:srgbClr val="0F172A"/>
                </a:solidFill>
              </a:rPr>
              <a:t>• Step 1:</a:t>
            </a:r>
            <a:r>
              <a:rPr b="0">
                <a:solidFill>
                  <a:srgbClr val="475569"/>
                </a:solidFill>
              </a:rPr>
              <a:t> Determine Total IT White Space Load (P_IT) -&gt; Calculate total rack count × average rack power density (e.g., 100 racks × 6 kW/rack = 600 kW).</a:t>
            </a:r>
          </a:p>
          <a:p>
            <a:pPr>
              <a:spcAft>
                <a:spcPts val="600"/>
              </a:spcAft>
              <a:defRPr sz="1100">
                <a:solidFill>
                  <a:srgbClr val="475569"/>
                </a:solidFill>
                <a:latin typeface="Calibri"/>
              </a:defRPr>
            </a:pPr>
            <a:r>
              <a:rPr b="1">
                <a:solidFill>
                  <a:srgbClr val="0F172A"/>
                </a:solidFill>
              </a:rPr>
              <a:t>• Step 2:</a:t>
            </a:r>
            <a:r>
              <a:rPr b="0">
                <a:solidFill>
                  <a:srgbClr val="475569"/>
                </a:solidFill>
              </a:rPr>
              <a:t> Convert IT Active Power (kW) to Apparent Power (kVA) -&gt; S_IT = P_IT / PF_IT. Assuming modern server PF = 0.98, S_IT = 600 / 0.98 = 612.2 kVA.</a:t>
            </a:r>
          </a:p>
          <a:p>
            <a:pPr>
              <a:spcAft>
                <a:spcPts val="600"/>
              </a:spcAft>
              <a:defRPr sz="1100">
                <a:solidFill>
                  <a:srgbClr val="475569"/>
                </a:solidFill>
                <a:latin typeface="Calibri"/>
              </a:defRPr>
            </a:pPr>
            <a:r>
              <a:rPr b="1">
                <a:solidFill>
                  <a:srgbClr val="0F172A"/>
                </a:solidFill>
              </a:rPr>
              <a:t>• Step 3:</a:t>
            </a:r>
            <a:r>
              <a:rPr b="0">
                <a:solidFill>
                  <a:srgbClr val="475569"/>
                </a:solidFill>
              </a:rPr>
              <a:t> Size the UPS Plant -&gt; S_UPS = S_IT / (Efficiency_UPS × Max_Load_Factor). For 96% efficiency and 80% maximum continuous loading: S_UPS = 612.2 / (0.96 × 0.80) = 797 kVA. Select standard rating: 800 kVA or two 500 kVA units in 2N.</a:t>
            </a:r>
          </a:p>
          <a:p>
            <a:pPr>
              <a:spcAft>
                <a:spcPts val="600"/>
              </a:spcAft>
              <a:defRPr sz="1100">
                <a:solidFill>
                  <a:srgbClr val="475569"/>
                </a:solidFill>
                <a:latin typeface="Calibri"/>
              </a:defRPr>
            </a:pPr>
            <a:r>
              <a:rPr b="1">
                <a:solidFill>
                  <a:srgbClr val="0F172A"/>
                </a:solidFill>
              </a:rPr>
              <a:t>• Step 4:</a:t>
            </a:r>
            <a:r>
              <a:rPr b="0">
                <a:solidFill>
                  <a:srgbClr val="475569"/>
                </a:solidFill>
              </a:rPr>
              <a:t> Battery Autonomy Calculation -&gt; Sized using battery manufacturer constant-power discharge tables to sustain full UPS inverter DC input for 10-15 minutes at end-of-discharge voltage (1.75V/cell).</a:t>
            </a:r>
          </a:p>
          <a:p>
            <a:pPr>
              <a:spcAft>
                <a:spcPts val="600"/>
              </a:spcAft>
              <a:defRPr sz="1100">
                <a:solidFill>
                  <a:srgbClr val="475569"/>
                </a:solidFill>
                <a:latin typeface="Calibri"/>
              </a:defRPr>
            </a:pPr>
            <a:r>
              <a:rPr b="1">
                <a:solidFill>
                  <a:srgbClr val="0F172A"/>
                </a:solidFill>
              </a:rPr>
              <a:t>• Step 5:</a:t>
            </a:r>
            <a:r>
              <a:rPr b="0">
                <a:solidFill>
                  <a:srgbClr val="475569"/>
                </a:solidFill>
              </a:rPr>
              <a:t> Facility Auxiliary &amp; Mechanical Cooling Load -&gt; Mechanical chillers, pumps, fans, lighting, and BMS typically equal 30% to 50% of IT load. Total facility load = P_IT × PUE.</a:t>
            </a:r>
          </a:p>
          <a:p>
            <a:pPr>
              <a:spcAft>
                <a:spcPts val="600"/>
              </a:spcAft>
              <a:defRPr sz="1100">
                <a:solidFill>
                  <a:srgbClr val="475569"/>
                </a:solidFill>
                <a:latin typeface="Calibri"/>
              </a:defRPr>
            </a:pPr>
            <a:r>
              <a:rPr b="1">
                <a:solidFill>
                  <a:srgbClr val="0F172A"/>
                </a:solidFill>
              </a:rPr>
              <a:t>• Step 6:</a:t>
            </a:r>
            <a:r>
              <a:rPr b="0">
                <a:solidFill>
                  <a:srgbClr val="475569"/>
                </a:solidFill>
              </a:rPr>
              <a:t> Transformer Sizing (S_Tx) -&gt; S_Tx = Total_Facility_kVA × Diversity Factor × Growth Margin (typically 1.25x). In 2N, each transformer is sized to carry 100% of total facility load alone.</a:t>
            </a:r>
          </a:p>
          <a:p>
            <a:pPr>
              <a:spcAft>
                <a:spcPts val="600"/>
              </a:spcAft>
              <a:defRPr sz="1100">
                <a:solidFill>
                  <a:srgbClr val="475569"/>
                </a:solidFill>
                <a:latin typeface="Calibri"/>
              </a:defRPr>
            </a:pPr>
            <a:r>
              <a:rPr b="1">
                <a:solidFill>
                  <a:srgbClr val="0F172A"/>
                </a:solidFill>
              </a:rPr>
              <a:t>• Step 7:</a:t>
            </a:r>
            <a:r>
              <a:rPr b="0">
                <a:solidFill>
                  <a:srgbClr val="475569"/>
                </a:solidFill>
              </a:rPr>
              <a:t> Generator Sizing (S_DG) -&gt; Generator capacity must account for non-linear harmonic heating, UPS battery charging step-load, and motor starting inrush currents (typically 1.3x to 1.5x total load).</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92240"/>
            <a:ext cx="12191695" cy="36576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510528"/>
            <a:ext cx="11094415" cy="320040"/>
          </a:xfrm>
          <a:prstGeom prst="rect">
            <a:avLst/>
          </a:prstGeom>
          <a:noFill/>
        </p:spPr>
        <p:txBody>
          <a:bodyPr wrap="square">
            <a:spAutoFit/>
          </a:bodyPr>
          <a:lstStyle/>
          <a:p>
            <a:pPr>
              <a:defRPr sz="1000">
                <a:solidFill>
                  <a:srgbClr val="94A3B8"/>
                </a:solidFill>
                <a:latin typeface="Calibri"/>
              </a:defRPr>
            </a:pPr>
            <a:r>
              <a:t>M.Tech CSE · Data Centre Systems Engineering | Unit 2: Electrical Infrastructure Engineering | Slide 15 of 22</a:t>
            </a:r>
          </a:p>
        </p:txBody>
      </p:sp>
      <p:sp>
        <p:nvSpPr>
          <p:cNvPr id="5" name="Rounded Rectangle 4"/>
          <p:cNvSpPr/>
          <p:nvPr/>
        </p:nvSpPr>
        <p:spPr>
          <a:xfrm>
            <a:off x="548640" y="164592"/>
            <a:ext cx="2011680" cy="256032"/>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950" b="1">
                <a:solidFill>
                  <a:srgbClr val="FFFFFF"/>
                </a:solidFill>
                <a:latin typeface="Calibri"/>
              </a:defRPr>
            </a:pPr>
            <a:r>
              <a:t>ENERGY METRICS</a:t>
            </a:r>
          </a:p>
        </p:txBody>
      </p:sp>
      <p:sp>
        <p:nvSpPr>
          <p:cNvPr id="6" name="TextBox 5"/>
          <p:cNvSpPr txBox="1"/>
          <p:nvPr/>
        </p:nvSpPr>
        <p:spPr>
          <a:xfrm>
            <a:off x="548640" y="438912"/>
            <a:ext cx="9601200" cy="502920"/>
          </a:xfrm>
          <a:prstGeom prst="rect">
            <a:avLst/>
          </a:prstGeom>
          <a:noFill/>
        </p:spPr>
        <p:txBody>
          <a:bodyPr wrap="square">
            <a:spAutoFit/>
          </a:bodyPr>
          <a:lstStyle/>
          <a:p>
            <a:pPr>
              <a:defRPr sz="2000" b="1">
                <a:solidFill>
                  <a:srgbClr val="FFFFFF"/>
                </a:solidFill>
                <a:latin typeface="Calibri"/>
              </a:defRPr>
            </a:pPr>
            <a:r>
              <a:t>Data Centre Energy Efficiency Metrics: PUE, DCiE &amp; Benchmarks</a:t>
            </a:r>
          </a:p>
          <a:p>
            <a:pPr>
              <a:defRPr sz="1100">
                <a:solidFill>
                  <a:srgbClr val="94A3B8"/>
                </a:solidFill>
                <a:latin typeface="Calibri"/>
              </a:defRPr>
            </a:pPr>
            <a:r>
              <a:t>The universal gold standards for measuring data centre infrastructure sustainability</a:t>
            </a:r>
          </a:p>
        </p:txBody>
      </p:sp>
      <p:sp>
        <p:nvSpPr>
          <p:cNvPr id="7" name="Rounded Rectangle 6"/>
          <p:cNvSpPr/>
          <p:nvPr/>
        </p:nvSpPr>
        <p:spPr>
          <a:xfrm>
            <a:off x="11064240" y="228600"/>
            <a:ext cx="640080" cy="292608"/>
          </a:xfrm>
          <a:prstGeom prst="roundRect">
            <a:avLst/>
          </a:prstGeom>
          <a:solidFill>
            <a:srgbClr val="1E293B"/>
          </a:solidFill>
          <a:ln w="12700">
            <a:solidFill>
              <a:srgbClr val="47556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15</a:t>
            </a:r>
          </a:p>
        </p:txBody>
      </p:sp>
      <p:sp>
        <p:nvSpPr>
          <p:cNvPr id="8" name="Rounded Rectangle 7"/>
          <p:cNvSpPr/>
          <p:nvPr/>
        </p:nvSpPr>
        <p:spPr>
          <a:xfrm>
            <a:off x="548640" y="1280160"/>
            <a:ext cx="5349240" cy="484632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463040"/>
            <a:ext cx="4892040" cy="411480"/>
          </a:xfrm>
          <a:prstGeom prst="rect">
            <a:avLst/>
          </a:prstGeom>
          <a:noFill/>
        </p:spPr>
        <p:txBody>
          <a:bodyPr wrap="square">
            <a:spAutoFit/>
          </a:bodyPr>
          <a:lstStyle/>
          <a:p>
            <a:pPr>
              <a:defRPr sz="1400" b="1">
                <a:solidFill>
                  <a:srgbClr val="0F172A"/>
                </a:solidFill>
                <a:latin typeface="Calibri"/>
              </a:defRPr>
            </a:pPr>
            <a:r>
              <a:t>PUE &amp; DCiE Mathematical Formulations</a:t>
            </a:r>
          </a:p>
        </p:txBody>
      </p:sp>
      <p:sp>
        <p:nvSpPr>
          <p:cNvPr id="10" name="Rounded Rectangle 9"/>
          <p:cNvSpPr/>
          <p:nvPr/>
        </p:nvSpPr>
        <p:spPr>
          <a:xfrm>
            <a:off x="4526280" y="1463040"/>
            <a:ext cx="1188720" cy="22860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FFFFFF"/>
                </a:solidFill>
              </a:defRPr>
            </a:pPr>
            <a:r>
              <a:t>THE GREEN GRID</a:t>
            </a:r>
          </a:p>
        </p:txBody>
      </p:sp>
      <p:sp>
        <p:nvSpPr>
          <p:cNvPr id="11" name="TextBox 10"/>
          <p:cNvSpPr txBox="1"/>
          <p:nvPr/>
        </p:nvSpPr>
        <p:spPr>
          <a:xfrm>
            <a:off x="777240" y="1920240"/>
            <a:ext cx="4892040" cy="4069080"/>
          </a:xfrm>
          <a:prstGeom prst="rect">
            <a:avLst/>
          </a:prstGeom>
          <a:noFill/>
        </p:spPr>
        <p:txBody>
          <a:bodyPr wrap="square" tIns="0" lIns="0" rIns="0">
            <a:spAutoFit/>
          </a:bodyPr>
          <a:lstStyle/>
          <a:p>
            <a:pPr>
              <a:spcAft>
                <a:spcPts val="600"/>
              </a:spcAft>
              <a:defRPr sz="1100">
                <a:solidFill>
                  <a:srgbClr val="475569"/>
                </a:solidFill>
                <a:latin typeface="Calibri"/>
              </a:defRPr>
            </a:pPr>
            <a:r>
              <a:rPr b="1">
                <a:solidFill>
                  <a:srgbClr val="0F172A"/>
                </a:solidFill>
              </a:rPr>
              <a:t>• Power Usage Effectiveness (PUE):</a:t>
            </a:r>
            <a:r>
              <a:rPr b="0">
                <a:solidFill>
                  <a:srgbClr val="475569"/>
                </a:solidFill>
              </a:rPr>
              <a:t> Defined by The Green Grid as the ratio of total energy entered into the facility to energy consumed by IT computing equipment.</a:t>
            </a:r>
          </a:p>
          <a:p>
            <a:pPr>
              <a:spcAft>
                <a:spcPts val="600"/>
              </a:spcAft>
              <a:defRPr sz="1100">
                <a:solidFill>
                  <a:srgbClr val="475569"/>
                </a:solidFill>
                <a:latin typeface="Calibri"/>
              </a:defRPr>
            </a:pPr>
            <a:r>
              <a:rPr b="1">
                <a:solidFill>
                  <a:srgbClr val="0F172A"/>
                </a:solidFill>
              </a:rPr>
              <a:t>• PUE Formula:</a:t>
            </a:r>
            <a:r>
              <a:rPr b="0">
                <a:solidFill>
                  <a:srgbClr val="475569"/>
                </a:solidFill>
              </a:rPr>
              <a:t> PUE = Total Facility Energy / IT Equipment Energy.</a:t>
            </a:r>
          </a:p>
          <a:p>
            <a:pPr>
              <a:spcAft>
                <a:spcPts val="600"/>
              </a:spcAft>
              <a:defRPr sz="1100">
                <a:solidFill>
                  <a:srgbClr val="475569"/>
                </a:solidFill>
                <a:latin typeface="Calibri"/>
              </a:defRPr>
            </a:pPr>
            <a:r>
              <a:rPr b="1">
                <a:solidFill>
                  <a:srgbClr val="0F172A"/>
                </a:solidFill>
              </a:rPr>
              <a:t>• Total Facility Energy includes:</a:t>
            </a:r>
            <a:r>
              <a:rPr b="0">
                <a:solidFill>
                  <a:srgbClr val="475569"/>
                </a:solidFill>
              </a:rPr>
              <a:t> IT equipment + Chillers + CRAH units + Fans + Pumps + Transformer losses + UPS losses + PDU losses + Lighting + Security.</a:t>
            </a:r>
          </a:p>
          <a:p>
            <a:pPr>
              <a:spcAft>
                <a:spcPts val="600"/>
              </a:spcAft>
              <a:defRPr sz="1100">
                <a:solidFill>
                  <a:srgbClr val="475569"/>
                </a:solidFill>
                <a:latin typeface="Calibri"/>
              </a:defRPr>
            </a:pPr>
            <a:r>
              <a:rPr b="1">
                <a:solidFill>
                  <a:srgbClr val="0F172A"/>
                </a:solidFill>
              </a:rPr>
              <a:t>• Ideal PUE:</a:t>
            </a:r>
            <a:r>
              <a:rPr b="0">
                <a:solidFill>
                  <a:srgbClr val="475569"/>
                </a:solidFill>
              </a:rPr>
              <a:t> Exactly 1.0 (means 100% of power goes into servers; 0% wasted on cooling or electrical losses).</a:t>
            </a:r>
          </a:p>
          <a:p>
            <a:pPr>
              <a:spcAft>
                <a:spcPts val="600"/>
              </a:spcAft>
              <a:defRPr sz="1100">
                <a:solidFill>
                  <a:srgbClr val="475569"/>
                </a:solidFill>
                <a:latin typeface="Calibri"/>
              </a:defRPr>
            </a:pPr>
            <a:r>
              <a:rPr b="1">
                <a:solidFill>
                  <a:srgbClr val="0F172A"/>
                </a:solidFill>
              </a:rPr>
              <a:t>• Data Centre Infrastructure Efficiency (DCiE):</a:t>
            </a:r>
            <a:r>
              <a:rPr b="0">
                <a:solidFill>
                  <a:srgbClr val="475569"/>
                </a:solidFill>
              </a:rPr>
              <a:t> The reciprocal percentage metric: DCiE = (IT Equipment Power / Total Facility Power) × 100% = (1 / PUE) × 100%.</a:t>
            </a:r>
          </a:p>
        </p:txBody>
      </p:sp>
      <p:sp>
        <p:nvSpPr>
          <p:cNvPr id="12" name="Rounded Rectangle 11"/>
          <p:cNvSpPr/>
          <p:nvPr/>
        </p:nvSpPr>
        <p:spPr>
          <a:xfrm>
            <a:off x="6217920" y="1280160"/>
            <a:ext cx="5349240" cy="484632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46520" y="1463040"/>
            <a:ext cx="4892040" cy="411480"/>
          </a:xfrm>
          <a:prstGeom prst="rect">
            <a:avLst/>
          </a:prstGeom>
          <a:noFill/>
        </p:spPr>
        <p:txBody>
          <a:bodyPr wrap="square">
            <a:spAutoFit/>
          </a:bodyPr>
          <a:lstStyle/>
          <a:p>
            <a:pPr>
              <a:defRPr sz="1400" b="1">
                <a:solidFill>
                  <a:srgbClr val="0F172A"/>
                </a:solidFill>
                <a:latin typeface="Calibri"/>
              </a:defRPr>
            </a:pPr>
            <a:r>
              <a:t>Industry Benchmarks &amp; Efficiency Levers</a:t>
            </a:r>
          </a:p>
        </p:txBody>
      </p:sp>
      <p:sp>
        <p:nvSpPr>
          <p:cNvPr id="14" name="Rounded Rectangle 13"/>
          <p:cNvSpPr/>
          <p:nvPr/>
        </p:nvSpPr>
        <p:spPr>
          <a:xfrm>
            <a:off x="10195560" y="1463040"/>
            <a:ext cx="1188720" cy="228600"/>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FFFFFF"/>
                </a:solidFill>
              </a:defRPr>
            </a:pPr>
            <a:r>
              <a:t>BENCHMARKS</a:t>
            </a:r>
          </a:p>
        </p:txBody>
      </p:sp>
      <p:sp>
        <p:nvSpPr>
          <p:cNvPr id="15" name="TextBox 14"/>
          <p:cNvSpPr txBox="1"/>
          <p:nvPr/>
        </p:nvSpPr>
        <p:spPr>
          <a:xfrm>
            <a:off x="6446520" y="1920240"/>
            <a:ext cx="4892040" cy="4069080"/>
          </a:xfrm>
          <a:prstGeom prst="rect">
            <a:avLst/>
          </a:prstGeom>
          <a:noFill/>
        </p:spPr>
        <p:txBody>
          <a:bodyPr wrap="square" tIns="0" lIns="0" rIns="0">
            <a:spAutoFit/>
          </a:bodyPr>
          <a:lstStyle/>
          <a:p>
            <a:pPr>
              <a:spcAft>
                <a:spcPts val="600"/>
              </a:spcAft>
              <a:defRPr sz="1100">
                <a:solidFill>
                  <a:srgbClr val="475569"/>
                </a:solidFill>
                <a:latin typeface="Calibri"/>
              </a:defRPr>
            </a:pPr>
            <a:r>
              <a:rPr b="1">
                <a:solidFill>
                  <a:srgbClr val="0F172A"/>
                </a:solidFill>
              </a:rPr>
              <a:t>• Legacy Data Centre (Historic):</a:t>
            </a:r>
            <a:r>
              <a:rPr b="0">
                <a:solidFill>
                  <a:srgbClr val="475569"/>
                </a:solidFill>
              </a:rPr>
              <a:t> PUE 2.0 (DCiE 50%) -&gt; For every 1 kW used by servers, 1 kW is wasted on cooling and electrical losses!</a:t>
            </a:r>
          </a:p>
          <a:p>
            <a:pPr>
              <a:spcAft>
                <a:spcPts val="600"/>
              </a:spcAft>
              <a:defRPr sz="1100">
                <a:solidFill>
                  <a:srgbClr val="475569"/>
                </a:solidFill>
                <a:latin typeface="Calibri"/>
              </a:defRPr>
            </a:pPr>
            <a:r>
              <a:rPr b="1">
                <a:solidFill>
                  <a:srgbClr val="0F172A"/>
                </a:solidFill>
              </a:rPr>
              <a:t>• Modern Enterprise Data Centre:</a:t>
            </a:r>
            <a:r>
              <a:rPr b="0">
                <a:solidFill>
                  <a:srgbClr val="475569"/>
                </a:solidFill>
              </a:rPr>
              <a:t> PUE 1.3 to 1.4 (DCiE 71% to 77%) -&gt; High-efficiency UPS, hot/cold aisle containment, variable frequency drives (VFD).</a:t>
            </a:r>
          </a:p>
          <a:p>
            <a:pPr>
              <a:spcAft>
                <a:spcPts val="600"/>
              </a:spcAft>
              <a:defRPr sz="1100">
                <a:solidFill>
                  <a:srgbClr val="475569"/>
                </a:solidFill>
                <a:latin typeface="Calibri"/>
              </a:defRPr>
            </a:pPr>
            <a:r>
              <a:rPr b="1">
                <a:solidFill>
                  <a:srgbClr val="0F172A"/>
                </a:solidFill>
              </a:rPr>
              <a:t>• Hyperscale Cloud (Google, AWS, Microsoft):</a:t>
            </a:r>
            <a:r>
              <a:rPr b="0">
                <a:solidFill>
                  <a:srgbClr val="475569"/>
                </a:solidFill>
              </a:rPr>
              <a:t> PUE 1.10 to 1.15 (DCiE 87% to 91%) -&gt; Free-air economization, high-voltage rack distribution, direct-to-chip liquid cooling.</a:t>
            </a:r>
          </a:p>
          <a:p>
            <a:pPr>
              <a:spcAft>
                <a:spcPts val="600"/>
              </a:spcAft>
              <a:defRPr sz="1100">
                <a:solidFill>
                  <a:srgbClr val="475569"/>
                </a:solidFill>
                <a:latin typeface="Calibri"/>
              </a:defRPr>
            </a:pPr>
            <a:r>
              <a:rPr b="1">
                <a:solidFill>
                  <a:srgbClr val="0F172A"/>
                </a:solidFill>
              </a:rPr>
              <a:t>• Top Electrical Levers to Lower PUE:</a:t>
            </a:r>
            <a:r>
              <a:rPr b="0">
                <a:solidFill>
                  <a:srgbClr val="475569"/>
                </a:solidFill>
              </a:rPr>
              <a:t>
  1. Eliminate double transformation steps (e.g. 415V direct to rack).
  2. Operate UPS units at &gt; 60% load to remain in peak efficiency curve.
  3. Use High-efficiency amorphous core / K-20 isolation transformers.</a:t>
            </a:r>
          </a:p>
          <a:p>
            <a:pPr>
              <a:spcAft>
                <a:spcPts val="600"/>
              </a:spcAft>
              <a:defRPr sz="1100">
                <a:solidFill>
                  <a:srgbClr val="475569"/>
                </a:solidFill>
                <a:latin typeface="Calibri"/>
              </a:defRPr>
            </a:pPr>
            <a:r>
              <a:rPr b="1">
                <a:solidFill>
                  <a:srgbClr val="0F172A"/>
                </a:solidFill>
              </a:rPr>
              <a:t>• Associated Metrics:</a:t>
            </a:r>
            <a:r>
              <a:rPr b="0">
                <a:solidFill>
                  <a:srgbClr val="475569"/>
                </a:solidFill>
              </a:rPr>
              <a:t> Water Usage Effectiveness (WUE) &amp; Carbon Usage Effectiveness (CUE).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92240"/>
            <a:ext cx="12191695" cy="36576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510528"/>
            <a:ext cx="11094415" cy="320040"/>
          </a:xfrm>
          <a:prstGeom prst="rect">
            <a:avLst/>
          </a:prstGeom>
          <a:noFill/>
        </p:spPr>
        <p:txBody>
          <a:bodyPr wrap="square">
            <a:spAutoFit/>
          </a:bodyPr>
          <a:lstStyle/>
          <a:p>
            <a:pPr>
              <a:defRPr sz="1000">
                <a:solidFill>
                  <a:srgbClr val="94A3B8"/>
                </a:solidFill>
                <a:latin typeface="Calibri"/>
              </a:defRPr>
            </a:pPr>
            <a:r>
              <a:t>M.Tech CSE · Data Centre Systems Engineering | Unit 2: Electrical Infrastructure Engineering | Slide 16 of 22</a:t>
            </a:r>
          </a:p>
        </p:txBody>
      </p:sp>
      <p:sp>
        <p:nvSpPr>
          <p:cNvPr id="5" name="Rounded Rectangle 4"/>
          <p:cNvSpPr/>
          <p:nvPr/>
        </p:nvSpPr>
        <p:spPr>
          <a:xfrm>
            <a:off x="548640" y="164592"/>
            <a:ext cx="2011680" cy="256032"/>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950" b="1">
                <a:solidFill>
                  <a:srgbClr val="FFFFFF"/>
                </a:solidFill>
                <a:latin typeface="Calibri"/>
              </a:defRPr>
            </a:pPr>
            <a:r>
              <a:t>TIER CLASSIFICATION</a:t>
            </a:r>
          </a:p>
        </p:txBody>
      </p:sp>
      <p:sp>
        <p:nvSpPr>
          <p:cNvPr id="6" name="TextBox 5"/>
          <p:cNvSpPr txBox="1"/>
          <p:nvPr/>
        </p:nvSpPr>
        <p:spPr>
          <a:xfrm>
            <a:off x="548640" y="438912"/>
            <a:ext cx="9601200" cy="502920"/>
          </a:xfrm>
          <a:prstGeom prst="rect">
            <a:avLst/>
          </a:prstGeom>
          <a:noFill/>
        </p:spPr>
        <p:txBody>
          <a:bodyPr wrap="square">
            <a:spAutoFit/>
          </a:bodyPr>
          <a:lstStyle/>
          <a:p>
            <a:pPr>
              <a:defRPr sz="2000" b="1">
                <a:solidFill>
                  <a:srgbClr val="FFFFFF"/>
                </a:solidFill>
                <a:latin typeface="Calibri"/>
              </a:defRPr>
            </a:pPr>
            <a:r>
              <a:t>Uptime Institute Tier Standards: Electrical Requirements</a:t>
            </a:r>
          </a:p>
          <a:p>
            <a:pPr>
              <a:defRPr sz="1100">
                <a:solidFill>
                  <a:srgbClr val="94A3B8"/>
                </a:solidFill>
                <a:latin typeface="Calibri"/>
              </a:defRPr>
            </a:pPr>
            <a:r>
              <a:t>Analyzing Tier I through Tier IV electrical concurrency and fault tolerance</a:t>
            </a:r>
          </a:p>
        </p:txBody>
      </p:sp>
      <p:sp>
        <p:nvSpPr>
          <p:cNvPr id="7" name="Rounded Rectangle 6"/>
          <p:cNvSpPr/>
          <p:nvPr/>
        </p:nvSpPr>
        <p:spPr>
          <a:xfrm>
            <a:off x="11064240" y="228600"/>
            <a:ext cx="640080" cy="292608"/>
          </a:xfrm>
          <a:prstGeom prst="roundRect">
            <a:avLst/>
          </a:prstGeom>
          <a:solidFill>
            <a:srgbClr val="1E293B"/>
          </a:solidFill>
          <a:ln w="12700">
            <a:solidFill>
              <a:srgbClr val="47556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16</a:t>
            </a:r>
          </a:p>
        </p:txBody>
      </p:sp>
      <p:sp>
        <p:nvSpPr>
          <p:cNvPr id="8" name="Rounded Rectangle 7"/>
          <p:cNvSpPr/>
          <p:nvPr/>
        </p:nvSpPr>
        <p:spPr>
          <a:xfrm>
            <a:off x="548640" y="1280160"/>
            <a:ext cx="2606040" cy="484632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463040"/>
            <a:ext cx="2148840" cy="411480"/>
          </a:xfrm>
          <a:prstGeom prst="rect">
            <a:avLst/>
          </a:prstGeom>
          <a:noFill/>
        </p:spPr>
        <p:txBody>
          <a:bodyPr wrap="square">
            <a:spAutoFit/>
          </a:bodyPr>
          <a:lstStyle/>
          <a:p>
            <a:pPr>
              <a:defRPr sz="1400" b="1">
                <a:solidFill>
                  <a:srgbClr val="0F172A"/>
                </a:solidFill>
                <a:latin typeface="Calibri"/>
              </a:defRPr>
            </a:pPr>
            <a:r>
              <a:t>Tier I: Basic Capacity</a:t>
            </a:r>
          </a:p>
        </p:txBody>
      </p:sp>
      <p:sp>
        <p:nvSpPr>
          <p:cNvPr id="10" name="Rounded Rectangle 9"/>
          <p:cNvSpPr/>
          <p:nvPr/>
        </p:nvSpPr>
        <p:spPr>
          <a:xfrm>
            <a:off x="1783080" y="1463040"/>
            <a:ext cx="1188720" cy="228600"/>
          </a:xfrm>
          <a:prstGeom prst="roundRect">
            <a:avLst/>
          </a:prstGeom>
          <a:solidFill>
            <a:srgbClr val="4755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FFFFFF"/>
                </a:solidFill>
              </a:defRPr>
            </a:pPr>
            <a:r>
              <a:t>TIER I</a:t>
            </a:r>
          </a:p>
        </p:txBody>
      </p:sp>
      <p:sp>
        <p:nvSpPr>
          <p:cNvPr id="11" name="TextBox 10"/>
          <p:cNvSpPr txBox="1"/>
          <p:nvPr/>
        </p:nvSpPr>
        <p:spPr>
          <a:xfrm>
            <a:off x="777240" y="1920240"/>
            <a:ext cx="2148840" cy="4069080"/>
          </a:xfrm>
          <a:prstGeom prst="rect">
            <a:avLst/>
          </a:prstGeom>
          <a:noFill/>
        </p:spPr>
        <p:txBody>
          <a:bodyPr wrap="square" tIns="0" lIns="0" rIns="0">
            <a:spAutoFit/>
          </a:bodyPr>
          <a:lstStyle/>
          <a:p>
            <a:pPr>
              <a:spcAft>
                <a:spcPts val="600"/>
              </a:spcAft>
              <a:defRPr sz="1100">
                <a:solidFill>
                  <a:srgbClr val="475569"/>
                </a:solidFill>
                <a:latin typeface="Calibri"/>
              </a:defRPr>
            </a:pPr>
            <a:r>
              <a:rPr b="1">
                <a:solidFill>
                  <a:srgbClr val="0F172A"/>
                </a:solidFill>
              </a:rPr>
              <a:t>• Paths:</a:t>
            </a:r>
            <a:r>
              <a:rPr b="0">
                <a:solidFill>
                  <a:srgbClr val="475569"/>
                </a:solidFill>
              </a:rPr>
              <a:t> Single distribution path.</a:t>
            </a:r>
          </a:p>
          <a:p>
            <a:pPr>
              <a:spcAft>
                <a:spcPts val="600"/>
              </a:spcAft>
              <a:defRPr sz="1100">
                <a:solidFill>
                  <a:srgbClr val="475569"/>
                </a:solidFill>
                <a:latin typeface="Calibri"/>
              </a:defRPr>
            </a:pPr>
            <a:r>
              <a:rPr b="1">
                <a:solidFill>
                  <a:srgbClr val="0F172A"/>
                </a:solidFill>
              </a:rPr>
              <a:t>• Redundancy:</a:t>
            </a:r>
            <a:r>
              <a:rPr b="0">
                <a:solidFill>
                  <a:srgbClr val="475569"/>
                </a:solidFill>
              </a:rPr>
              <a:t> N (No redundancy).</a:t>
            </a:r>
          </a:p>
          <a:p>
            <a:pPr>
              <a:spcAft>
                <a:spcPts val="600"/>
              </a:spcAft>
              <a:defRPr sz="1100">
                <a:solidFill>
                  <a:srgbClr val="475569"/>
                </a:solidFill>
                <a:latin typeface="Calibri"/>
              </a:defRPr>
            </a:pPr>
            <a:r>
              <a:rPr b="1">
                <a:solidFill>
                  <a:srgbClr val="0F172A"/>
                </a:solidFill>
              </a:rPr>
              <a:t>• UPS / Gen:</a:t>
            </a:r>
            <a:r>
              <a:rPr b="0">
                <a:solidFill>
                  <a:srgbClr val="475569"/>
                </a:solidFill>
              </a:rPr>
              <a:t> Dedicated UPS &amp; DG present, but single module.</a:t>
            </a:r>
          </a:p>
          <a:p>
            <a:pPr>
              <a:spcAft>
                <a:spcPts val="600"/>
              </a:spcAft>
              <a:defRPr sz="1100">
                <a:solidFill>
                  <a:srgbClr val="475569"/>
                </a:solidFill>
                <a:latin typeface="Calibri"/>
              </a:defRPr>
            </a:pPr>
            <a:r>
              <a:rPr b="1">
                <a:solidFill>
                  <a:srgbClr val="0F172A"/>
                </a:solidFill>
              </a:rPr>
              <a:t>• SPOF:</a:t>
            </a:r>
            <a:r>
              <a:rPr b="0">
                <a:solidFill>
                  <a:srgbClr val="475569"/>
                </a:solidFill>
              </a:rPr>
              <a:t> Multiple single points of failure.</a:t>
            </a:r>
          </a:p>
          <a:p>
            <a:pPr>
              <a:spcAft>
                <a:spcPts val="600"/>
              </a:spcAft>
              <a:defRPr sz="1100">
                <a:solidFill>
                  <a:srgbClr val="475569"/>
                </a:solidFill>
                <a:latin typeface="Calibri"/>
              </a:defRPr>
            </a:pPr>
            <a:r>
              <a:rPr b="1">
                <a:solidFill>
                  <a:srgbClr val="0F172A"/>
                </a:solidFill>
              </a:rPr>
              <a:t>• Concurrent Maintenance:</a:t>
            </a:r>
            <a:r>
              <a:rPr b="0">
                <a:solidFill>
                  <a:srgbClr val="475569"/>
                </a:solidFill>
              </a:rPr>
              <a:t> No.</a:t>
            </a:r>
          </a:p>
          <a:p>
            <a:pPr>
              <a:spcAft>
                <a:spcPts val="600"/>
              </a:spcAft>
              <a:defRPr sz="1100">
                <a:solidFill>
                  <a:srgbClr val="475569"/>
                </a:solidFill>
                <a:latin typeface="Calibri"/>
              </a:defRPr>
            </a:pPr>
            <a:r>
              <a:rPr b="1">
                <a:solidFill>
                  <a:srgbClr val="0F172A"/>
                </a:solidFill>
              </a:rPr>
              <a:t>• Annual Downtime:</a:t>
            </a:r>
            <a:r>
              <a:rPr b="0">
                <a:solidFill>
                  <a:srgbClr val="475569"/>
                </a:solidFill>
              </a:rPr>
              <a:t> 28.8 hours (99.671% availability).</a:t>
            </a:r>
          </a:p>
          <a:p>
            <a:pPr>
              <a:spcAft>
                <a:spcPts val="600"/>
              </a:spcAft>
              <a:defRPr sz="1100">
                <a:solidFill>
                  <a:srgbClr val="475569"/>
                </a:solidFill>
                <a:latin typeface="Calibri"/>
              </a:defRPr>
            </a:pPr>
            <a:r>
              <a:rPr b="1">
                <a:solidFill>
                  <a:srgbClr val="0F172A"/>
                </a:solidFill>
              </a:rPr>
              <a:t>• Target:</a:t>
            </a:r>
            <a:r>
              <a:rPr b="0">
                <a:solidFill>
                  <a:srgbClr val="475569"/>
                </a:solidFill>
              </a:rPr>
              <a:t> Small internal IT rooms.</a:t>
            </a:r>
          </a:p>
        </p:txBody>
      </p:sp>
      <p:sp>
        <p:nvSpPr>
          <p:cNvPr id="12" name="Rounded Rectangle 11"/>
          <p:cNvSpPr/>
          <p:nvPr/>
        </p:nvSpPr>
        <p:spPr>
          <a:xfrm>
            <a:off x="3319272" y="1280160"/>
            <a:ext cx="2606040" cy="484632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547872" y="1463040"/>
            <a:ext cx="2148840" cy="411480"/>
          </a:xfrm>
          <a:prstGeom prst="rect">
            <a:avLst/>
          </a:prstGeom>
          <a:noFill/>
        </p:spPr>
        <p:txBody>
          <a:bodyPr wrap="square">
            <a:spAutoFit/>
          </a:bodyPr>
          <a:lstStyle/>
          <a:p>
            <a:pPr>
              <a:defRPr sz="1400" b="1">
                <a:solidFill>
                  <a:srgbClr val="0F172A"/>
                </a:solidFill>
                <a:latin typeface="Calibri"/>
              </a:defRPr>
            </a:pPr>
            <a:r>
              <a:t>Tier II: Redundant Comps</a:t>
            </a:r>
          </a:p>
        </p:txBody>
      </p:sp>
      <p:sp>
        <p:nvSpPr>
          <p:cNvPr id="14" name="Rounded Rectangle 13"/>
          <p:cNvSpPr/>
          <p:nvPr/>
        </p:nvSpPr>
        <p:spPr>
          <a:xfrm>
            <a:off x="4553712" y="1463040"/>
            <a:ext cx="1188720" cy="228600"/>
          </a:xfrm>
          <a:prstGeom prst="round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FFFFFF"/>
                </a:solidFill>
              </a:defRPr>
            </a:pPr>
            <a:r>
              <a:t>TIER II</a:t>
            </a:r>
          </a:p>
        </p:txBody>
      </p:sp>
      <p:sp>
        <p:nvSpPr>
          <p:cNvPr id="15" name="TextBox 14"/>
          <p:cNvSpPr txBox="1"/>
          <p:nvPr/>
        </p:nvSpPr>
        <p:spPr>
          <a:xfrm>
            <a:off x="3547872" y="1920240"/>
            <a:ext cx="2148840" cy="4069080"/>
          </a:xfrm>
          <a:prstGeom prst="rect">
            <a:avLst/>
          </a:prstGeom>
          <a:noFill/>
        </p:spPr>
        <p:txBody>
          <a:bodyPr wrap="square" tIns="0" lIns="0" rIns="0">
            <a:spAutoFit/>
          </a:bodyPr>
          <a:lstStyle/>
          <a:p>
            <a:pPr>
              <a:spcAft>
                <a:spcPts val="600"/>
              </a:spcAft>
              <a:defRPr sz="1100">
                <a:solidFill>
                  <a:srgbClr val="475569"/>
                </a:solidFill>
                <a:latin typeface="Calibri"/>
              </a:defRPr>
            </a:pPr>
            <a:r>
              <a:rPr b="1">
                <a:solidFill>
                  <a:srgbClr val="0F172A"/>
                </a:solidFill>
              </a:rPr>
              <a:t>• Paths:</a:t>
            </a:r>
            <a:r>
              <a:rPr b="0">
                <a:solidFill>
                  <a:srgbClr val="475569"/>
                </a:solidFill>
              </a:rPr>
              <a:t> Single distribution path.</a:t>
            </a:r>
          </a:p>
          <a:p>
            <a:pPr>
              <a:spcAft>
                <a:spcPts val="600"/>
              </a:spcAft>
              <a:defRPr sz="1100">
                <a:solidFill>
                  <a:srgbClr val="475569"/>
                </a:solidFill>
                <a:latin typeface="Calibri"/>
              </a:defRPr>
            </a:pPr>
            <a:r>
              <a:rPr b="1">
                <a:solidFill>
                  <a:srgbClr val="0F172A"/>
                </a:solidFill>
              </a:rPr>
              <a:t>• Redundancy:</a:t>
            </a:r>
            <a:r>
              <a:rPr b="0">
                <a:solidFill>
                  <a:srgbClr val="475569"/>
                </a:solidFill>
              </a:rPr>
              <a:t> N+1 active components (UPS, DG, Chillers).</a:t>
            </a:r>
          </a:p>
          <a:p>
            <a:pPr>
              <a:spcAft>
                <a:spcPts val="600"/>
              </a:spcAft>
              <a:defRPr sz="1100">
                <a:solidFill>
                  <a:srgbClr val="475569"/>
                </a:solidFill>
                <a:latin typeface="Calibri"/>
              </a:defRPr>
            </a:pPr>
            <a:r>
              <a:rPr b="1">
                <a:solidFill>
                  <a:srgbClr val="0F172A"/>
                </a:solidFill>
              </a:rPr>
              <a:t>• SPOF:</a:t>
            </a:r>
            <a:r>
              <a:rPr b="0">
                <a:solidFill>
                  <a:srgbClr val="475569"/>
                </a:solidFill>
              </a:rPr>
              <a:t> Distribution piping &amp; switchboards are still SPOFs.</a:t>
            </a:r>
          </a:p>
          <a:p>
            <a:pPr>
              <a:spcAft>
                <a:spcPts val="600"/>
              </a:spcAft>
              <a:defRPr sz="1100">
                <a:solidFill>
                  <a:srgbClr val="475569"/>
                </a:solidFill>
                <a:latin typeface="Calibri"/>
              </a:defRPr>
            </a:pPr>
            <a:r>
              <a:rPr b="1">
                <a:solidFill>
                  <a:srgbClr val="0F172A"/>
                </a:solidFill>
              </a:rPr>
              <a:t>• Concurrent Maintenance:</a:t>
            </a:r>
            <a:r>
              <a:rPr b="0">
                <a:solidFill>
                  <a:srgbClr val="475569"/>
                </a:solidFill>
              </a:rPr>
              <a:t> No (distribution maintenance requires shutdown).</a:t>
            </a:r>
          </a:p>
          <a:p>
            <a:pPr>
              <a:spcAft>
                <a:spcPts val="600"/>
              </a:spcAft>
              <a:defRPr sz="1100">
                <a:solidFill>
                  <a:srgbClr val="475569"/>
                </a:solidFill>
                <a:latin typeface="Calibri"/>
              </a:defRPr>
            </a:pPr>
            <a:r>
              <a:rPr b="1">
                <a:solidFill>
                  <a:srgbClr val="0F172A"/>
                </a:solidFill>
              </a:rPr>
              <a:t>• Annual Downtime:</a:t>
            </a:r>
            <a:r>
              <a:rPr b="0">
                <a:solidFill>
                  <a:srgbClr val="475569"/>
                </a:solidFill>
              </a:rPr>
              <a:t> 22.0 hours (99.741% availability).</a:t>
            </a:r>
          </a:p>
          <a:p>
            <a:pPr>
              <a:spcAft>
                <a:spcPts val="600"/>
              </a:spcAft>
              <a:defRPr sz="1100">
                <a:solidFill>
                  <a:srgbClr val="475569"/>
                </a:solidFill>
                <a:latin typeface="Calibri"/>
              </a:defRPr>
            </a:pPr>
            <a:r>
              <a:rPr b="1">
                <a:solidFill>
                  <a:srgbClr val="0F172A"/>
                </a:solidFill>
              </a:rPr>
              <a:t>• Target:</a:t>
            </a:r>
            <a:r>
              <a:rPr b="0">
                <a:solidFill>
                  <a:srgbClr val="475569"/>
                </a:solidFill>
              </a:rPr>
              <a:t> Regional businesses.</a:t>
            </a:r>
          </a:p>
        </p:txBody>
      </p:sp>
      <p:sp>
        <p:nvSpPr>
          <p:cNvPr id="16" name="Rounded Rectangle 15"/>
          <p:cNvSpPr/>
          <p:nvPr/>
        </p:nvSpPr>
        <p:spPr>
          <a:xfrm>
            <a:off x="6089904" y="1280160"/>
            <a:ext cx="2606040" cy="4846320"/>
          </a:xfrm>
          <a:prstGeom prst="roundRect">
            <a:avLst/>
          </a:prstGeom>
          <a:solidFill>
            <a:srgbClr val="F8FAFC"/>
          </a:solidFill>
          <a:ln w="254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18504" y="1463040"/>
            <a:ext cx="2148840" cy="411480"/>
          </a:xfrm>
          <a:prstGeom prst="rect">
            <a:avLst/>
          </a:prstGeom>
          <a:noFill/>
        </p:spPr>
        <p:txBody>
          <a:bodyPr wrap="square">
            <a:spAutoFit/>
          </a:bodyPr>
          <a:lstStyle/>
          <a:p>
            <a:pPr>
              <a:defRPr sz="1400" b="1">
                <a:solidFill>
                  <a:srgbClr val="0F172A"/>
                </a:solidFill>
                <a:latin typeface="Calibri"/>
              </a:defRPr>
            </a:pPr>
            <a:r>
              <a:t>Tier III: Concurrently Maint.</a:t>
            </a:r>
          </a:p>
        </p:txBody>
      </p:sp>
      <p:sp>
        <p:nvSpPr>
          <p:cNvPr id="18" name="Rounded Rectangle 17"/>
          <p:cNvSpPr/>
          <p:nvPr/>
        </p:nvSpPr>
        <p:spPr>
          <a:xfrm>
            <a:off x="7324344" y="1463040"/>
            <a:ext cx="1188720" cy="22860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FFFFFF"/>
                </a:solidFill>
              </a:defRPr>
            </a:pPr>
            <a:r>
              <a:t>TIER III</a:t>
            </a:r>
          </a:p>
        </p:txBody>
      </p:sp>
      <p:sp>
        <p:nvSpPr>
          <p:cNvPr id="19" name="TextBox 18"/>
          <p:cNvSpPr txBox="1"/>
          <p:nvPr/>
        </p:nvSpPr>
        <p:spPr>
          <a:xfrm>
            <a:off x="6318504" y="1920240"/>
            <a:ext cx="2148840" cy="4069080"/>
          </a:xfrm>
          <a:prstGeom prst="rect">
            <a:avLst/>
          </a:prstGeom>
          <a:noFill/>
        </p:spPr>
        <p:txBody>
          <a:bodyPr wrap="square" tIns="0" lIns="0" rIns="0">
            <a:spAutoFit/>
          </a:bodyPr>
          <a:lstStyle/>
          <a:p>
            <a:pPr>
              <a:spcAft>
                <a:spcPts val="600"/>
              </a:spcAft>
              <a:defRPr sz="1100">
                <a:solidFill>
                  <a:srgbClr val="475569"/>
                </a:solidFill>
                <a:latin typeface="Calibri"/>
              </a:defRPr>
            </a:pPr>
            <a:r>
              <a:rPr b="1">
                <a:solidFill>
                  <a:srgbClr val="0F172A"/>
                </a:solidFill>
              </a:rPr>
              <a:t>• Paths:</a:t>
            </a:r>
            <a:r>
              <a:rPr b="0">
                <a:solidFill>
                  <a:srgbClr val="475569"/>
                </a:solidFill>
              </a:rPr>
              <a:t> Dual paths (1 active, 1 alternate standby).</a:t>
            </a:r>
          </a:p>
          <a:p>
            <a:pPr>
              <a:spcAft>
                <a:spcPts val="600"/>
              </a:spcAft>
              <a:defRPr sz="1100">
                <a:solidFill>
                  <a:srgbClr val="475569"/>
                </a:solidFill>
                <a:latin typeface="Calibri"/>
              </a:defRPr>
            </a:pPr>
            <a:r>
              <a:rPr b="1">
                <a:solidFill>
                  <a:srgbClr val="0F172A"/>
                </a:solidFill>
              </a:rPr>
              <a:t>• Redundancy:</a:t>
            </a:r>
            <a:r>
              <a:rPr b="0">
                <a:solidFill>
                  <a:srgbClr val="475569"/>
                </a:solidFill>
              </a:rPr>
              <a:t> N+1 components minimum.</a:t>
            </a:r>
          </a:p>
          <a:p>
            <a:pPr>
              <a:spcAft>
                <a:spcPts val="600"/>
              </a:spcAft>
              <a:defRPr sz="1100">
                <a:solidFill>
                  <a:srgbClr val="475569"/>
                </a:solidFill>
                <a:latin typeface="Calibri"/>
              </a:defRPr>
            </a:pPr>
            <a:r>
              <a:rPr b="1">
                <a:solidFill>
                  <a:srgbClr val="0F172A"/>
                </a:solidFill>
              </a:rPr>
              <a:t>• Concurrent Maintenance:</a:t>
            </a:r>
            <a:r>
              <a:rPr b="0">
                <a:solidFill>
                  <a:srgbClr val="475569"/>
                </a:solidFill>
              </a:rPr>
              <a:t> YES! Any component or path can be removed for maintenance without taking IT offline.</a:t>
            </a:r>
          </a:p>
          <a:p>
            <a:pPr>
              <a:spcAft>
                <a:spcPts val="600"/>
              </a:spcAft>
              <a:defRPr sz="1100">
                <a:solidFill>
                  <a:srgbClr val="475569"/>
                </a:solidFill>
                <a:latin typeface="Calibri"/>
              </a:defRPr>
            </a:pPr>
            <a:r>
              <a:rPr b="1">
                <a:solidFill>
                  <a:srgbClr val="0F172A"/>
                </a:solidFill>
              </a:rPr>
              <a:t>• Fault Tolerance:</a:t>
            </a:r>
            <a:r>
              <a:rPr b="0">
                <a:solidFill>
                  <a:srgbClr val="475569"/>
                </a:solidFill>
              </a:rPr>
              <a:t> Not fully fault tolerant against unplanned events.</a:t>
            </a:r>
          </a:p>
          <a:p>
            <a:pPr>
              <a:spcAft>
                <a:spcPts val="600"/>
              </a:spcAft>
              <a:defRPr sz="1100">
                <a:solidFill>
                  <a:srgbClr val="475569"/>
                </a:solidFill>
                <a:latin typeface="Calibri"/>
              </a:defRPr>
            </a:pPr>
            <a:r>
              <a:rPr b="1">
                <a:solidFill>
                  <a:srgbClr val="0F172A"/>
                </a:solidFill>
              </a:rPr>
              <a:t>• Annual Downtime:</a:t>
            </a:r>
            <a:r>
              <a:rPr b="0">
                <a:solidFill>
                  <a:srgbClr val="475569"/>
                </a:solidFill>
              </a:rPr>
              <a:t> 1.6 hours (99.982% availability).</a:t>
            </a:r>
          </a:p>
          <a:p>
            <a:pPr>
              <a:spcAft>
                <a:spcPts val="600"/>
              </a:spcAft>
              <a:defRPr sz="1100">
                <a:solidFill>
                  <a:srgbClr val="475569"/>
                </a:solidFill>
                <a:latin typeface="Calibri"/>
              </a:defRPr>
            </a:pPr>
            <a:r>
              <a:rPr b="1">
                <a:solidFill>
                  <a:srgbClr val="0F172A"/>
                </a:solidFill>
              </a:rPr>
              <a:t>• Target:</a:t>
            </a:r>
            <a:r>
              <a:rPr b="0">
                <a:solidFill>
                  <a:srgbClr val="475569"/>
                </a:solidFill>
              </a:rPr>
              <a:t> Enterprise &amp; Colocation.</a:t>
            </a:r>
          </a:p>
        </p:txBody>
      </p:sp>
      <p:sp>
        <p:nvSpPr>
          <p:cNvPr id="20" name="Rounded Rectangle 19"/>
          <p:cNvSpPr/>
          <p:nvPr/>
        </p:nvSpPr>
        <p:spPr>
          <a:xfrm>
            <a:off x="8860536" y="1280160"/>
            <a:ext cx="2606040" cy="4846320"/>
          </a:xfrm>
          <a:prstGeom prst="roundRect">
            <a:avLst/>
          </a:prstGeom>
          <a:solidFill>
            <a:srgbClr val="F8FAFC"/>
          </a:solidFill>
          <a:ln w="254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089136" y="1463040"/>
            <a:ext cx="2148840" cy="411480"/>
          </a:xfrm>
          <a:prstGeom prst="rect">
            <a:avLst/>
          </a:prstGeom>
          <a:noFill/>
        </p:spPr>
        <p:txBody>
          <a:bodyPr wrap="square">
            <a:spAutoFit/>
          </a:bodyPr>
          <a:lstStyle/>
          <a:p>
            <a:pPr>
              <a:defRPr sz="1400" b="1">
                <a:solidFill>
                  <a:srgbClr val="0F172A"/>
                </a:solidFill>
                <a:latin typeface="Calibri"/>
              </a:defRPr>
            </a:pPr>
            <a:r>
              <a:t>Tier IV: Fault Tolerant</a:t>
            </a:r>
          </a:p>
        </p:txBody>
      </p:sp>
      <p:sp>
        <p:nvSpPr>
          <p:cNvPr id="22" name="Rounded Rectangle 21"/>
          <p:cNvSpPr/>
          <p:nvPr/>
        </p:nvSpPr>
        <p:spPr>
          <a:xfrm>
            <a:off x="10094976" y="1463040"/>
            <a:ext cx="1188720" cy="228600"/>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FFFFFF"/>
                </a:solidFill>
              </a:defRPr>
            </a:pPr>
            <a:r>
              <a:t>TIER IV</a:t>
            </a:r>
          </a:p>
        </p:txBody>
      </p:sp>
      <p:sp>
        <p:nvSpPr>
          <p:cNvPr id="23" name="TextBox 22"/>
          <p:cNvSpPr txBox="1"/>
          <p:nvPr/>
        </p:nvSpPr>
        <p:spPr>
          <a:xfrm>
            <a:off x="9089136" y="1920240"/>
            <a:ext cx="2148840" cy="4069080"/>
          </a:xfrm>
          <a:prstGeom prst="rect">
            <a:avLst/>
          </a:prstGeom>
          <a:noFill/>
        </p:spPr>
        <p:txBody>
          <a:bodyPr wrap="square" tIns="0" lIns="0" rIns="0">
            <a:spAutoFit/>
          </a:bodyPr>
          <a:lstStyle/>
          <a:p>
            <a:pPr>
              <a:spcAft>
                <a:spcPts val="600"/>
              </a:spcAft>
              <a:defRPr sz="1100">
                <a:solidFill>
                  <a:srgbClr val="475569"/>
                </a:solidFill>
                <a:latin typeface="Calibri"/>
              </a:defRPr>
            </a:pPr>
            <a:r>
              <a:rPr b="1">
                <a:solidFill>
                  <a:srgbClr val="0F172A"/>
                </a:solidFill>
              </a:rPr>
              <a:t>• Paths:</a:t>
            </a:r>
            <a:r>
              <a:rPr b="0">
                <a:solidFill>
                  <a:srgbClr val="475569"/>
                </a:solidFill>
              </a:rPr>
              <a:t> 2N Dual active simultaneously energized paths (Feed A + Feed B).</a:t>
            </a:r>
          </a:p>
          <a:p>
            <a:pPr>
              <a:spcAft>
                <a:spcPts val="600"/>
              </a:spcAft>
              <a:defRPr sz="1100">
                <a:solidFill>
                  <a:srgbClr val="475569"/>
                </a:solidFill>
                <a:latin typeface="Calibri"/>
              </a:defRPr>
            </a:pPr>
            <a:r>
              <a:rPr b="1">
                <a:solidFill>
                  <a:srgbClr val="0F172A"/>
                </a:solidFill>
              </a:rPr>
              <a:t>• Redundancy:</a:t>
            </a:r>
            <a:r>
              <a:rPr b="0">
                <a:solidFill>
                  <a:srgbClr val="475569"/>
                </a:solidFill>
              </a:rPr>
              <a:t> 2(N+1) or 2N throughout.</a:t>
            </a:r>
          </a:p>
          <a:p>
            <a:pPr>
              <a:spcAft>
                <a:spcPts val="600"/>
              </a:spcAft>
              <a:defRPr sz="1100">
                <a:solidFill>
                  <a:srgbClr val="475569"/>
                </a:solidFill>
                <a:latin typeface="Calibri"/>
              </a:defRPr>
            </a:pPr>
            <a:r>
              <a:rPr b="1">
                <a:solidFill>
                  <a:srgbClr val="0F172A"/>
                </a:solidFill>
              </a:rPr>
              <a:t>• Fault Tolerance:</a:t>
            </a:r>
            <a:r>
              <a:rPr b="0">
                <a:solidFill>
                  <a:srgbClr val="475569"/>
                </a:solidFill>
              </a:rPr>
              <a:t> YES! System automatically absorbs ANY unplanned failure without IT impact.</a:t>
            </a:r>
          </a:p>
          <a:p>
            <a:pPr>
              <a:spcAft>
                <a:spcPts val="600"/>
              </a:spcAft>
              <a:defRPr sz="1100">
                <a:solidFill>
                  <a:srgbClr val="475569"/>
                </a:solidFill>
                <a:latin typeface="Calibri"/>
              </a:defRPr>
            </a:pPr>
            <a:r>
              <a:rPr b="1">
                <a:solidFill>
                  <a:srgbClr val="0F172A"/>
                </a:solidFill>
              </a:rPr>
              <a:t>• Compartmentalization:</a:t>
            </a:r>
            <a:r>
              <a:rPr b="0">
                <a:solidFill>
                  <a:srgbClr val="475569"/>
                </a:solidFill>
              </a:rPr>
              <a:t> Paths physically separated in fire-rated rooms.</a:t>
            </a:r>
          </a:p>
          <a:p>
            <a:pPr>
              <a:spcAft>
                <a:spcPts val="600"/>
              </a:spcAft>
              <a:defRPr sz="1100">
                <a:solidFill>
                  <a:srgbClr val="475569"/>
                </a:solidFill>
                <a:latin typeface="Calibri"/>
              </a:defRPr>
            </a:pPr>
            <a:r>
              <a:rPr b="1">
                <a:solidFill>
                  <a:srgbClr val="0F172A"/>
                </a:solidFill>
              </a:rPr>
              <a:t>• Annual Downtime:</a:t>
            </a:r>
            <a:r>
              <a:rPr b="0">
                <a:solidFill>
                  <a:srgbClr val="475569"/>
                </a:solidFill>
              </a:rPr>
              <a:t> 26.3 minutes (99.995% availability).</a:t>
            </a:r>
          </a:p>
          <a:p>
            <a:pPr>
              <a:spcAft>
                <a:spcPts val="600"/>
              </a:spcAft>
              <a:defRPr sz="1100">
                <a:solidFill>
                  <a:srgbClr val="475569"/>
                </a:solidFill>
                <a:latin typeface="Calibri"/>
              </a:defRPr>
            </a:pPr>
            <a:r>
              <a:rPr b="1">
                <a:solidFill>
                  <a:srgbClr val="0F172A"/>
                </a:solidFill>
              </a:rPr>
              <a:t>• Target:</a:t>
            </a:r>
            <a:r>
              <a:rPr b="0">
                <a:solidFill>
                  <a:srgbClr val="475569"/>
                </a:solidFill>
              </a:rPr>
              <a:t> Financial &amp; Mission-Critical.</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92240"/>
            <a:ext cx="12191695" cy="36576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510528"/>
            <a:ext cx="11094415" cy="320040"/>
          </a:xfrm>
          <a:prstGeom prst="rect">
            <a:avLst/>
          </a:prstGeom>
          <a:noFill/>
        </p:spPr>
        <p:txBody>
          <a:bodyPr wrap="square">
            <a:spAutoFit/>
          </a:bodyPr>
          <a:lstStyle/>
          <a:p>
            <a:pPr>
              <a:defRPr sz="1000">
                <a:solidFill>
                  <a:srgbClr val="94A3B8"/>
                </a:solidFill>
                <a:latin typeface="Calibri"/>
              </a:defRPr>
            </a:pPr>
            <a:r>
              <a:t>M.Tech CSE · Data Centre Systems Engineering | Unit 2: Electrical Infrastructure Engineering | Slide 17 of 22</a:t>
            </a:r>
          </a:p>
        </p:txBody>
      </p:sp>
      <p:sp>
        <p:nvSpPr>
          <p:cNvPr id="5" name="Rounded Rectangle 4"/>
          <p:cNvSpPr/>
          <p:nvPr/>
        </p:nvSpPr>
        <p:spPr>
          <a:xfrm>
            <a:off x="548640" y="164592"/>
            <a:ext cx="2011680" cy="256032"/>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950" b="1">
                <a:solidFill>
                  <a:srgbClr val="FFFFFF"/>
                </a:solidFill>
                <a:latin typeface="Calibri"/>
              </a:defRPr>
            </a:pPr>
            <a:r>
              <a:t>SOLVED NUMERICAL</a:t>
            </a:r>
          </a:p>
        </p:txBody>
      </p:sp>
      <p:sp>
        <p:nvSpPr>
          <p:cNvPr id="6" name="TextBox 5"/>
          <p:cNvSpPr txBox="1"/>
          <p:nvPr/>
        </p:nvSpPr>
        <p:spPr>
          <a:xfrm>
            <a:off x="548640" y="438912"/>
            <a:ext cx="9601200" cy="502920"/>
          </a:xfrm>
          <a:prstGeom prst="rect">
            <a:avLst/>
          </a:prstGeom>
          <a:noFill/>
        </p:spPr>
        <p:txBody>
          <a:bodyPr wrap="square">
            <a:spAutoFit/>
          </a:bodyPr>
          <a:lstStyle/>
          <a:p>
            <a:pPr>
              <a:defRPr sz="2000" b="1">
                <a:solidFill>
                  <a:srgbClr val="FFFFFF"/>
                </a:solidFill>
                <a:latin typeface="Calibri"/>
              </a:defRPr>
            </a:pPr>
            <a:r>
              <a:t>Exam Numerical 1: UPS &amp; Battery Bank Sizing Problem</a:t>
            </a:r>
          </a:p>
          <a:p>
            <a:pPr>
              <a:defRPr sz="1100">
                <a:solidFill>
                  <a:srgbClr val="94A3B8"/>
                </a:solidFill>
                <a:latin typeface="Calibri"/>
              </a:defRPr>
            </a:pPr>
            <a:r>
              <a:t>Step-by-step mathematical calculation typical of a 10-15 mark university examination problem</a:t>
            </a:r>
          </a:p>
        </p:txBody>
      </p:sp>
      <p:sp>
        <p:nvSpPr>
          <p:cNvPr id="7" name="Rounded Rectangle 6"/>
          <p:cNvSpPr/>
          <p:nvPr/>
        </p:nvSpPr>
        <p:spPr>
          <a:xfrm>
            <a:off x="11064240" y="228600"/>
            <a:ext cx="640080" cy="292608"/>
          </a:xfrm>
          <a:prstGeom prst="roundRect">
            <a:avLst/>
          </a:prstGeom>
          <a:solidFill>
            <a:srgbClr val="1E293B"/>
          </a:solidFill>
          <a:ln w="12700">
            <a:solidFill>
              <a:srgbClr val="47556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17</a:t>
            </a:r>
          </a:p>
        </p:txBody>
      </p:sp>
      <p:sp>
        <p:nvSpPr>
          <p:cNvPr id="8" name="Rounded Rectangle 7"/>
          <p:cNvSpPr/>
          <p:nvPr/>
        </p:nvSpPr>
        <p:spPr>
          <a:xfrm>
            <a:off x="548640" y="1280160"/>
            <a:ext cx="11094415" cy="4846320"/>
          </a:xfrm>
          <a:prstGeom prst="roundRect">
            <a:avLst/>
          </a:prstGeom>
          <a:solidFill>
            <a:srgbClr val="F8FAFC"/>
          </a:solidFill>
          <a:ln w="254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463040"/>
            <a:ext cx="10637215" cy="411480"/>
          </a:xfrm>
          <a:prstGeom prst="rect">
            <a:avLst/>
          </a:prstGeom>
          <a:noFill/>
        </p:spPr>
        <p:txBody>
          <a:bodyPr wrap="square">
            <a:spAutoFit/>
          </a:bodyPr>
          <a:lstStyle/>
          <a:p>
            <a:pPr>
              <a:defRPr sz="1400" b="1">
                <a:solidFill>
                  <a:srgbClr val="0F172A"/>
                </a:solidFill>
                <a:latin typeface="Calibri"/>
              </a:defRPr>
            </a:pPr>
            <a:r>
              <a:t>Numerical Problem &amp; Step-by-Step Solution</a:t>
            </a:r>
          </a:p>
        </p:txBody>
      </p:sp>
      <p:sp>
        <p:nvSpPr>
          <p:cNvPr id="10" name="Rounded Rectangle 9"/>
          <p:cNvSpPr/>
          <p:nvPr/>
        </p:nvSpPr>
        <p:spPr>
          <a:xfrm>
            <a:off x="10271455" y="1463040"/>
            <a:ext cx="1188720" cy="22860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FFFFFF"/>
                </a:solidFill>
              </a:defRPr>
            </a:pPr>
            <a:r>
              <a:t>10-MARK EXAM PROBLEM</a:t>
            </a:r>
          </a:p>
        </p:txBody>
      </p:sp>
      <p:sp>
        <p:nvSpPr>
          <p:cNvPr id="11" name="TextBox 10"/>
          <p:cNvSpPr txBox="1"/>
          <p:nvPr/>
        </p:nvSpPr>
        <p:spPr>
          <a:xfrm>
            <a:off x="777240" y="1920240"/>
            <a:ext cx="10637215" cy="4069080"/>
          </a:xfrm>
          <a:prstGeom prst="rect">
            <a:avLst/>
          </a:prstGeom>
          <a:noFill/>
        </p:spPr>
        <p:txBody>
          <a:bodyPr wrap="square" tIns="0" lIns="0" rIns="0">
            <a:spAutoFit/>
          </a:bodyPr>
          <a:lstStyle/>
          <a:p>
            <a:pPr>
              <a:spcAft>
                <a:spcPts val="600"/>
              </a:spcAft>
              <a:defRPr sz="1100">
                <a:solidFill>
                  <a:srgbClr val="475569"/>
                </a:solidFill>
                <a:latin typeface="Calibri"/>
              </a:defRPr>
            </a:pPr>
            <a:r>
              <a:rPr b="1">
                <a:solidFill>
                  <a:srgbClr val="0F172A"/>
                </a:solidFill>
              </a:rPr>
              <a:t>• Problem Statement:</a:t>
            </a:r>
            <a:r>
              <a:rPr b="0">
                <a:solidFill>
                  <a:srgbClr val="475569"/>
                </a:solidFill>
              </a:rPr>
              <a:t> A Tier-III Data Centre has an IT white space load of 600 kW with an average Power Factor of 0.95. The facility uses an Online Double Conversion UPS with 95% inverter efficiency. Sizing guidelines mandate that UPS operational load should not exceed 75% of rated capacity under normal operation. The battery system must provide 15 minutes autonomy at full load with 400V DC bus voltage. Calculate: (a) Total IT Apparent Power in kVA, (b) Minimum UPS Rating required in kVA, (c) Battery Bank Ampere-Hour (Ah) capacity required.</a:t>
            </a:r>
          </a:p>
          <a:p>
            <a:pPr>
              <a:spcAft>
                <a:spcPts val="600"/>
              </a:spcAft>
              <a:defRPr sz="1100">
                <a:solidFill>
                  <a:srgbClr val="475569"/>
                </a:solidFill>
                <a:latin typeface="Calibri"/>
              </a:defRPr>
            </a:pPr>
            <a:r>
              <a:rPr b="1">
                <a:solidFill>
                  <a:srgbClr val="0F172A"/>
                </a:solidFill>
              </a:rPr>
              <a:t>• Part (a) - IT Apparent Power Calculation:</a:t>
            </a:r>
            <a:r>
              <a:rPr b="0">
                <a:solidFill>
                  <a:srgbClr val="475569"/>
                </a:solidFill>
              </a:rPr>
              <a:t>
  Formula: S_IT = P_IT / PF = 600 kW / 0.95 = 631.58 kVA.</a:t>
            </a:r>
          </a:p>
          <a:p>
            <a:pPr>
              <a:spcAft>
                <a:spcPts val="600"/>
              </a:spcAft>
              <a:defRPr sz="1100">
                <a:solidFill>
                  <a:srgbClr val="475569"/>
                </a:solidFill>
                <a:latin typeface="Calibri"/>
              </a:defRPr>
            </a:pPr>
            <a:r>
              <a:rPr b="1">
                <a:solidFill>
                  <a:srgbClr val="0F172A"/>
                </a:solidFill>
              </a:rPr>
              <a:t>• Part (b) - UPS Sizing Calculation:</a:t>
            </a:r>
            <a:r>
              <a:rPr b="0">
                <a:solidFill>
                  <a:srgbClr val="475569"/>
                </a:solidFill>
              </a:rPr>
              <a:t>
  Accounting for 95% inverter efficiency: P_DC_input = 600 kW / 0.95 = 631.58 kW.
  Applying 75% operational cap factor: S_UPS_minimum = 631.58 kVA / 0.75 = 842.1 kVA.
  Design Recommendation: Select two 500 kVA UPS units in an N+1 parallel redundant configuration (Total capacity = 1000 kVA; normal load per unit = 42.1%, well within the 75% threshold).</a:t>
            </a:r>
          </a:p>
          <a:p>
            <a:pPr>
              <a:spcAft>
                <a:spcPts val="600"/>
              </a:spcAft>
              <a:defRPr sz="1100">
                <a:solidFill>
                  <a:srgbClr val="475569"/>
                </a:solidFill>
                <a:latin typeface="Calibri"/>
              </a:defRPr>
            </a:pPr>
            <a:r>
              <a:rPr b="1">
                <a:solidFill>
                  <a:srgbClr val="0F172A"/>
                </a:solidFill>
              </a:rPr>
              <a:t>• Part (c) - Battery Bank Ah Capacity Calculation:</a:t>
            </a:r>
            <a:r>
              <a:rPr b="0">
                <a:solidFill>
                  <a:srgbClr val="475569"/>
                </a:solidFill>
              </a:rPr>
              <a:t>
  DC Input Power required from battery: P_battery = 631.58 kW = 631,580 Watts.
  Discharge Current (I_dc): I_dc = P_battery / V_DC_bus = 631,580 W / 400 V = 1578.95 Amperes.
  Battery Energy Required for 15 minutes (0.25 hours): Energy = 1578.95 A × 0.25 h = 394.74 Ah.
  Applying 1.25 Aging &amp; Temperature Derating factor: Required Battery Capacity = 394.74 Ah × 1.25 = 493.4 Ah.
  Exam Conclusion: Specify a 400V DC Battery Bank with minimum 500 Ah rating (or two parallel strings of 250 Ah cells).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92240"/>
            <a:ext cx="12191695" cy="36576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510528"/>
            <a:ext cx="11094415" cy="320040"/>
          </a:xfrm>
          <a:prstGeom prst="rect">
            <a:avLst/>
          </a:prstGeom>
          <a:noFill/>
        </p:spPr>
        <p:txBody>
          <a:bodyPr wrap="square">
            <a:spAutoFit/>
          </a:bodyPr>
          <a:lstStyle/>
          <a:p>
            <a:pPr>
              <a:defRPr sz="1000">
                <a:solidFill>
                  <a:srgbClr val="94A3B8"/>
                </a:solidFill>
                <a:latin typeface="Calibri"/>
              </a:defRPr>
            </a:pPr>
            <a:r>
              <a:t>M.Tech CSE · Data Centre Systems Engineering | Unit 2: Electrical Infrastructure Engineering | Slide 18 of 22</a:t>
            </a:r>
          </a:p>
        </p:txBody>
      </p:sp>
      <p:sp>
        <p:nvSpPr>
          <p:cNvPr id="5" name="Rounded Rectangle 4"/>
          <p:cNvSpPr/>
          <p:nvPr/>
        </p:nvSpPr>
        <p:spPr>
          <a:xfrm>
            <a:off x="548640" y="164592"/>
            <a:ext cx="2011680" cy="256032"/>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950" b="1">
                <a:solidFill>
                  <a:srgbClr val="FFFFFF"/>
                </a:solidFill>
                <a:latin typeface="Calibri"/>
              </a:defRPr>
            </a:pPr>
            <a:r>
              <a:t>SOLVED NUMERICAL</a:t>
            </a:r>
          </a:p>
        </p:txBody>
      </p:sp>
      <p:sp>
        <p:nvSpPr>
          <p:cNvPr id="6" name="TextBox 5"/>
          <p:cNvSpPr txBox="1"/>
          <p:nvPr/>
        </p:nvSpPr>
        <p:spPr>
          <a:xfrm>
            <a:off x="548640" y="438912"/>
            <a:ext cx="9601200" cy="502920"/>
          </a:xfrm>
          <a:prstGeom prst="rect">
            <a:avLst/>
          </a:prstGeom>
          <a:noFill/>
        </p:spPr>
        <p:txBody>
          <a:bodyPr wrap="square">
            <a:spAutoFit/>
          </a:bodyPr>
          <a:lstStyle/>
          <a:p>
            <a:pPr>
              <a:defRPr sz="2000" b="1">
                <a:solidFill>
                  <a:srgbClr val="FFFFFF"/>
                </a:solidFill>
                <a:latin typeface="Calibri"/>
              </a:defRPr>
            </a:pPr>
            <a:r>
              <a:t>Exam Numerical 2: Total Facility Power &amp; PUE Sizing</a:t>
            </a:r>
          </a:p>
          <a:p>
            <a:pPr>
              <a:defRPr sz="1100">
                <a:solidFill>
                  <a:srgbClr val="94A3B8"/>
                </a:solidFill>
                <a:latin typeface="Calibri"/>
              </a:defRPr>
            </a:pPr>
            <a:r>
              <a:t>Comprehensive power budgeting and generator sizing for enterprise data centres</a:t>
            </a:r>
          </a:p>
        </p:txBody>
      </p:sp>
      <p:sp>
        <p:nvSpPr>
          <p:cNvPr id="7" name="Rounded Rectangle 6"/>
          <p:cNvSpPr/>
          <p:nvPr/>
        </p:nvSpPr>
        <p:spPr>
          <a:xfrm>
            <a:off x="11064240" y="228600"/>
            <a:ext cx="640080" cy="292608"/>
          </a:xfrm>
          <a:prstGeom prst="roundRect">
            <a:avLst/>
          </a:prstGeom>
          <a:solidFill>
            <a:srgbClr val="1E293B"/>
          </a:solidFill>
          <a:ln w="12700">
            <a:solidFill>
              <a:srgbClr val="47556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18</a:t>
            </a:r>
          </a:p>
        </p:txBody>
      </p:sp>
      <p:sp>
        <p:nvSpPr>
          <p:cNvPr id="8" name="Rounded Rectangle 7"/>
          <p:cNvSpPr/>
          <p:nvPr/>
        </p:nvSpPr>
        <p:spPr>
          <a:xfrm>
            <a:off x="548640" y="1280160"/>
            <a:ext cx="11094415" cy="4846320"/>
          </a:xfrm>
          <a:prstGeom prst="roundRect">
            <a:avLst/>
          </a:prstGeom>
          <a:solidFill>
            <a:srgbClr val="F8FAFC"/>
          </a:solidFill>
          <a:ln w="254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463040"/>
            <a:ext cx="10637215" cy="411480"/>
          </a:xfrm>
          <a:prstGeom prst="rect">
            <a:avLst/>
          </a:prstGeom>
          <a:noFill/>
        </p:spPr>
        <p:txBody>
          <a:bodyPr wrap="square">
            <a:spAutoFit/>
          </a:bodyPr>
          <a:lstStyle/>
          <a:p>
            <a:pPr>
              <a:defRPr sz="1400" b="1">
                <a:solidFill>
                  <a:srgbClr val="0F172A"/>
                </a:solidFill>
                <a:latin typeface="Calibri"/>
              </a:defRPr>
            </a:pPr>
            <a:r>
              <a:t>Numerical Problem &amp; Step-by-Step Solution</a:t>
            </a:r>
          </a:p>
        </p:txBody>
      </p:sp>
      <p:sp>
        <p:nvSpPr>
          <p:cNvPr id="10" name="Rounded Rectangle 9"/>
          <p:cNvSpPr/>
          <p:nvPr/>
        </p:nvSpPr>
        <p:spPr>
          <a:xfrm>
            <a:off x="10271455" y="1463040"/>
            <a:ext cx="1188720" cy="228600"/>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FFFFFF"/>
                </a:solidFill>
              </a:defRPr>
            </a:pPr>
            <a:r>
              <a:t>10-MARK EXAM PROBLEM</a:t>
            </a:r>
          </a:p>
        </p:txBody>
      </p:sp>
      <p:sp>
        <p:nvSpPr>
          <p:cNvPr id="11" name="TextBox 10"/>
          <p:cNvSpPr txBox="1"/>
          <p:nvPr/>
        </p:nvSpPr>
        <p:spPr>
          <a:xfrm>
            <a:off x="777240" y="1920240"/>
            <a:ext cx="10637215" cy="4069080"/>
          </a:xfrm>
          <a:prstGeom prst="rect">
            <a:avLst/>
          </a:prstGeom>
          <a:noFill/>
        </p:spPr>
        <p:txBody>
          <a:bodyPr wrap="square" tIns="0" lIns="0" rIns="0">
            <a:spAutoFit/>
          </a:bodyPr>
          <a:lstStyle/>
          <a:p>
            <a:pPr>
              <a:spcAft>
                <a:spcPts val="600"/>
              </a:spcAft>
              <a:defRPr sz="1100">
                <a:solidFill>
                  <a:srgbClr val="475569"/>
                </a:solidFill>
                <a:latin typeface="Calibri"/>
              </a:defRPr>
            </a:pPr>
            <a:r>
              <a:rPr b="1">
                <a:solidFill>
                  <a:srgbClr val="0F172A"/>
                </a:solidFill>
              </a:rPr>
              <a:t>• Problem Statement:</a:t>
            </a:r>
            <a:r>
              <a:rPr b="0">
                <a:solidFill>
                  <a:srgbClr val="475569"/>
                </a:solidFill>
              </a:rPr>
              <a:t> A cloud data centre hosts 200 server racks with an average density of 5 kW per rack. The facility operates at a design PUE of 1.35. The mechanical cooling system accounts for 75% of the total non-IT overhead energy, while electrical distribution losses and lighting account for the remaining 25%. Calculate: (a) Total IT Load in kW, (b) Total Facility Load in kW, (c) Cooling Power Consumption in kW, (d) Minimum Transformer Sizing (kVA) with 20% safety margin and 0.92 facility power factor, (e) DCiE percentage.</a:t>
            </a:r>
          </a:p>
          <a:p>
            <a:pPr>
              <a:spcAft>
                <a:spcPts val="600"/>
              </a:spcAft>
              <a:defRPr sz="1100">
                <a:solidFill>
                  <a:srgbClr val="475569"/>
                </a:solidFill>
                <a:latin typeface="Calibri"/>
              </a:defRPr>
            </a:pPr>
            <a:r>
              <a:rPr b="1">
                <a:solidFill>
                  <a:srgbClr val="0F172A"/>
                </a:solidFill>
              </a:rPr>
              <a:t>• Part (a) - Total IT Load:</a:t>
            </a:r>
            <a:r>
              <a:rPr b="0">
                <a:solidFill>
                  <a:srgbClr val="475569"/>
                </a:solidFill>
              </a:rPr>
              <a:t>
  P_IT = 200 racks × 5 kW/rack = 1,000 kW (1.0 MW).</a:t>
            </a:r>
          </a:p>
          <a:p>
            <a:pPr>
              <a:spcAft>
                <a:spcPts val="600"/>
              </a:spcAft>
              <a:defRPr sz="1100">
                <a:solidFill>
                  <a:srgbClr val="475569"/>
                </a:solidFill>
                <a:latin typeface="Calibri"/>
              </a:defRPr>
            </a:pPr>
            <a:r>
              <a:rPr b="1">
                <a:solidFill>
                  <a:srgbClr val="0F172A"/>
                </a:solidFill>
              </a:rPr>
              <a:t>• Part (b) - Total Facility Load:</a:t>
            </a:r>
            <a:r>
              <a:rPr b="0">
                <a:solidFill>
                  <a:srgbClr val="475569"/>
                </a:solidFill>
              </a:rPr>
              <a:t>
  Formula: Total Facility Load = P_IT × PUE
  Total Facility Load = 1,000 kW × 1.35 = 1,350 kW (1.35 MW).</a:t>
            </a:r>
          </a:p>
          <a:p>
            <a:pPr>
              <a:spcAft>
                <a:spcPts val="600"/>
              </a:spcAft>
              <a:defRPr sz="1100">
                <a:solidFill>
                  <a:srgbClr val="475569"/>
                </a:solidFill>
                <a:latin typeface="Calibri"/>
              </a:defRPr>
            </a:pPr>
            <a:r>
              <a:rPr b="1">
                <a:solidFill>
                  <a:srgbClr val="0F172A"/>
                </a:solidFill>
              </a:rPr>
              <a:t>• Part (c) - Overhead &amp; Cooling Power:</a:t>
            </a:r>
            <a:r>
              <a:rPr b="0">
                <a:solidFill>
                  <a:srgbClr val="475569"/>
                </a:solidFill>
              </a:rPr>
              <a:t>
  Total Overhead Loss = Total Facility Load - P_IT = 1,350 kW - 1,000 kW = 350 kW.
  Cooling Power = 75% of Overhead = 0.75 × 350 kW = 262.5 kW.
  Electrical Losses &amp; Lighting = 25% of Overhead = 0.25 × 350 kW = 87.5 kW.</a:t>
            </a:r>
          </a:p>
          <a:p>
            <a:pPr>
              <a:spcAft>
                <a:spcPts val="600"/>
              </a:spcAft>
              <a:defRPr sz="1100">
                <a:solidFill>
                  <a:srgbClr val="475569"/>
                </a:solidFill>
                <a:latin typeface="Calibri"/>
              </a:defRPr>
            </a:pPr>
            <a:r>
              <a:rPr b="1">
                <a:solidFill>
                  <a:srgbClr val="0F172A"/>
                </a:solidFill>
              </a:rPr>
              <a:t>• Part (d) - Transformer Sizing in kVA:</a:t>
            </a:r>
            <a:r>
              <a:rPr b="0">
                <a:solidFill>
                  <a:srgbClr val="475569"/>
                </a:solidFill>
              </a:rPr>
              <a:t>
  Facility Apparent Power = Total Facility kW / Facility PF = 1,350 kW / 0.92 = 1,467.39 kVA.
  Applying 20% safety &amp; future growth factor: S_Tx = 1,467.39 kVA × 1.20 = 1,760.87 kVA.
  Standard Engineering Selection: Select 2,000 kVA (2 MVA) Cast Resin Dry-Type Transformer. In Tier III/IV 2N configuration: Install two 2,000 kVA transformers (Path A &amp; Path B).</a:t>
            </a:r>
          </a:p>
          <a:p>
            <a:pPr>
              <a:spcAft>
                <a:spcPts val="600"/>
              </a:spcAft>
              <a:defRPr sz="1100">
                <a:solidFill>
                  <a:srgbClr val="475569"/>
                </a:solidFill>
                <a:latin typeface="Calibri"/>
              </a:defRPr>
            </a:pPr>
            <a:r>
              <a:rPr b="1">
                <a:solidFill>
                  <a:srgbClr val="0F172A"/>
                </a:solidFill>
              </a:rPr>
              <a:t>• Part (e) - Data Centre Infrastructure Efficiency (DCiE):</a:t>
            </a:r>
            <a:r>
              <a:rPr b="0">
                <a:solidFill>
                  <a:srgbClr val="475569"/>
                </a:solidFill>
              </a:rPr>
              <a:t>
  DCiE = (1 / PUE) × 100% = (1 / 1.35) × 100% = 74.07%.</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92240"/>
            <a:ext cx="12191695" cy="36576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510528"/>
            <a:ext cx="11094415" cy="320040"/>
          </a:xfrm>
          <a:prstGeom prst="rect">
            <a:avLst/>
          </a:prstGeom>
          <a:noFill/>
        </p:spPr>
        <p:txBody>
          <a:bodyPr wrap="square">
            <a:spAutoFit/>
          </a:bodyPr>
          <a:lstStyle/>
          <a:p>
            <a:pPr>
              <a:defRPr sz="1000">
                <a:solidFill>
                  <a:srgbClr val="94A3B8"/>
                </a:solidFill>
                <a:latin typeface="Calibri"/>
              </a:defRPr>
            </a:pPr>
            <a:r>
              <a:t>M.Tech CSE · Data Centre Systems Engineering | Unit 2: Electrical Infrastructure Engineering | Slide 19 of 22</a:t>
            </a:r>
          </a:p>
        </p:txBody>
      </p:sp>
      <p:sp>
        <p:nvSpPr>
          <p:cNvPr id="5" name="Rounded Rectangle 4"/>
          <p:cNvSpPr/>
          <p:nvPr/>
        </p:nvSpPr>
        <p:spPr>
          <a:xfrm>
            <a:off x="548640" y="164592"/>
            <a:ext cx="2011680" cy="256032"/>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950" b="1">
                <a:solidFill>
                  <a:srgbClr val="FFFFFF"/>
                </a:solidFill>
                <a:latin typeface="Calibri"/>
              </a:defRPr>
            </a:pPr>
            <a:r>
              <a:t>EXAM REVISION</a:t>
            </a:r>
          </a:p>
        </p:txBody>
      </p:sp>
      <p:sp>
        <p:nvSpPr>
          <p:cNvPr id="6" name="TextBox 5"/>
          <p:cNvSpPr txBox="1"/>
          <p:nvPr/>
        </p:nvSpPr>
        <p:spPr>
          <a:xfrm>
            <a:off x="548640" y="438912"/>
            <a:ext cx="9601200" cy="502920"/>
          </a:xfrm>
          <a:prstGeom prst="rect">
            <a:avLst/>
          </a:prstGeom>
          <a:noFill/>
        </p:spPr>
        <p:txBody>
          <a:bodyPr wrap="square">
            <a:spAutoFit/>
          </a:bodyPr>
          <a:lstStyle/>
          <a:p>
            <a:pPr>
              <a:defRPr sz="2000" b="1">
                <a:solidFill>
                  <a:srgbClr val="FFFFFF"/>
                </a:solidFill>
                <a:latin typeface="Calibri"/>
              </a:defRPr>
            </a:pPr>
            <a:r>
              <a:t>High-Yield Comparison Tables for Rapid Exam Revision</a:t>
            </a:r>
          </a:p>
          <a:p>
            <a:pPr>
              <a:defRPr sz="1100">
                <a:solidFill>
                  <a:srgbClr val="94A3B8"/>
                </a:solidFill>
                <a:latin typeface="Calibri"/>
              </a:defRPr>
            </a:pPr>
            <a:r>
              <a:t>Key distinction tables frequently asked in 5-mark short note questions</a:t>
            </a:r>
          </a:p>
        </p:txBody>
      </p:sp>
      <p:sp>
        <p:nvSpPr>
          <p:cNvPr id="7" name="Rounded Rectangle 6"/>
          <p:cNvSpPr/>
          <p:nvPr/>
        </p:nvSpPr>
        <p:spPr>
          <a:xfrm>
            <a:off x="11064240" y="228600"/>
            <a:ext cx="640080" cy="292608"/>
          </a:xfrm>
          <a:prstGeom prst="roundRect">
            <a:avLst/>
          </a:prstGeom>
          <a:solidFill>
            <a:srgbClr val="1E293B"/>
          </a:solidFill>
          <a:ln w="12700">
            <a:solidFill>
              <a:srgbClr val="47556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19</a:t>
            </a:r>
          </a:p>
        </p:txBody>
      </p:sp>
      <p:sp>
        <p:nvSpPr>
          <p:cNvPr id="8" name="Rounded Rectangle 7"/>
          <p:cNvSpPr/>
          <p:nvPr/>
        </p:nvSpPr>
        <p:spPr>
          <a:xfrm>
            <a:off x="548640" y="1280160"/>
            <a:ext cx="5349240" cy="484632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463040"/>
            <a:ext cx="4892040" cy="411480"/>
          </a:xfrm>
          <a:prstGeom prst="rect">
            <a:avLst/>
          </a:prstGeom>
          <a:noFill/>
        </p:spPr>
        <p:txBody>
          <a:bodyPr wrap="square">
            <a:spAutoFit/>
          </a:bodyPr>
          <a:lstStyle/>
          <a:p>
            <a:pPr>
              <a:defRPr sz="1400" b="1">
                <a:solidFill>
                  <a:srgbClr val="0F172A"/>
                </a:solidFill>
                <a:latin typeface="Calibri"/>
              </a:defRPr>
            </a:pPr>
            <a:r>
              <a:t>ATS vs. STS Comparison (5 Marks)</a:t>
            </a:r>
          </a:p>
        </p:txBody>
      </p:sp>
      <p:sp>
        <p:nvSpPr>
          <p:cNvPr id="10" name="Rounded Rectangle 9"/>
          <p:cNvSpPr/>
          <p:nvPr/>
        </p:nvSpPr>
        <p:spPr>
          <a:xfrm>
            <a:off x="4526280" y="1463040"/>
            <a:ext cx="1188720" cy="22860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FFFFFF"/>
                </a:solidFill>
              </a:defRPr>
            </a:pPr>
            <a:r>
              <a:t>ATS VS STS</a:t>
            </a:r>
          </a:p>
        </p:txBody>
      </p:sp>
      <p:sp>
        <p:nvSpPr>
          <p:cNvPr id="11" name="TextBox 10"/>
          <p:cNvSpPr txBox="1"/>
          <p:nvPr/>
        </p:nvSpPr>
        <p:spPr>
          <a:xfrm>
            <a:off x="777240" y="1920240"/>
            <a:ext cx="4892040" cy="4069080"/>
          </a:xfrm>
          <a:prstGeom prst="rect">
            <a:avLst/>
          </a:prstGeom>
          <a:noFill/>
        </p:spPr>
        <p:txBody>
          <a:bodyPr wrap="square" tIns="0" lIns="0" rIns="0">
            <a:spAutoFit/>
          </a:bodyPr>
          <a:lstStyle/>
          <a:p>
            <a:pPr>
              <a:spcAft>
                <a:spcPts val="600"/>
              </a:spcAft>
              <a:defRPr sz="1100">
                <a:solidFill>
                  <a:srgbClr val="475569"/>
                </a:solidFill>
                <a:latin typeface="Calibri"/>
              </a:defRPr>
            </a:pPr>
            <a:r>
              <a:t>• Feature / ATS / STS</a:t>
            </a:r>
          </a:p>
          <a:p>
            <a:pPr>
              <a:spcAft>
                <a:spcPts val="600"/>
              </a:spcAft>
              <a:defRPr sz="1100">
                <a:solidFill>
                  <a:srgbClr val="475569"/>
                </a:solidFill>
                <a:latin typeface="Calibri"/>
              </a:defRPr>
            </a:pPr>
            <a:r>
              <a:rPr b="1">
                <a:solidFill>
                  <a:srgbClr val="0F172A"/>
                </a:solidFill>
              </a:rPr>
              <a:t>• Switching Mechanism:</a:t>
            </a:r>
            <a:r>
              <a:rPr b="0">
                <a:solidFill>
                  <a:srgbClr val="475569"/>
                </a:solidFill>
              </a:rPr>
              <a:t> Electromechanical contactor vs Solid-state SCR thyristor.</a:t>
            </a:r>
          </a:p>
          <a:p>
            <a:pPr>
              <a:spcAft>
                <a:spcPts val="600"/>
              </a:spcAft>
              <a:defRPr sz="1100">
                <a:solidFill>
                  <a:srgbClr val="475569"/>
                </a:solidFill>
                <a:latin typeface="Calibri"/>
              </a:defRPr>
            </a:pPr>
            <a:r>
              <a:rPr b="1">
                <a:solidFill>
                  <a:srgbClr val="0F172A"/>
                </a:solidFill>
              </a:rPr>
              <a:t>• Transfer Time:</a:t>
            </a:r>
            <a:r>
              <a:rPr b="0">
                <a:solidFill>
                  <a:srgbClr val="475569"/>
                </a:solidFill>
              </a:rPr>
              <a:t> 50 ms to 100 ms (break-before-make) vs 2 ms to 4 ms (sub-cycle).</a:t>
            </a:r>
          </a:p>
          <a:p>
            <a:pPr>
              <a:spcAft>
                <a:spcPts val="600"/>
              </a:spcAft>
              <a:defRPr sz="1100">
                <a:solidFill>
                  <a:srgbClr val="475569"/>
                </a:solidFill>
                <a:latin typeface="Calibri"/>
              </a:defRPr>
            </a:pPr>
            <a:r>
              <a:rPr b="1">
                <a:solidFill>
                  <a:srgbClr val="0F172A"/>
                </a:solidFill>
              </a:rPr>
              <a:t>• Server Impact:</a:t>
            </a:r>
            <a:r>
              <a:rPr b="0">
                <a:solidFill>
                  <a:srgbClr val="475569"/>
                </a:solidFill>
              </a:rPr>
              <a:t> Causes server reboots without UPS vs completely seamless (&lt; 16ms ITIC curve).</a:t>
            </a:r>
          </a:p>
          <a:p>
            <a:pPr>
              <a:spcAft>
                <a:spcPts val="600"/>
              </a:spcAft>
              <a:defRPr sz="1100">
                <a:solidFill>
                  <a:srgbClr val="475569"/>
                </a:solidFill>
                <a:latin typeface="Calibri"/>
              </a:defRPr>
            </a:pPr>
            <a:r>
              <a:rPr b="1">
                <a:solidFill>
                  <a:srgbClr val="0F172A"/>
                </a:solidFill>
              </a:rPr>
              <a:t>• Mechanical Wear:</a:t>
            </a:r>
            <a:r>
              <a:rPr b="0">
                <a:solidFill>
                  <a:srgbClr val="475569"/>
                </a:solidFill>
              </a:rPr>
              <a:t> Contacts degrade over time vs zero moving parts (infinite cycles).</a:t>
            </a:r>
          </a:p>
          <a:p>
            <a:pPr>
              <a:spcAft>
                <a:spcPts val="600"/>
              </a:spcAft>
              <a:defRPr sz="1100">
                <a:solidFill>
                  <a:srgbClr val="475569"/>
                </a:solidFill>
                <a:latin typeface="Calibri"/>
              </a:defRPr>
            </a:pPr>
            <a:r>
              <a:rPr b="1">
                <a:solidFill>
                  <a:srgbClr val="0F172A"/>
                </a:solidFill>
              </a:rPr>
              <a:t>• Heat Dissipation:</a:t>
            </a:r>
            <a:r>
              <a:rPr b="0">
                <a:solidFill>
                  <a:srgbClr val="475569"/>
                </a:solidFill>
              </a:rPr>
              <a:t> Negligible heat loss vs continuous thyristor forward voltage drop heat.</a:t>
            </a:r>
          </a:p>
          <a:p>
            <a:pPr>
              <a:spcAft>
                <a:spcPts val="600"/>
              </a:spcAft>
              <a:defRPr sz="1100">
                <a:solidFill>
                  <a:srgbClr val="475569"/>
                </a:solidFill>
                <a:latin typeface="Calibri"/>
              </a:defRPr>
            </a:pPr>
            <a:r>
              <a:rPr b="1">
                <a:solidFill>
                  <a:srgbClr val="0F172A"/>
                </a:solidFill>
              </a:rPr>
              <a:t>• Cost:</a:t>
            </a:r>
            <a:r>
              <a:rPr b="0">
                <a:solidFill>
                  <a:srgbClr val="475569"/>
                </a:solidFill>
              </a:rPr>
              <a:t> Significantly lower cost vs higher capital cost.</a:t>
            </a:r>
          </a:p>
          <a:p>
            <a:pPr>
              <a:spcAft>
                <a:spcPts val="600"/>
              </a:spcAft>
              <a:defRPr sz="1100">
                <a:solidFill>
                  <a:srgbClr val="475569"/>
                </a:solidFill>
                <a:latin typeface="Calibri"/>
              </a:defRPr>
            </a:pPr>
            <a:r>
              <a:rPr b="1">
                <a:solidFill>
                  <a:srgbClr val="0F172A"/>
                </a:solidFill>
              </a:rPr>
              <a:t>• Typical Location:</a:t>
            </a:r>
            <a:r>
              <a:rPr b="0">
                <a:solidFill>
                  <a:srgbClr val="475569"/>
                </a:solidFill>
              </a:rPr>
              <a:t> Upstream between Utility and Generator vs Downstream between Dual UPS Feeds.</a:t>
            </a:r>
          </a:p>
        </p:txBody>
      </p:sp>
      <p:sp>
        <p:nvSpPr>
          <p:cNvPr id="12" name="Rounded Rectangle 11"/>
          <p:cNvSpPr/>
          <p:nvPr/>
        </p:nvSpPr>
        <p:spPr>
          <a:xfrm>
            <a:off x="6217920" y="1280160"/>
            <a:ext cx="5349240" cy="484632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46520" y="1463040"/>
            <a:ext cx="4892040" cy="411480"/>
          </a:xfrm>
          <a:prstGeom prst="rect">
            <a:avLst/>
          </a:prstGeom>
          <a:noFill/>
        </p:spPr>
        <p:txBody>
          <a:bodyPr wrap="square">
            <a:spAutoFit/>
          </a:bodyPr>
          <a:lstStyle/>
          <a:p>
            <a:pPr>
              <a:defRPr sz="1400" b="1">
                <a:solidFill>
                  <a:srgbClr val="0F172A"/>
                </a:solidFill>
                <a:latin typeface="Calibri"/>
              </a:defRPr>
            </a:pPr>
            <a:r>
              <a:t>VRLA vs. Lithium-Ion Batteries (5 Marks)</a:t>
            </a:r>
          </a:p>
        </p:txBody>
      </p:sp>
      <p:sp>
        <p:nvSpPr>
          <p:cNvPr id="14" name="Rounded Rectangle 13"/>
          <p:cNvSpPr/>
          <p:nvPr/>
        </p:nvSpPr>
        <p:spPr>
          <a:xfrm>
            <a:off x="10195560" y="1463040"/>
            <a:ext cx="1188720" cy="228600"/>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FFFFFF"/>
                </a:solidFill>
              </a:defRPr>
            </a:pPr>
            <a:r>
              <a:t>VRLA VS LI-ION</a:t>
            </a:r>
          </a:p>
        </p:txBody>
      </p:sp>
      <p:sp>
        <p:nvSpPr>
          <p:cNvPr id="15" name="TextBox 14"/>
          <p:cNvSpPr txBox="1"/>
          <p:nvPr/>
        </p:nvSpPr>
        <p:spPr>
          <a:xfrm>
            <a:off x="6446520" y="1920240"/>
            <a:ext cx="4892040" cy="4069080"/>
          </a:xfrm>
          <a:prstGeom prst="rect">
            <a:avLst/>
          </a:prstGeom>
          <a:noFill/>
        </p:spPr>
        <p:txBody>
          <a:bodyPr wrap="square" tIns="0" lIns="0" rIns="0">
            <a:spAutoFit/>
          </a:bodyPr>
          <a:lstStyle/>
          <a:p>
            <a:pPr>
              <a:spcAft>
                <a:spcPts val="600"/>
              </a:spcAft>
              <a:defRPr sz="1100">
                <a:solidFill>
                  <a:srgbClr val="475569"/>
                </a:solidFill>
                <a:latin typeface="Calibri"/>
              </a:defRPr>
            </a:pPr>
            <a:r>
              <a:t>• Parameter / VRLA / Lithium-Ion (LFP)</a:t>
            </a:r>
          </a:p>
          <a:p>
            <a:pPr>
              <a:spcAft>
                <a:spcPts val="600"/>
              </a:spcAft>
              <a:defRPr sz="1100">
                <a:solidFill>
                  <a:srgbClr val="475569"/>
                </a:solidFill>
                <a:latin typeface="Calibri"/>
              </a:defRPr>
            </a:pPr>
            <a:r>
              <a:rPr b="1">
                <a:solidFill>
                  <a:srgbClr val="0F172A"/>
                </a:solidFill>
              </a:rPr>
              <a:t>• Lifespan:</a:t>
            </a:r>
            <a:r>
              <a:rPr b="0">
                <a:solidFill>
                  <a:srgbClr val="475569"/>
                </a:solidFill>
              </a:rPr>
              <a:t> 3 to 5 years vs 12 to 15 years.</a:t>
            </a:r>
          </a:p>
          <a:p>
            <a:pPr>
              <a:spcAft>
                <a:spcPts val="600"/>
              </a:spcAft>
              <a:defRPr sz="1100">
                <a:solidFill>
                  <a:srgbClr val="475569"/>
                </a:solidFill>
                <a:latin typeface="Calibri"/>
              </a:defRPr>
            </a:pPr>
            <a:r>
              <a:rPr b="1">
                <a:solidFill>
                  <a:srgbClr val="0F172A"/>
                </a:solidFill>
              </a:rPr>
              <a:t>• Weight &amp; Space:</a:t>
            </a:r>
            <a:r>
              <a:rPr b="0">
                <a:solidFill>
                  <a:srgbClr val="475569"/>
                </a:solidFill>
              </a:rPr>
              <a:t> Very heavy (requires reinforced slabs) vs 60% lighter, 70% smaller footprint.</a:t>
            </a:r>
          </a:p>
          <a:p>
            <a:pPr>
              <a:spcAft>
                <a:spcPts val="600"/>
              </a:spcAft>
              <a:defRPr sz="1100">
                <a:solidFill>
                  <a:srgbClr val="475569"/>
                </a:solidFill>
                <a:latin typeface="Calibri"/>
              </a:defRPr>
            </a:pPr>
            <a:r>
              <a:rPr b="1">
                <a:solidFill>
                  <a:srgbClr val="0F172A"/>
                </a:solidFill>
              </a:rPr>
              <a:t>• Temperature Sensitivity:</a:t>
            </a:r>
            <a:r>
              <a:rPr b="0">
                <a:solidFill>
                  <a:srgbClr val="475569"/>
                </a:solidFill>
              </a:rPr>
              <a:t> Extreme (every 10°C rise halves life) vs high thermal tolerance up to 30°C.</a:t>
            </a:r>
          </a:p>
          <a:p>
            <a:pPr>
              <a:spcAft>
                <a:spcPts val="600"/>
              </a:spcAft>
              <a:defRPr sz="1100">
                <a:solidFill>
                  <a:srgbClr val="475569"/>
                </a:solidFill>
                <a:latin typeface="Calibri"/>
              </a:defRPr>
            </a:pPr>
            <a:r>
              <a:rPr b="1">
                <a:solidFill>
                  <a:srgbClr val="0F172A"/>
                </a:solidFill>
              </a:rPr>
              <a:t>• Cycle Life:</a:t>
            </a:r>
            <a:r>
              <a:rPr b="0">
                <a:solidFill>
                  <a:srgbClr val="475569"/>
                </a:solidFill>
              </a:rPr>
              <a:t> 200 - 400 deep cycles vs 2,000 - 3,000 deep discharge cycles.</a:t>
            </a:r>
          </a:p>
          <a:p>
            <a:pPr>
              <a:spcAft>
                <a:spcPts val="600"/>
              </a:spcAft>
              <a:defRPr sz="1100">
                <a:solidFill>
                  <a:srgbClr val="475569"/>
                </a:solidFill>
                <a:latin typeface="Calibri"/>
              </a:defRPr>
            </a:pPr>
            <a:r>
              <a:rPr b="1">
                <a:solidFill>
                  <a:srgbClr val="0F172A"/>
                </a:solidFill>
              </a:rPr>
              <a:t>• Monitoring:</a:t>
            </a:r>
            <a:r>
              <a:rPr b="0">
                <a:solidFill>
                  <a:srgbClr val="475569"/>
                </a:solidFill>
              </a:rPr>
              <a:t> Manual / periodic impedance vs automated integrated BMS (Battery Management System).</a:t>
            </a:r>
          </a:p>
          <a:p>
            <a:pPr>
              <a:spcAft>
                <a:spcPts val="600"/>
              </a:spcAft>
              <a:defRPr sz="1100">
                <a:solidFill>
                  <a:srgbClr val="475569"/>
                </a:solidFill>
                <a:latin typeface="Calibri"/>
              </a:defRPr>
            </a:pPr>
            <a:r>
              <a:rPr b="1">
                <a:solidFill>
                  <a:srgbClr val="0F172A"/>
                </a:solidFill>
              </a:rPr>
              <a:t>• CAPEX vs OPEX:</a:t>
            </a:r>
            <a:r>
              <a:rPr b="0">
                <a:solidFill>
                  <a:srgbClr val="475569"/>
                </a:solidFill>
              </a:rPr>
              <a:t> Lower initial CAPEX, high replacement OPEX vs higher CAPEX, drastically lower 10-yr TCO.</a:t>
            </a:r>
          </a:p>
          <a:p>
            <a:pPr>
              <a:spcAft>
                <a:spcPts val="600"/>
              </a:spcAft>
              <a:defRPr sz="1100">
                <a:solidFill>
                  <a:srgbClr val="475569"/>
                </a:solidFill>
                <a:latin typeface="Calibri"/>
              </a:defRPr>
            </a:pPr>
            <a:r>
              <a:rPr b="1">
                <a:solidFill>
                  <a:srgbClr val="0F172A"/>
                </a:solidFill>
              </a:rPr>
              <a:t>• Thermal Runaway Risk:</a:t>
            </a:r>
            <a:r>
              <a:rPr b="0">
                <a:solidFill>
                  <a:srgbClr val="475569"/>
                </a:solidFill>
              </a:rPr>
              <a:t> Moderate (acid leakage / drying) vs mitigated via LFP chemistry + smart BMS cutoffs.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92240"/>
            <a:ext cx="12191695" cy="36576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510528"/>
            <a:ext cx="11094415" cy="320040"/>
          </a:xfrm>
          <a:prstGeom prst="rect">
            <a:avLst/>
          </a:prstGeom>
          <a:noFill/>
        </p:spPr>
        <p:txBody>
          <a:bodyPr wrap="square">
            <a:spAutoFit/>
          </a:bodyPr>
          <a:lstStyle/>
          <a:p>
            <a:pPr>
              <a:defRPr sz="1000">
                <a:solidFill>
                  <a:srgbClr val="94A3B8"/>
                </a:solidFill>
                <a:latin typeface="Calibri"/>
              </a:defRPr>
            </a:pPr>
            <a:r>
              <a:t>M.Tech CSE · Data Centre Systems Engineering | Unit 2: Electrical Infrastructure Engineering | Slide 20 of 22</a:t>
            </a:r>
          </a:p>
        </p:txBody>
      </p:sp>
      <p:sp>
        <p:nvSpPr>
          <p:cNvPr id="5" name="Rounded Rectangle 4"/>
          <p:cNvSpPr/>
          <p:nvPr/>
        </p:nvSpPr>
        <p:spPr>
          <a:xfrm>
            <a:off x="548640" y="164592"/>
            <a:ext cx="2011680" cy="256032"/>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950" b="1">
                <a:solidFill>
                  <a:srgbClr val="FFFFFF"/>
                </a:solidFill>
                <a:latin typeface="Calibri"/>
              </a:defRPr>
            </a:pPr>
            <a:r>
              <a:t>EXAM BLUEPRINT</a:t>
            </a:r>
          </a:p>
        </p:txBody>
      </p:sp>
      <p:sp>
        <p:nvSpPr>
          <p:cNvPr id="6" name="TextBox 5"/>
          <p:cNvSpPr txBox="1"/>
          <p:nvPr/>
        </p:nvSpPr>
        <p:spPr>
          <a:xfrm>
            <a:off x="548640" y="438912"/>
            <a:ext cx="9601200" cy="502920"/>
          </a:xfrm>
          <a:prstGeom prst="rect">
            <a:avLst/>
          </a:prstGeom>
          <a:noFill/>
        </p:spPr>
        <p:txBody>
          <a:bodyPr wrap="square">
            <a:spAutoFit/>
          </a:bodyPr>
          <a:lstStyle/>
          <a:p>
            <a:pPr>
              <a:defRPr sz="2000" b="1">
                <a:solidFill>
                  <a:srgbClr val="FFFFFF"/>
                </a:solidFill>
                <a:latin typeface="Calibri"/>
              </a:defRPr>
            </a:pPr>
            <a:r>
              <a:t>Frequently Asked University Exam Questions &amp; Answer Blueprints</a:t>
            </a:r>
          </a:p>
          <a:p>
            <a:pPr>
              <a:defRPr sz="1100">
                <a:solidFill>
                  <a:srgbClr val="94A3B8"/>
                </a:solidFill>
                <a:latin typeface="Calibri"/>
              </a:defRPr>
            </a:pPr>
            <a:r>
              <a:t>Model structured answers and diagrams required for maximum marks</a:t>
            </a:r>
          </a:p>
        </p:txBody>
      </p:sp>
      <p:sp>
        <p:nvSpPr>
          <p:cNvPr id="7" name="Rounded Rectangle 6"/>
          <p:cNvSpPr/>
          <p:nvPr/>
        </p:nvSpPr>
        <p:spPr>
          <a:xfrm>
            <a:off x="11064240" y="228600"/>
            <a:ext cx="640080" cy="292608"/>
          </a:xfrm>
          <a:prstGeom prst="roundRect">
            <a:avLst/>
          </a:prstGeom>
          <a:solidFill>
            <a:srgbClr val="1E293B"/>
          </a:solidFill>
          <a:ln w="12700">
            <a:solidFill>
              <a:srgbClr val="47556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20</a:t>
            </a:r>
          </a:p>
        </p:txBody>
      </p:sp>
      <p:sp>
        <p:nvSpPr>
          <p:cNvPr id="8" name="Rounded Rectangle 7"/>
          <p:cNvSpPr/>
          <p:nvPr/>
        </p:nvSpPr>
        <p:spPr>
          <a:xfrm>
            <a:off x="548640" y="1280160"/>
            <a:ext cx="5349240" cy="4846320"/>
          </a:xfrm>
          <a:prstGeom prst="roundRect">
            <a:avLst/>
          </a:prstGeom>
          <a:solidFill>
            <a:srgbClr val="F8FAFC"/>
          </a:solidFill>
          <a:ln w="254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463040"/>
            <a:ext cx="4892040" cy="411480"/>
          </a:xfrm>
          <a:prstGeom prst="rect">
            <a:avLst/>
          </a:prstGeom>
          <a:noFill/>
        </p:spPr>
        <p:txBody>
          <a:bodyPr wrap="square">
            <a:spAutoFit/>
          </a:bodyPr>
          <a:lstStyle/>
          <a:p>
            <a:pPr>
              <a:defRPr sz="1400" b="1">
                <a:solidFill>
                  <a:srgbClr val="0F172A"/>
                </a:solidFill>
                <a:latin typeface="Calibri"/>
              </a:defRPr>
            </a:pPr>
            <a:r>
              <a:t>15-Mark Question 1: Single Line Diagram (SLD)</a:t>
            </a:r>
          </a:p>
        </p:txBody>
      </p:sp>
      <p:sp>
        <p:nvSpPr>
          <p:cNvPr id="10" name="Rounded Rectangle 9"/>
          <p:cNvSpPr/>
          <p:nvPr/>
        </p:nvSpPr>
        <p:spPr>
          <a:xfrm>
            <a:off x="4526280" y="1463040"/>
            <a:ext cx="1188720" cy="22860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FFFFFF"/>
                </a:solidFill>
              </a:defRPr>
            </a:pPr>
            <a:r>
              <a:t>ESSAY QUESTION 1</a:t>
            </a:r>
          </a:p>
        </p:txBody>
      </p:sp>
      <p:sp>
        <p:nvSpPr>
          <p:cNvPr id="11" name="TextBox 10"/>
          <p:cNvSpPr txBox="1"/>
          <p:nvPr/>
        </p:nvSpPr>
        <p:spPr>
          <a:xfrm>
            <a:off x="777240" y="1920240"/>
            <a:ext cx="4892040" cy="4069080"/>
          </a:xfrm>
          <a:prstGeom prst="rect">
            <a:avLst/>
          </a:prstGeom>
          <a:noFill/>
        </p:spPr>
        <p:txBody>
          <a:bodyPr wrap="square" tIns="0" lIns="0" rIns="0">
            <a:spAutoFit/>
          </a:bodyPr>
          <a:lstStyle/>
          <a:p>
            <a:pPr>
              <a:spcAft>
                <a:spcPts val="600"/>
              </a:spcAft>
              <a:defRPr sz="1100">
                <a:solidFill>
                  <a:srgbClr val="475569"/>
                </a:solidFill>
                <a:latin typeface="Calibri"/>
              </a:defRPr>
            </a:pPr>
            <a:r>
              <a:rPr b="1">
                <a:solidFill>
                  <a:srgbClr val="0F172A"/>
                </a:solidFill>
              </a:rPr>
              <a:t>• Question:</a:t>
            </a:r>
            <a:r>
              <a:rPr b="0">
                <a:solidFill>
                  <a:srgbClr val="475569"/>
                </a:solidFill>
              </a:rPr>
              <a:t> 'Draw the complete Single Line Diagram (SLD) of a Tier-IV Data Centre electrical distribution system from incoming utility to server rack. Explain the role of each component.'</a:t>
            </a:r>
          </a:p>
          <a:p>
            <a:pPr>
              <a:spcAft>
                <a:spcPts val="600"/>
              </a:spcAft>
              <a:defRPr sz="1100">
                <a:solidFill>
                  <a:srgbClr val="475569"/>
                </a:solidFill>
                <a:latin typeface="Calibri"/>
              </a:defRPr>
            </a:pPr>
            <a:r>
              <a:rPr b="1">
                <a:solidFill>
                  <a:srgbClr val="0F172A"/>
                </a:solidFill>
              </a:rPr>
              <a:t>• Marking Breakdown &amp; Key Scoring Points:</a:t>
            </a:r>
            <a:r>
              <a:rPr b="0">
                <a:solidFill>
                  <a:srgbClr val="475569"/>
                </a:solidFill>
              </a:rPr>
              <a:t>
  1. Neat Dual-Path Schematic (5 Marks): Draw Utility Feeds A &amp; B, Substation Transformers, DGs, ATS, 2N UPS, PDUs, Busways, and Dual-Corded Server PSUs.
  2. Component Functionality (5 Marks): Explain RMU, K-20 Isolation Transformer, Static Bypass, and Branch Circuit Monitoring.
  3. Concurrency &amp; Fault Tolerance (5 Marks): State why 2N eliminates all SPOFs and how any component can be removed live without IT downtime.</a:t>
            </a:r>
          </a:p>
        </p:txBody>
      </p:sp>
      <p:sp>
        <p:nvSpPr>
          <p:cNvPr id="12" name="Rounded Rectangle 11"/>
          <p:cNvSpPr/>
          <p:nvPr/>
        </p:nvSpPr>
        <p:spPr>
          <a:xfrm>
            <a:off x="6217920" y="1280160"/>
            <a:ext cx="5349240" cy="484632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46520" y="1463040"/>
            <a:ext cx="4892040" cy="411480"/>
          </a:xfrm>
          <a:prstGeom prst="rect">
            <a:avLst/>
          </a:prstGeom>
          <a:noFill/>
        </p:spPr>
        <p:txBody>
          <a:bodyPr wrap="square">
            <a:spAutoFit/>
          </a:bodyPr>
          <a:lstStyle/>
          <a:p>
            <a:pPr>
              <a:defRPr sz="1400" b="1">
                <a:solidFill>
                  <a:srgbClr val="0F172A"/>
                </a:solidFill>
                <a:latin typeface="Calibri"/>
              </a:defRPr>
            </a:pPr>
            <a:r>
              <a:t>10-Mark Question 2: Online Double Conversion UPS</a:t>
            </a:r>
          </a:p>
        </p:txBody>
      </p:sp>
      <p:sp>
        <p:nvSpPr>
          <p:cNvPr id="14" name="Rounded Rectangle 13"/>
          <p:cNvSpPr/>
          <p:nvPr/>
        </p:nvSpPr>
        <p:spPr>
          <a:xfrm>
            <a:off x="10195560" y="1463040"/>
            <a:ext cx="1188720" cy="228600"/>
          </a:xfrm>
          <a:prstGeom prst="round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FFFFFF"/>
                </a:solidFill>
              </a:defRPr>
            </a:pPr>
            <a:r>
              <a:t>ESSAY QUESTION 2</a:t>
            </a:r>
          </a:p>
        </p:txBody>
      </p:sp>
      <p:sp>
        <p:nvSpPr>
          <p:cNvPr id="15" name="TextBox 14"/>
          <p:cNvSpPr txBox="1"/>
          <p:nvPr/>
        </p:nvSpPr>
        <p:spPr>
          <a:xfrm>
            <a:off x="6446520" y="1920240"/>
            <a:ext cx="4892040" cy="4069080"/>
          </a:xfrm>
          <a:prstGeom prst="rect">
            <a:avLst/>
          </a:prstGeom>
          <a:noFill/>
        </p:spPr>
        <p:txBody>
          <a:bodyPr wrap="square" tIns="0" lIns="0" rIns="0">
            <a:spAutoFit/>
          </a:bodyPr>
          <a:lstStyle/>
          <a:p>
            <a:pPr>
              <a:spcAft>
                <a:spcPts val="600"/>
              </a:spcAft>
              <a:defRPr sz="1100">
                <a:solidFill>
                  <a:srgbClr val="475569"/>
                </a:solidFill>
                <a:latin typeface="Calibri"/>
              </a:defRPr>
            </a:pPr>
            <a:r>
              <a:rPr b="1">
                <a:solidFill>
                  <a:srgbClr val="0F172A"/>
                </a:solidFill>
              </a:rPr>
              <a:t>• Question:</a:t>
            </a:r>
            <a:r>
              <a:rPr b="0">
                <a:solidFill>
                  <a:srgbClr val="475569"/>
                </a:solidFill>
              </a:rPr>
              <a:t> 'With a neat block diagram, explain the operation of an Online Double Conversion UPS. Explain the functions of the Rectifier, Inverter, Static Bypass, and Manual Bypass.'</a:t>
            </a:r>
          </a:p>
          <a:p>
            <a:pPr>
              <a:spcAft>
                <a:spcPts val="600"/>
              </a:spcAft>
              <a:defRPr sz="1100">
                <a:solidFill>
                  <a:srgbClr val="475569"/>
                </a:solidFill>
                <a:latin typeface="Calibri"/>
              </a:defRPr>
            </a:pPr>
            <a:r>
              <a:rPr b="1">
                <a:solidFill>
                  <a:srgbClr val="0F172A"/>
                </a:solidFill>
              </a:rPr>
              <a:t>• Marking Breakdown &amp; Key Scoring Points:</a:t>
            </a:r>
            <a:r>
              <a:rPr b="0">
                <a:solidFill>
                  <a:srgbClr val="475569"/>
                </a:solidFill>
              </a:rPr>
              <a:t>
  1. Block Diagram (4 Marks): Draw AC Input -&gt; Rectifier/Charger -&gt; Battery Bank DC Bus -&gt; Inverter -&gt; Load, with Static Bypass &amp; Maintenance Bypass loops.
  2. Operating Modes (4 Marks): Describe Normal Mode (Double conversion), Battery Mode (Inverter fed by battery upon utility loss, 0 ms transfer), and Static Bypass Mode (fault/overload).
  3. Advantages (2 Marks): Full voltage &amp; frequency stabilization (VFI), zero transfer time, harmonic isolation.</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492240"/>
            <a:ext cx="12191695" cy="36576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510528"/>
            <a:ext cx="11094415" cy="320040"/>
          </a:xfrm>
          <a:prstGeom prst="rect">
            <a:avLst/>
          </a:prstGeom>
          <a:noFill/>
        </p:spPr>
        <p:txBody>
          <a:bodyPr wrap="square">
            <a:spAutoFit/>
          </a:bodyPr>
          <a:lstStyle/>
          <a:p>
            <a:pPr>
              <a:defRPr sz="1000">
                <a:solidFill>
                  <a:srgbClr val="94A3B8"/>
                </a:solidFill>
                <a:latin typeface="Calibri"/>
              </a:defRPr>
            </a:pPr>
            <a:r>
              <a:t>M.Tech CSE · Data Centre Systems Engineering | Unit 2: Electrical Infrastructure Engineering | Slide 21 of 22</a:t>
            </a:r>
          </a:p>
        </p:txBody>
      </p:sp>
      <p:sp>
        <p:nvSpPr>
          <p:cNvPr id="5" name="Rounded Rectangle 4"/>
          <p:cNvSpPr/>
          <p:nvPr/>
        </p:nvSpPr>
        <p:spPr>
          <a:xfrm>
            <a:off x="548640" y="164592"/>
            <a:ext cx="2011680" cy="256032"/>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950" b="1">
                <a:solidFill>
                  <a:srgbClr val="FFFFFF"/>
                </a:solidFill>
                <a:latin typeface="Calibri"/>
              </a:defRPr>
            </a:pPr>
            <a:r>
              <a:t>EXAM BLUEPRINT</a:t>
            </a:r>
          </a:p>
        </p:txBody>
      </p:sp>
      <p:sp>
        <p:nvSpPr>
          <p:cNvPr id="6" name="TextBox 5"/>
          <p:cNvSpPr txBox="1"/>
          <p:nvPr/>
        </p:nvSpPr>
        <p:spPr>
          <a:xfrm>
            <a:off x="548640" y="438912"/>
            <a:ext cx="9601200" cy="502920"/>
          </a:xfrm>
          <a:prstGeom prst="rect">
            <a:avLst/>
          </a:prstGeom>
          <a:noFill/>
        </p:spPr>
        <p:txBody>
          <a:bodyPr wrap="square">
            <a:spAutoFit/>
          </a:bodyPr>
          <a:lstStyle/>
          <a:p>
            <a:pPr>
              <a:defRPr sz="2000" b="1">
                <a:solidFill>
                  <a:srgbClr val="FFFFFF"/>
                </a:solidFill>
                <a:latin typeface="Calibri"/>
              </a:defRPr>
            </a:pPr>
            <a:r>
              <a:t>Frequently Asked University Exam Questions &amp; Answer Blueprints</a:t>
            </a:r>
          </a:p>
          <a:p>
            <a:pPr>
              <a:defRPr sz="1100">
                <a:solidFill>
                  <a:srgbClr val="94A3B8"/>
                </a:solidFill>
                <a:latin typeface="Calibri"/>
              </a:defRPr>
            </a:pPr>
            <a:r>
              <a:t>Model structured answers and diagrams required for maximum marks</a:t>
            </a:r>
          </a:p>
        </p:txBody>
      </p:sp>
      <p:sp>
        <p:nvSpPr>
          <p:cNvPr id="7" name="Rounded Rectangle 6"/>
          <p:cNvSpPr/>
          <p:nvPr/>
        </p:nvSpPr>
        <p:spPr>
          <a:xfrm>
            <a:off x="11064240" y="228600"/>
            <a:ext cx="640080" cy="292608"/>
          </a:xfrm>
          <a:prstGeom prst="roundRect">
            <a:avLst/>
          </a:prstGeom>
          <a:solidFill>
            <a:srgbClr val="1E293B"/>
          </a:solidFill>
          <a:ln w="12700">
            <a:solidFill>
              <a:srgbClr val="47556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FFFFFF"/>
                </a:solidFill>
              </a:defRPr>
            </a:pPr>
            <a:r>
              <a:t>21</a:t>
            </a:r>
          </a:p>
        </p:txBody>
      </p:sp>
      <p:sp>
        <p:nvSpPr>
          <p:cNvPr id="8" name="Rounded Rectangle 7"/>
          <p:cNvSpPr/>
          <p:nvPr/>
        </p:nvSpPr>
        <p:spPr>
          <a:xfrm>
            <a:off x="548640" y="1280160"/>
            <a:ext cx="5349240" cy="484632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1463040"/>
            <a:ext cx="4892040" cy="411480"/>
          </a:xfrm>
          <a:prstGeom prst="rect">
            <a:avLst/>
          </a:prstGeom>
          <a:noFill/>
        </p:spPr>
        <p:txBody>
          <a:bodyPr wrap="square">
            <a:spAutoFit/>
          </a:bodyPr>
          <a:lstStyle/>
          <a:p>
            <a:pPr>
              <a:defRPr sz="1400" b="1">
                <a:solidFill>
                  <a:srgbClr val="0F172A"/>
                </a:solidFill>
                <a:latin typeface="Calibri"/>
              </a:defRPr>
            </a:pPr>
            <a:r>
              <a:t>10-Mark Question 3: Earthing &amp; SRG Scheme</a:t>
            </a:r>
          </a:p>
        </p:txBody>
      </p:sp>
      <p:sp>
        <p:nvSpPr>
          <p:cNvPr id="10" name="Rounded Rectangle 9"/>
          <p:cNvSpPr/>
          <p:nvPr/>
        </p:nvSpPr>
        <p:spPr>
          <a:xfrm>
            <a:off x="4526280" y="1463040"/>
            <a:ext cx="1188720" cy="228600"/>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FFFFFF"/>
                </a:solidFill>
              </a:defRPr>
            </a:pPr>
            <a:r>
              <a:t>ESSAY QUESTION 3</a:t>
            </a:r>
          </a:p>
        </p:txBody>
      </p:sp>
      <p:sp>
        <p:nvSpPr>
          <p:cNvPr id="11" name="TextBox 10"/>
          <p:cNvSpPr txBox="1"/>
          <p:nvPr/>
        </p:nvSpPr>
        <p:spPr>
          <a:xfrm>
            <a:off x="777240" y="1920240"/>
            <a:ext cx="4892040" cy="4069080"/>
          </a:xfrm>
          <a:prstGeom prst="rect">
            <a:avLst/>
          </a:prstGeom>
          <a:noFill/>
        </p:spPr>
        <p:txBody>
          <a:bodyPr wrap="square" tIns="0" lIns="0" rIns="0">
            <a:spAutoFit/>
          </a:bodyPr>
          <a:lstStyle/>
          <a:p>
            <a:pPr>
              <a:spcAft>
                <a:spcPts val="600"/>
              </a:spcAft>
              <a:defRPr sz="1100">
                <a:solidFill>
                  <a:srgbClr val="475569"/>
                </a:solidFill>
                <a:latin typeface="Calibri"/>
              </a:defRPr>
            </a:pPr>
            <a:r>
              <a:rPr b="1">
                <a:solidFill>
                  <a:srgbClr val="0F172A"/>
                </a:solidFill>
              </a:rPr>
              <a:t>• Question:</a:t>
            </a:r>
            <a:r>
              <a:rPr b="0">
                <a:solidFill>
                  <a:srgbClr val="475569"/>
                </a:solidFill>
              </a:rPr>
              <a:t> 'Explain the earthing and lightning protection scheme required for a modern enterprise data centre. Why is a Signal Reference Grid (SRG) necessary under raised floors?'</a:t>
            </a:r>
          </a:p>
          <a:p>
            <a:pPr>
              <a:spcAft>
                <a:spcPts val="600"/>
              </a:spcAft>
              <a:defRPr sz="1100">
                <a:solidFill>
                  <a:srgbClr val="475569"/>
                </a:solidFill>
                <a:latin typeface="Calibri"/>
              </a:defRPr>
            </a:pPr>
            <a:r>
              <a:rPr b="1">
                <a:solidFill>
                  <a:srgbClr val="0F172A"/>
                </a:solidFill>
              </a:rPr>
              <a:t>• Key Scoring Points for Full Marks:</a:t>
            </a:r>
            <a:r>
              <a:rPr b="0">
                <a:solidFill>
                  <a:srgbClr val="475569"/>
                </a:solidFill>
              </a:rPr>
              <a:t>
  • Define the TN-S earthing scheme and why neutral &amp; protective earth must NEVER be bonded downstream.
  • Explain the limitation of single ground wires at high clock frequencies ($X_L = 2\pi f L$) vs the 2 ft × 2 ft copper mesh SRG providing zero inductive impedance.
  • Describe the 3-stage cascaded Surge Protection Device (SPD) coordination (Type 1 at intake, Type 2 at distribution, Type 3 at rack).
  • State the earth pit resistance limit (&lt; 1.0 Ohm) as per IEEE 1100.</a:t>
            </a:r>
          </a:p>
        </p:txBody>
      </p:sp>
      <p:sp>
        <p:nvSpPr>
          <p:cNvPr id="12" name="Rounded Rectangle 11"/>
          <p:cNvSpPr/>
          <p:nvPr/>
        </p:nvSpPr>
        <p:spPr>
          <a:xfrm>
            <a:off x="6217920" y="1280160"/>
            <a:ext cx="5349240" cy="484632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46520" y="1463040"/>
            <a:ext cx="4892040" cy="411480"/>
          </a:xfrm>
          <a:prstGeom prst="rect">
            <a:avLst/>
          </a:prstGeom>
          <a:noFill/>
        </p:spPr>
        <p:txBody>
          <a:bodyPr wrap="square">
            <a:spAutoFit/>
          </a:bodyPr>
          <a:lstStyle/>
          <a:p>
            <a:pPr>
              <a:defRPr sz="1400" b="1">
                <a:solidFill>
                  <a:srgbClr val="0F172A"/>
                </a:solidFill>
                <a:latin typeface="Calibri"/>
              </a:defRPr>
            </a:pPr>
            <a:r>
              <a:t>5-Mark Short Notes Master Checklist</a:t>
            </a:r>
          </a:p>
        </p:txBody>
      </p:sp>
      <p:sp>
        <p:nvSpPr>
          <p:cNvPr id="14" name="Rounded Rectangle 13"/>
          <p:cNvSpPr/>
          <p:nvPr/>
        </p:nvSpPr>
        <p:spPr>
          <a:xfrm>
            <a:off x="10195560" y="1463040"/>
            <a:ext cx="1188720" cy="228600"/>
          </a:xfrm>
          <a:prstGeom prst="round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FFFFFF"/>
                </a:solidFill>
              </a:defRPr>
            </a:pPr>
            <a:r>
              <a:t>SHORT NOTES</a:t>
            </a:r>
          </a:p>
        </p:txBody>
      </p:sp>
      <p:sp>
        <p:nvSpPr>
          <p:cNvPr id="15" name="TextBox 14"/>
          <p:cNvSpPr txBox="1"/>
          <p:nvPr/>
        </p:nvSpPr>
        <p:spPr>
          <a:xfrm>
            <a:off x="6446520" y="1920240"/>
            <a:ext cx="4892040" cy="4069080"/>
          </a:xfrm>
          <a:prstGeom prst="rect">
            <a:avLst/>
          </a:prstGeom>
          <a:noFill/>
        </p:spPr>
        <p:txBody>
          <a:bodyPr wrap="square" tIns="0" lIns="0" rIns="0">
            <a:spAutoFit/>
          </a:bodyPr>
          <a:lstStyle/>
          <a:p>
            <a:pPr>
              <a:spcAft>
                <a:spcPts val="600"/>
              </a:spcAft>
              <a:defRPr sz="1100">
                <a:solidFill>
                  <a:srgbClr val="475569"/>
                </a:solidFill>
                <a:latin typeface="Calibri"/>
              </a:defRPr>
            </a:pPr>
            <a:r>
              <a:rPr b="1">
                <a:solidFill>
                  <a:srgbClr val="0F172A"/>
                </a:solidFill>
              </a:rPr>
              <a:t>• Expected 5-Mark Short Notes:</a:t>
            </a:r>
            <a:r>
              <a:rPr b="0">
                <a:solidFill>
                  <a:srgbClr val="475569"/>
                </a:solidFill>
              </a:rPr>
              <a:t>
  1. 'Data Centre Continuous (DCC) Generator Rating vs Standby Rating'
  2. 'Overhead Track Busway System vs Traditional Underfloor RPPs'
  3. 'Power Usage Effectiveness (PUE) and methods to improve it'
  4. 'Static Transfer Switch (STS) operating principle and CBEMA curve'
  5. 'K-Factor Transformers and Triplen Harmonic Mitigation'</a:t>
            </a:r>
          </a:p>
          <a:p>
            <a:pPr>
              <a:spcAft>
                <a:spcPts val="600"/>
              </a:spcAft>
              <a:defRPr sz="1100">
                <a:solidFill>
                  <a:srgbClr val="475569"/>
                </a:solidFill>
                <a:latin typeface="Calibri"/>
              </a:defRPr>
            </a:pPr>
            <a:r>
              <a:rPr b="1">
                <a:solidFill>
                  <a:srgbClr val="0F172A"/>
                </a:solidFill>
              </a:rPr>
              <a:t>• Golden Exam Rule:</a:t>
            </a:r>
            <a:r>
              <a:rPr b="0">
                <a:solidFill>
                  <a:srgbClr val="475569"/>
                </a:solidFill>
              </a:rPr>
              <a:t> Every 5-mark answer must have:
  (1) Definition/Formula, (2) Labeled block diagram or circuit, (3) 4 to 5 crisp bulleted features, (4) Practical Data Centre example!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57200"/>
            <a:ext cx="11094415" cy="914400"/>
          </a:xfrm>
          <a:prstGeom prst="rect">
            <a:avLst/>
          </a:prstGeom>
          <a:noFill/>
        </p:spPr>
        <p:txBody>
          <a:bodyPr wrap="none">
            <a:spAutoFit/>
          </a:bodyPr>
          <a:lstStyle/>
          <a:p>
            <a:pPr>
              <a:defRPr sz="2200" b="1">
                <a:solidFill>
                  <a:srgbClr val="FFFFFF"/>
                </a:solidFill>
              </a:defRPr>
            </a:pPr>
            <a:r>
              <a:t>UNIT 2: SUMMARY &amp; HIGH-YIELD TAKEAWAYS</a:t>
            </a:r>
          </a:p>
          <a:p>
            <a:pPr>
              <a:defRPr sz="1300">
                <a:solidFill>
                  <a:srgbClr val="0EA5E9"/>
                </a:solidFill>
              </a:defRPr>
            </a:pPr>
            <a:r>
              <a:t>Master these 5 core concepts to score 100% in your Unit 2 Examination</a:t>
            </a:r>
          </a:p>
        </p:txBody>
      </p:sp>
      <p:sp>
        <p:nvSpPr>
          <p:cNvPr id="4" name="Rounded Rectangle 3"/>
          <p:cNvSpPr/>
          <p:nvPr/>
        </p:nvSpPr>
        <p:spPr>
          <a:xfrm>
            <a:off x="548640" y="1645920"/>
            <a:ext cx="2606040" cy="438912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828800"/>
            <a:ext cx="2148840" cy="411480"/>
          </a:xfrm>
          <a:prstGeom prst="rect">
            <a:avLst/>
          </a:prstGeom>
          <a:noFill/>
        </p:spPr>
        <p:txBody>
          <a:bodyPr wrap="square">
            <a:spAutoFit/>
          </a:bodyPr>
          <a:lstStyle/>
          <a:p>
            <a:pPr>
              <a:defRPr sz="1400" b="1">
                <a:solidFill>
                  <a:srgbClr val="0F172A"/>
                </a:solidFill>
                <a:latin typeface="Calibri"/>
              </a:defRPr>
            </a:pPr>
            <a:r>
              <a:t>1. The Power Chain</a:t>
            </a:r>
          </a:p>
        </p:txBody>
      </p:sp>
      <p:sp>
        <p:nvSpPr>
          <p:cNvPr id="6" name="Rounded Rectangle 5"/>
          <p:cNvSpPr/>
          <p:nvPr/>
        </p:nvSpPr>
        <p:spPr>
          <a:xfrm>
            <a:off x="1783080" y="1828800"/>
            <a:ext cx="1188720" cy="228600"/>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FFFFFF"/>
                </a:solidFill>
              </a:defRPr>
            </a:pPr>
            <a:r>
              <a:t>FLOW</a:t>
            </a:r>
          </a:p>
        </p:txBody>
      </p:sp>
      <p:sp>
        <p:nvSpPr>
          <p:cNvPr id="7" name="TextBox 6"/>
          <p:cNvSpPr txBox="1"/>
          <p:nvPr/>
        </p:nvSpPr>
        <p:spPr>
          <a:xfrm>
            <a:off x="777240" y="2286000"/>
            <a:ext cx="2148840" cy="3611880"/>
          </a:xfrm>
          <a:prstGeom prst="rect">
            <a:avLst/>
          </a:prstGeom>
          <a:noFill/>
        </p:spPr>
        <p:txBody>
          <a:bodyPr wrap="square" tIns="0" lIns="0" rIns="0">
            <a:spAutoFit/>
          </a:bodyPr>
          <a:lstStyle/>
          <a:p>
            <a:pPr>
              <a:spcAft>
                <a:spcPts val="600"/>
              </a:spcAft>
              <a:defRPr sz="1100">
                <a:solidFill>
                  <a:srgbClr val="475569"/>
                </a:solidFill>
                <a:latin typeface="Calibri"/>
              </a:defRPr>
            </a:pPr>
            <a:r>
              <a:t>• Utility (11/33kV) -&gt; RMU -&gt; K-Factor Transformer -&gt; ATS -&gt; UPS (2N) -&gt; PDU -&gt; Overhead Busway -&gt; Rack ePDU -&gt; Server Dual PSUs.</a:t>
            </a:r>
          </a:p>
          <a:p>
            <a:pPr>
              <a:spcAft>
                <a:spcPts val="600"/>
              </a:spcAft>
              <a:defRPr sz="1100">
                <a:solidFill>
                  <a:srgbClr val="475569"/>
                </a:solidFill>
                <a:latin typeface="Calibri"/>
              </a:defRPr>
            </a:pPr>
            <a:r>
              <a:rPr b="1">
                <a:solidFill>
                  <a:srgbClr val="0F172A"/>
                </a:solidFill>
              </a:rPr>
              <a:t>• Remember:</a:t>
            </a:r>
            <a:r>
              <a:rPr b="0">
                <a:solidFill>
                  <a:srgbClr val="475569"/>
                </a:solidFill>
              </a:rPr>
              <a:t> Uptime Institute treats the DG plant as the primary continuous source!</a:t>
            </a:r>
          </a:p>
        </p:txBody>
      </p:sp>
      <p:sp>
        <p:nvSpPr>
          <p:cNvPr id="8" name="Rounded Rectangle 7"/>
          <p:cNvSpPr/>
          <p:nvPr/>
        </p:nvSpPr>
        <p:spPr>
          <a:xfrm>
            <a:off x="3374136" y="1645920"/>
            <a:ext cx="2606040" cy="438912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02736" y="1828800"/>
            <a:ext cx="2148840" cy="411480"/>
          </a:xfrm>
          <a:prstGeom prst="rect">
            <a:avLst/>
          </a:prstGeom>
          <a:noFill/>
        </p:spPr>
        <p:txBody>
          <a:bodyPr wrap="square">
            <a:spAutoFit/>
          </a:bodyPr>
          <a:lstStyle/>
          <a:p>
            <a:pPr>
              <a:defRPr sz="1400" b="1">
                <a:solidFill>
                  <a:srgbClr val="0F172A"/>
                </a:solidFill>
                <a:latin typeface="Calibri"/>
              </a:defRPr>
            </a:pPr>
            <a:r>
              <a:t>2. 2N vs N+1</a:t>
            </a:r>
          </a:p>
        </p:txBody>
      </p:sp>
      <p:sp>
        <p:nvSpPr>
          <p:cNvPr id="10" name="Rounded Rectangle 9"/>
          <p:cNvSpPr/>
          <p:nvPr/>
        </p:nvSpPr>
        <p:spPr>
          <a:xfrm>
            <a:off x="4608576" y="1828800"/>
            <a:ext cx="1188720" cy="228600"/>
          </a:xfrm>
          <a:prstGeom prst="round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FFFFFF"/>
                </a:solidFill>
              </a:defRPr>
            </a:pPr>
            <a:r>
              <a:t>REDUNDANCY</a:t>
            </a:r>
          </a:p>
        </p:txBody>
      </p:sp>
      <p:sp>
        <p:nvSpPr>
          <p:cNvPr id="11" name="TextBox 10"/>
          <p:cNvSpPr txBox="1"/>
          <p:nvPr/>
        </p:nvSpPr>
        <p:spPr>
          <a:xfrm>
            <a:off x="3602736" y="2286000"/>
            <a:ext cx="2148840" cy="3611880"/>
          </a:xfrm>
          <a:prstGeom prst="rect">
            <a:avLst/>
          </a:prstGeom>
          <a:noFill/>
        </p:spPr>
        <p:txBody>
          <a:bodyPr wrap="square" tIns="0" lIns="0" rIns="0">
            <a:spAutoFit/>
          </a:bodyPr>
          <a:lstStyle/>
          <a:p>
            <a:pPr>
              <a:spcAft>
                <a:spcPts val="600"/>
              </a:spcAft>
              <a:defRPr sz="1100">
                <a:solidFill>
                  <a:srgbClr val="475569"/>
                </a:solidFill>
                <a:latin typeface="Calibri"/>
              </a:defRPr>
            </a:pPr>
            <a:r>
              <a:t>• N+1 provides component redundancy on a shared bus (Tier II).</a:t>
            </a:r>
          </a:p>
          <a:p>
            <a:pPr>
              <a:spcAft>
                <a:spcPts val="600"/>
              </a:spcAft>
              <a:defRPr sz="1100">
                <a:solidFill>
                  <a:srgbClr val="475569"/>
                </a:solidFill>
                <a:latin typeface="Calibri"/>
              </a:defRPr>
            </a:pPr>
            <a:r>
              <a:t>• 2N provides two completely isolated, concurrently maintainable, fault-tolerant active paths (Tier IV).</a:t>
            </a:r>
          </a:p>
          <a:p>
            <a:pPr>
              <a:spcAft>
                <a:spcPts val="600"/>
              </a:spcAft>
              <a:defRPr sz="1100">
                <a:solidFill>
                  <a:srgbClr val="475569"/>
                </a:solidFill>
                <a:latin typeface="Calibri"/>
              </a:defRPr>
            </a:pPr>
            <a:r>
              <a:t>• Dual-corded servers are essential to leverage 2N.</a:t>
            </a:r>
          </a:p>
        </p:txBody>
      </p:sp>
      <p:sp>
        <p:nvSpPr>
          <p:cNvPr id="12" name="Rounded Rectangle 11"/>
          <p:cNvSpPr/>
          <p:nvPr/>
        </p:nvSpPr>
        <p:spPr>
          <a:xfrm>
            <a:off x="6199632" y="1645920"/>
            <a:ext cx="2606040" cy="438912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28232" y="1828800"/>
            <a:ext cx="2148840" cy="411480"/>
          </a:xfrm>
          <a:prstGeom prst="rect">
            <a:avLst/>
          </a:prstGeom>
          <a:noFill/>
        </p:spPr>
        <p:txBody>
          <a:bodyPr wrap="square">
            <a:spAutoFit/>
          </a:bodyPr>
          <a:lstStyle/>
          <a:p>
            <a:pPr>
              <a:defRPr sz="1400" b="1">
                <a:solidFill>
                  <a:srgbClr val="0F172A"/>
                </a:solidFill>
                <a:latin typeface="Calibri"/>
              </a:defRPr>
            </a:pPr>
            <a:r>
              <a:t>3. Clean Grounding</a:t>
            </a:r>
          </a:p>
        </p:txBody>
      </p:sp>
      <p:sp>
        <p:nvSpPr>
          <p:cNvPr id="14" name="Rounded Rectangle 13"/>
          <p:cNvSpPr/>
          <p:nvPr/>
        </p:nvSpPr>
        <p:spPr>
          <a:xfrm>
            <a:off x="7434072" y="1828800"/>
            <a:ext cx="1188720" cy="228600"/>
          </a:xfrm>
          <a:prstGeom prst="round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FFFFFF"/>
                </a:solidFill>
              </a:defRPr>
            </a:pPr>
            <a:r>
              <a:t>SAFETY &amp; EMC</a:t>
            </a:r>
          </a:p>
        </p:txBody>
      </p:sp>
      <p:sp>
        <p:nvSpPr>
          <p:cNvPr id="15" name="TextBox 14"/>
          <p:cNvSpPr txBox="1"/>
          <p:nvPr/>
        </p:nvSpPr>
        <p:spPr>
          <a:xfrm>
            <a:off x="6428232" y="2286000"/>
            <a:ext cx="2148840" cy="3611880"/>
          </a:xfrm>
          <a:prstGeom prst="rect">
            <a:avLst/>
          </a:prstGeom>
          <a:noFill/>
        </p:spPr>
        <p:txBody>
          <a:bodyPr wrap="square" tIns="0" lIns="0" rIns="0">
            <a:spAutoFit/>
          </a:bodyPr>
          <a:lstStyle/>
          <a:p>
            <a:pPr>
              <a:spcAft>
                <a:spcPts val="600"/>
              </a:spcAft>
              <a:defRPr sz="1100">
                <a:solidFill>
                  <a:srgbClr val="475569"/>
                </a:solidFill>
                <a:latin typeface="Calibri"/>
              </a:defRPr>
            </a:pPr>
            <a:r>
              <a:t>• TN-S system is mandatory (separate Neutral and Earth).</a:t>
            </a:r>
          </a:p>
          <a:p>
            <a:pPr>
              <a:spcAft>
                <a:spcPts val="600"/>
              </a:spcAft>
              <a:defRPr sz="1100">
                <a:solidFill>
                  <a:srgbClr val="475569"/>
                </a:solidFill>
                <a:latin typeface="Calibri"/>
              </a:defRPr>
            </a:pPr>
            <a:r>
              <a:t>• Signal Reference Grid (SRG) 2ft x 2ft mesh under raised floor stops MHz high-frequency noise.</a:t>
            </a:r>
          </a:p>
          <a:p>
            <a:pPr>
              <a:spcAft>
                <a:spcPts val="600"/>
              </a:spcAft>
              <a:defRPr sz="1100">
                <a:solidFill>
                  <a:srgbClr val="475569"/>
                </a:solidFill>
                <a:latin typeface="Calibri"/>
              </a:defRPr>
            </a:pPr>
            <a:r>
              <a:rPr b="1">
                <a:solidFill>
                  <a:srgbClr val="0F172A"/>
                </a:solidFill>
              </a:rPr>
              <a:t>• Cascaded SPDs:</a:t>
            </a:r>
            <a:r>
              <a:rPr b="0">
                <a:solidFill>
                  <a:srgbClr val="475569"/>
                </a:solidFill>
              </a:rPr>
              <a:t> Type 1 -&gt; Type 2 -&gt; Type 3.</a:t>
            </a:r>
          </a:p>
          <a:p>
            <a:pPr>
              <a:spcAft>
                <a:spcPts val="600"/>
              </a:spcAft>
              <a:defRPr sz="1100">
                <a:solidFill>
                  <a:srgbClr val="475569"/>
                </a:solidFill>
                <a:latin typeface="Calibri"/>
              </a:defRPr>
            </a:pPr>
            <a:r>
              <a:t>• Ground resistance &lt; 1.0 Ohm.</a:t>
            </a:r>
          </a:p>
        </p:txBody>
      </p:sp>
      <p:sp>
        <p:nvSpPr>
          <p:cNvPr id="16" name="Rounded Rectangle 15"/>
          <p:cNvSpPr/>
          <p:nvPr/>
        </p:nvSpPr>
        <p:spPr>
          <a:xfrm>
            <a:off x="9025128" y="1645920"/>
            <a:ext cx="2606040" cy="438912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253728" y="1828800"/>
            <a:ext cx="2148840" cy="411480"/>
          </a:xfrm>
          <a:prstGeom prst="rect">
            <a:avLst/>
          </a:prstGeom>
          <a:noFill/>
        </p:spPr>
        <p:txBody>
          <a:bodyPr wrap="square">
            <a:spAutoFit/>
          </a:bodyPr>
          <a:lstStyle/>
          <a:p>
            <a:pPr>
              <a:defRPr sz="1400" b="1">
                <a:solidFill>
                  <a:srgbClr val="0F172A"/>
                </a:solidFill>
                <a:latin typeface="Calibri"/>
              </a:defRPr>
            </a:pPr>
            <a:r>
              <a:t>4. Key Math Formulas</a:t>
            </a:r>
          </a:p>
        </p:txBody>
      </p:sp>
      <p:sp>
        <p:nvSpPr>
          <p:cNvPr id="18" name="Rounded Rectangle 17"/>
          <p:cNvSpPr/>
          <p:nvPr/>
        </p:nvSpPr>
        <p:spPr>
          <a:xfrm>
            <a:off x="10259568" y="1828800"/>
            <a:ext cx="1188720" cy="228600"/>
          </a:xfrm>
          <a:prstGeom prst="round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850" b="1">
                <a:solidFill>
                  <a:srgbClr val="FFFFFF"/>
                </a:solidFill>
              </a:defRPr>
            </a:pPr>
            <a:r>
              <a:t>FORMULAS</a:t>
            </a:r>
          </a:p>
        </p:txBody>
      </p:sp>
      <p:sp>
        <p:nvSpPr>
          <p:cNvPr id="19" name="TextBox 18"/>
          <p:cNvSpPr txBox="1"/>
          <p:nvPr/>
        </p:nvSpPr>
        <p:spPr>
          <a:xfrm>
            <a:off x="9253728" y="2286000"/>
            <a:ext cx="2148840" cy="3611880"/>
          </a:xfrm>
          <a:prstGeom prst="rect">
            <a:avLst/>
          </a:prstGeom>
          <a:noFill/>
        </p:spPr>
        <p:txBody>
          <a:bodyPr wrap="square" tIns="0" lIns="0" rIns="0">
            <a:spAutoFit/>
          </a:bodyPr>
          <a:lstStyle/>
          <a:p>
            <a:pPr>
              <a:spcAft>
                <a:spcPts val="600"/>
              </a:spcAft>
              <a:defRPr sz="1100">
                <a:solidFill>
                  <a:srgbClr val="475569"/>
                </a:solidFill>
                <a:latin typeface="Calibri"/>
              </a:defRPr>
            </a:pPr>
            <a:r>
              <a:t>• PUE = Total Facility kW / IT kW.</a:t>
            </a:r>
          </a:p>
          <a:p>
            <a:pPr>
              <a:spcAft>
                <a:spcPts val="600"/>
              </a:spcAft>
              <a:defRPr sz="1100">
                <a:solidFill>
                  <a:srgbClr val="475569"/>
                </a:solidFill>
                <a:latin typeface="Calibri"/>
              </a:defRPr>
            </a:pPr>
            <a:r>
              <a:t>• DCiE = (1 / PUE) × 100%.</a:t>
            </a:r>
          </a:p>
          <a:p>
            <a:pPr>
              <a:spcAft>
                <a:spcPts val="600"/>
              </a:spcAft>
              <a:defRPr sz="1100">
                <a:solidFill>
                  <a:srgbClr val="475569"/>
                </a:solidFill>
                <a:latin typeface="Calibri"/>
              </a:defRPr>
            </a:pPr>
            <a:r>
              <a:t>• IT kVA = IT kW / Power Factor.</a:t>
            </a:r>
          </a:p>
          <a:p>
            <a:pPr>
              <a:spcAft>
                <a:spcPts val="600"/>
              </a:spcAft>
              <a:defRPr sz="1100">
                <a:solidFill>
                  <a:srgbClr val="475569"/>
                </a:solidFill>
                <a:latin typeface="Calibri"/>
              </a:defRPr>
            </a:pPr>
            <a:r>
              <a:t>• Battery Ah = (P_dc / V_dc) × Hours × 1.25 aging factor.</a:t>
            </a:r>
          </a:p>
          <a:p>
            <a:pPr>
              <a:spcAft>
                <a:spcPts val="600"/>
              </a:spcAft>
              <a:defRPr sz="1100">
                <a:solidFill>
                  <a:srgbClr val="475569"/>
                </a:solidFill>
                <a:latin typeface="Calibri"/>
              </a:defRPr>
            </a:pPr>
            <a:r>
              <a:t>• Tx kVA = Facility kVA × Diversity × 1.25 margin.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