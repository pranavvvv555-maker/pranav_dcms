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64592" cy="4572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UNIT 2: COMPREHENSIVE THEORETICAL ANALYSIS</a:t>
            </a:r>
          </a:p>
          <a:p>
            <a:pPr>
              <a:spcBef>
                <a:spcPts val="1400"/>
              </a:spcBef>
              <a:defRPr sz="4000" b="1">
                <a:solidFill>
                  <a:srgbClr val="FFFFFF"/>
                </a:solidFill>
              </a:defRPr>
            </a:pPr>
            <a:r>
              <a:t>Data Centre Electrical</a:t>
            </a:r>
            <a:br/>
            <a:r>
              <a:t>Infrastructure Engineering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</a:defRPr>
            </a:pPr>
            <a:r>
              <a:t>Utility Power Systems • Backup Power Systems • Power Distribution</a:t>
            </a:r>
            <a:br/>
            <a:r>
              <a:t>Earthing &amp; Grounding • Lightning Protection • Capacity Sizing &amp; PUE</a:t>
            </a:r>
          </a:p>
          <a:p>
            <a:pPr>
              <a:spcBef>
                <a:spcPts val="2800"/>
              </a:spcBef>
              <a:defRPr sz="1300">
                <a:solidFill>
                  <a:srgbClr val="CBD5E1"/>
                </a:solidFill>
              </a:defRPr>
            </a:pPr>
            <a:r>
              <a:t>Curriculum: M.Tech Computer Science &amp; Engineering (Data Centre Systems)</a:t>
            </a:r>
            <a:br/>
            <a:r>
              <a:t>Institutional Collaboration: MIT World Peace University (MIT-WPU) × NIRVAA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THEORETICAL FOUNDATION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Mission-Critical Power Engineering Paradigms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2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The Availability Mandate: </a:t>
            </a:r>
            <a:r>
              <a:rPr sz="1450" b="0">
                <a:solidFill>
                  <a:srgbClr val="0F172A"/>
                </a:solidFill>
              </a:rPr>
              <a:t>Data centres demand 99.982% (Tier III) to 99.995% (Tier IV) availability, representing maximum allowable annual downtime of 1.6 hours and 26 minutes respectively.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Micro-Interruption Vulnerability: </a:t>
            </a:r>
            <a:r>
              <a:rPr sz="1450" b="0">
                <a:solidFill>
                  <a:srgbClr val="0F172A"/>
                </a:solidFill>
              </a:rPr>
              <a:t>High-density server power supplies (SMPS) tolerate voltage sags only up to 15 to 20 milliseconds (CBEMA / ITIC curve) before processors crash and memory registers reset.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Tri-Level Power Architecture: </a:t>
            </a:r>
            <a:r>
              <a:rPr sz="1450" b="0">
                <a:solidFill>
                  <a:srgbClr val="0F172A"/>
                </a:solidFill>
              </a:rPr>
              <a:t>System design integrates three decoupled tiers: Public Utility Grid (economic power), Battery Energy Storage (0 ms bridging), and Diesel Generation (sustained prime power).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Zero Single Points of Failure: </a:t>
            </a:r>
            <a:r>
              <a:rPr sz="1450" b="0">
                <a:solidFill>
                  <a:srgbClr val="0F172A"/>
                </a:solidFill>
              </a:rPr>
              <a:t>Mandates concurrent maintainability and fault tolerance through independent, dual-path physical and electrical redundancy.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UTILITY POWER SYSTEMS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Utility Grid Interconnection &amp; Substation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3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High-Voltage Grid Intake: </a:t>
            </a:r>
            <a:r>
              <a:rPr sz="1450" b="0">
                <a:solidFill>
                  <a:srgbClr val="0F172A"/>
                </a:solidFill>
              </a:rPr>
              <a:t>Megawatt-scale facilities (5 MW to 100+ MW) interconnect at 132 kV, 66 kV, 33 kV, or 11 kV to drastically minimize I²R transmission losses.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On-Site Primary Substation: </a:t>
            </a:r>
            <a:r>
              <a:rPr sz="1450" b="0">
                <a:solidFill>
                  <a:srgbClr val="0F172A"/>
                </a:solidFill>
              </a:rPr>
              <a:t>Steps incoming transmission voltage down to 11 kV or 33 kV, housing outdoor surge arresters, high-voltage isolators, and metering instrument transformers.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Tariffs &amp; Power Factor Mandates: </a:t>
            </a:r>
            <a:r>
              <a:rPr sz="1450" b="0">
                <a:solidFill>
                  <a:srgbClr val="0F172A"/>
                </a:solidFill>
              </a:rPr>
              <a:t>Commercial tariffs impose peak kVA demand penalties; Automatic Power Factor Correction (APFC) keeps power factor strictly between 0.95 and 0.99 lag.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Point of Common Coupling (PCC): </a:t>
            </a:r>
            <a:r>
              <a:rPr sz="1450" b="0">
                <a:solidFill>
                  <a:srgbClr val="0F172A"/>
                </a:solidFill>
              </a:rPr>
              <a:t>The contractual boundary between utility provider and data centre where strict IEEE 519 voltage and current harmonic limits are enforced.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UTILITY POWER SYSTEMS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Dual Utility Intake &amp; Physical Routing Diversity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4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Substation Independence: </a:t>
            </a:r>
            <a:r>
              <a:rPr sz="1450" b="0">
                <a:solidFill>
                  <a:srgbClr val="0F172A"/>
                </a:solidFill>
              </a:rPr>
              <a:t>Tier III/IV facilities require two independent utility feeds supplied by two separate transmission substations fed by distinct power generation grids.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Physical Conduit Separation: </a:t>
            </a:r>
            <a:r>
              <a:rPr sz="1450" b="0">
                <a:solidFill>
                  <a:srgbClr val="0F172A"/>
                </a:solidFill>
              </a:rPr>
              <a:t>Underground utility feeder cables must enter the property boundary from opposite directions with at least 20 meters of physical separation.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Civil Risk Protection: </a:t>
            </a:r>
            <a:r>
              <a:rPr sz="1450" b="0">
                <a:solidFill>
                  <a:srgbClr val="0F172A"/>
                </a:solidFill>
              </a:rPr>
              <a:t>Prevents accidental excavation cuts, municipal roadworks, or localized water-main ruptures from severing both electrical intake conduits simultaneously.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Automated MV Failover: </a:t>
            </a:r>
            <a:r>
              <a:rPr sz="1450" b="0">
                <a:solidFill>
                  <a:srgbClr val="0F172A"/>
                </a:solidFill>
              </a:rPr>
              <a:t>Motorized medium-voltage switchgear automatically isolates a faulted utility feeder and transfers facility intake to the secondary healthy grid 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UTILITY POWER SYSTEMS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Primary Switchgear: RMU, VCB, and GIS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5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Ring Main Unit (RMU): </a:t>
            </a:r>
            <a:r>
              <a:rPr sz="1450" b="0">
                <a:solidFill>
                  <a:srgbClr val="0F172A"/>
                </a:solidFill>
              </a:rPr>
              <a:t>Metal-enclosed switchgear configured in a closed ring loop, enabling fault isolation without interrupting continuous power delivery to downstream systems.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Vacuum Circuit Breakers (VCB): </a:t>
            </a:r>
            <a:r>
              <a:rPr sz="1450" b="0">
                <a:solidFill>
                  <a:srgbClr val="0F172A"/>
                </a:solidFill>
              </a:rPr>
              <a:t>Contacts separate inside a sealed high-vacuum bottle (&lt; 10⁻⁷ mbar). The absence of air extinguishes electrical arcs at zero-crossing; standard for 11 kV / 33 kV.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Gas Insulated Switchgear (GIS): </a:t>
            </a:r>
            <a:r>
              <a:rPr sz="1450" b="0">
                <a:solidFill>
                  <a:srgbClr val="0F172A"/>
                </a:solidFill>
              </a:rPr>
              <a:t>Conductors and busbars are enclosed inside tanks pressurized with Sulfur Hexafluoride (SF6) gas, providing 3x the dielectric strength of air.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Urban Footprint Optimization: </a:t>
            </a:r>
            <a:r>
              <a:rPr sz="1450" b="0">
                <a:solidFill>
                  <a:srgbClr val="0F172A"/>
                </a:solidFill>
              </a:rPr>
              <a:t>GIS reduces switchroom floor space by up to 70% compared to Air Insulated Switchgear (AIS), making it ideal for dense urban multi-story facilities.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UTILITY POWER SYSTEMS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Substation Transformers: Cast Resin Dry-Type vs. Oil-Immersed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6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Cast Resin Dry-Type (CRT): </a:t>
            </a:r>
            <a:r>
              <a:rPr sz="1450" b="0">
                <a:solidFill>
                  <a:srgbClr val="0F172A"/>
                </a:solidFill>
              </a:rPr>
              <a:t>Coils are cast under vacuum in non-flammable epoxy resin with quartz filler, delivering F1 fire safety (self-extinguishing, zero toxic gas emissions).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Indoor Whitespace Proximity: </a:t>
            </a:r>
            <a:r>
              <a:rPr sz="1450" b="0">
                <a:solidFill>
                  <a:srgbClr val="0F172A"/>
                </a:solidFill>
              </a:rPr>
              <a:t>CRT units can be safely placed directly inside the building adjacent to Low Voltage Main Switchboards, drastically shortening high-current busduct runs.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Oil-Immersed Hazards: </a:t>
            </a:r>
            <a:r>
              <a:rPr sz="1450" b="0">
                <a:solidFill>
                  <a:srgbClr val="0F172A"/>
                </a:solidFill>
              </a:rPr>
              <a:t>Mineral oil poses severe fire and explosion risks, requiring outdoor blast barriers, automatic water deluge fire suppression, and oil-spill containment pits.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Dyn11 Vector Group: </a:t>
            </a:r>
            <a:r>
              <a:rPr sz="1450" b="0">
                <a:solidFill>
                  <a:srgbClr val="0F172A"/>
                </a:solidFill>
              </a:rPr>
              <a:t>Standard specification (Delta primary, Wye secondary with neutral brought out); stabilizes 230V phase-to-neutral voltage and traps 3rd harmonics in primary delta.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UTILITY POWER SYSTEMS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Harmonic Distortion &amp; K-Factor Rated Transformers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7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66928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E3A8A"/>
                </a:solidFill>
              </a:defRPr>
            </a:pPr>
            <a:r>
              <a:t>• Non-Linear Server SMPS: </a:t>
            </a:r>
            <a:r>
              <a:rPr sz="1350" b="0">
                <a:solidFill>
                  <a:srgbClr val="0F172A"/>
                </a:solidFill>
              </a:rPr>
              <a:t>Switch-Mode Power Supplies draw current in short, sharp pulses, injecting severe 3rd, 5th, and 7th harmonic frequencies into the power system.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Eddy Current Overheating: </a:t>
            </a:r>
            <a:r>
              <a:rPr sz="1350" b="0">
                <a:solidFill>
                  <a:srgbClr val="0F172A"/>
                </a:solidFill>
              </a:rPr>
              <a:t>Transformer core Eddy current losses increase with the square of frequency (P ∝ f² × I²), rapidly destroying ordinary transformer winding insulation.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K-Factor Rating Definition: </a:t>
            </a:r>
            <a:r>
              <a:rPr sz="1350" b="0">
                <a:solidFill>
                  <a:srgbClr val="0F172A"/>
                </a:solidFill>
              </a:rPr>
              <a:t>A weighting index (K = ∑ [I_h² × h²]) measuring a transformer's ability to safely dissipate harmonic heating without exceeding temperature limits.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Data Centre Standard: </a:t>
            </a:r>
            <a:r>
              <a:rPr sz="1350" b="0">
                <a:solidFill>
                  <a:srgbClr val="0F172A"/>
                </a:solidFill>
              </a:rPr>
              <a:t>K-20 rated transformers are mandatory for IT whitespace, featuring thicker copper windings, electrostatic shielding, and 200% neutral conductors.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91640"/>
            <a:ext cx="4876495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harmonics_kf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4572000" cy="23906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Figure 1: Pure 50 Hz linear sine wave vs. high-harmonic non-linear SMPS current pulses.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UTILITY POWER SYSTEMS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Triplen Harmonics &amp; 200% Neutral Sizing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8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Zero-Sequence Alignment: </a:t>
            </a:r>
            <a:r>
              <a:rPr sz="1450" b="0">
                <a:solidFill>
                  <a:srgbClr val="0F172A"/>
                </a:solidFill>
              </a:rPr>
              <a:t>Triplen harmonics (odd multiples of 3: 3rd, 9th, 15th) are in phase and do not cancel out in a balanced 3-phase 4-wire system.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Neutral Current Addition: </a:t>
            </a:r>
            <a:r>
              <a:rPr sz="1450" b="0">
                <a:solidFill>
                  <a:srgbClr val="0F172A"/>
                </a:solidFill>
              </a:rPr>
              <a:t>Triplen harmonic currents add up directly in the return neutral wire, causing neutral current to reach I_neutral ≈ 1.73 × I_phase.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Thermal Runaway Risk: </a:t>
            </a:r>
            <a:r>
              <a:rPr sz="1450" b="0">
                <a:solidFill>
                  <a:srgbClr val="0F172A"/>
                </a:solidFill>
              </a:rPr>
              <a:t>Standard neutral conductors overheat and suffer insulation breakdown, causing hazardous ground-to-neutral voltages in IT racks.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Engineering Solution: </a:t>
            </a:r>
            <a:r>
              <a:rPr sz="1450" b="0">
                <a:solidFill>
                  <a:srgbClr val="0F172A"/>
                </a:solidFill>
              </a:rPr>
              <a:t>Install 200% double-sized copper neutral conductors and Active Harmonic Filters (AHF) to maintain THDi &lt; 5% under IEEE 519 standards.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BACKUP POWER SYSTEMS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Backup Power: Diesel Generator (DG) Plant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9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Sustained Prime Source: </a:t>
            </a:r>
            <a:r>
              <a:rPr sz="1450" b="0">
                <a:solidFill>
                  <a:srgbClr val="0F172A"/>
                </a:solidFill>
              </a:rPr>
              <a:t>The on-site diesel plant serves as the ultimate sustained power source, providing complete autonomy during prolonged utility grid failures.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10-Second Black Start: </a:t>
            </a:r>
            <a:r>
              <a:rPr sz="1450" b="0">
                <a:solidFill>
                  <a:srgbClr val="0F172A"/>
                </a:solidFill>
              </a:rPr>
              <a:t>Digital Engine Control Units (ECUs) crank, accelerate to 1500 RPM / 50 Hz, and stabilize output voltage within 10 to 15 seconds of grid collapse.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On-Site Fuel Autonomy: </a:t>
            </a:r>
            <a:r>
              <a:rPr sz="1450" b="0">
                <a:solidFill>
                  <a:srgbClr val="0F172A"/>
                </a:solidFill>
              </a:rPr>
              <a:t>Tier III/IV standards require 48 to 72 hours of dedicated continuous-run diesel storage housed in underground double-walled tanks with leak sensors.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Automated Fuel Polishing: </a:t>
            </a:r>
            <a:r>
              <a:rPr sz="1450" b="0">
                <a:solidFill>
                  <a:srgbClr val="0F172A"/>
                </a:solidFill>
              </a:rPr>
              <a:t>Continuous multi-stage filtration removes water, particulates, and microbial sludge from stored fuel to prevent injector failure during emergency starts.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BACKUP POWER SYSTEMS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Generator Classifications: ISO 8528 Standards &amp; DCC 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10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Emergency Standby Power (ESP): </a:t>
            </a:r>
            <a:r>
              <a:rPr sz="1450" b="0">
                <a:solidFill>
                  <a:srgbClr val="0F172A"/>
                </a:solidFill>
              </a:rPr>
              <a:t>Rated for maximum 200 hours/year and 70% average load factor. Strictly rejected by Uptime Institute for Tier III/IV data centres.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Prime Power (PRP): </a:t>
            </a:r>
            <a:r>
              <a:rPr sz="1450" b="0">
                <a:solidFill>
                  <a:srgbClr val="0F172A"/>
                </a:solidFill>
              </a:rPr>
              <a:t>Permits unlimited annual run hours but restricts long-term average load factor to 70% over any 24-hour operational cycle.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Continuous Power (COP): </a:t>
            </a:r>
            <a:r>
              <a:rPr sz="1450" b="0">
                <a:solidFill>
                  <a:srgbClr val="0F172A"/>
                </a:solidFill>
              </a:rPr>
              <a:t>Allows 100% continuous base-load operation indefinitely, but possesses limited transient step-load handling capability.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Data Centre Continuous (DCC): </a:t>
            </a:r>
            <a:r>
              <a:rPr sz="1450" b="0">
                <a:solidFill>
                  <a:srgbClr val="0F172A"/>
                </a:solidFill>
              </a:rPr>
              <a:t>Industry gold standard (Cummins, Caterpillar, Kohler). Allows continuous 100% full-load operation for unlimited hours without derating.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BACKUP POWER SYSTEMS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Uninterruptible Power Supply (UPS): Topology Classifications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11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Standby / Offline UPS: </a:t>
            </a:r>
            <a:r>
              <a:rPr sz="1450" b="0">
                <a:solidFill>
                  <a:srgbClr val="0F172A"/>
                </a:solidFill>
              </a:rPr>
              <a:t>Feeds loads directly from raw utility power; mechanical relay switches to battery in 8 to 12 ms upon failure. Unacceptable for data centre IT.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Line-Interactive UPS: </a:t>
            </a:r>
            <a:r>
              <a:rPr sz="1450" b="0">
                <a:solidFill>
                  <a:srgbClr val="0F172A"/>
                </a:solidFill>
              </a:rPr>
              <a:t>Features an autotransformer compensating for sags with a 4 to 6 ms transfer gap. Suitable only for peripheral office networking racks.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Online Double Conversion (VFI): </a:t>
            </a:r>
            <a:r>
              <a:rPr sz="1450" b="0">
                <a:solidFill>
                  <a:srgbClr val="0F172A"/>
                </a:solidFill>
              </a:rPr>
              <a:t>Voltage and Frequency Independent. Continuously converts AC to DC, then back to pure 50 Hz AC. Delivers absolute zero (0.00 ms) transfer time.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Total Electrical Isolation: </a:t>
            </a:r>
            <a:r>
              <a:rPr sz="1450" b="0">
                <a:solidFill>
                  <a:srgbClr val="0F172A"/>
                </a:solidFill>
              </a:rPr>
              <a:t>Completely regenerates clean sinusoidal power, eliminating utility voltage sags, spikes, frequency fluctuations, and harmonics.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BACKUP POWER SYSTEMS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Online Double Conversion (VFI) &amp; Static Bypass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12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66928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E3A8A"/>
                </a:solidFill>
              </a:defRPr>
            </a:pPr>
            <a:r>
              <a:t>• IGBT Rectifier Stage: </a:t>
            </a:r>
            <a:r>
              <a:rPr sz="1350" b="0">
                <a:solidFill>
                  <a:srgbClr val="0F172A"/>
                </a:solidFill>
              </a:rPr>
              <a:t>Converts incoming 415V AC into a controlled DC link voltage while maintaining input Power Factor &gt; 0.99 and THDi &lt; 3% via PWM control.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Permanent DC Bus Battery Link: </a:t>
            </a:r>
            <a:r>
              <a:rPr sz="1350" b="0">
                <a:solidFill>
                  <a:srgbClr val="0F172A"/>
                </a:solidFill>
              </a:rPr>
              <a:t>The battery bank floats directly across the internal DC bus. On utility failure, battery power feeds the inverter instantly with 0 ms interruption.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IGBT Inverter Stage: </a:t>
            </a:r>
            <a:r>
              <a:rPr sz="1350" b="0">
                <a:solidFill>
                  <a:srgbClr val="0F172A"/>
                </a:solidFill>
              </a:rPr>
              <a:t>Re-synthesizes pristine 3-phase 415V AC power with tight voltage regulation (± 1%) regardless of load steps or input grid disturbances.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Static Bypass Switch: </a:t>
            </a:r>
            <a:r>
              <a:rPr sz="1350" b="0">
                <a:solidFill>
                  <a:srgbClr val="0F172A"/>
                </a:solidFill>
              </a:rPr>
              <a:t>Solid-state silicon controlled rectifiers (SCRs) provide a &lt; 2 ms failsafe bypass to utility power during inverter overloads or internal faults.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91640"/>
            <a:ext cx="4876495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ups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4572000" cy="26858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Figure 2: Architecture of an Online Double Conversion (VFI) UPS with Static Bypass.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BACKUP POWER SYSTEMS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Battery Energy Storage: VRLA vs. Lithium-Ion Chemistries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13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Valve Regulated Lead-Acid (VRLA): </a:t>
            </a:r>
            <a:r>
              <a:rPr sz="1450" b="0">
                <a:solidFill>
                  <a:srgbClr val="0F172A"/>
                </a:solidFill>
              </a:rPr>
              <a:t>Mature legacy technology with high weight requiring floor structural reinforcement; service life limited to 3 to 5 years.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Thermal Sensitivity of VRLA: </a:t>
            </a:r>
            <a:r>
              <a:rPr sz="1450" b="0">
                <a:solidFill>
                  <a:srgbClr val="0F172A"/>
                </a:solidFill>
              </a:rPr>
              <a:t>Must be kept strictly at 20°C to 25°C; operational lifespan degrades by 50% for every 10°C temperature elevation above nominal.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Lithium-Ion (LiFePO4 / NMC): </a:t>
            </a:r>
            <a:r>
              <a:rPr sz="1450" b="0">
                <a:solidFill>
                  <a:srgbClr val="0F172A"/>
                </a:solidFill>
              </a:rPr>
              <a:t>Modern high-density chemistry offering 60% weight reduction, 50% smaller footprint, and 12 to 15 years operational calendar life.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Operating Envelope &amp; Fast Recharge: </a:t>
            </a:r>
            <a:r>
              <a:rPr sz="1450" b="0">
                <a:solidFill>
                  <a:srgbClr val="0F172A"/>
                </a:solidFill>
              </a:rPr>
              <a:t>Operates reliably up to 35°C (reducing cooling energy), recharges in 1 to 2 hours, and includes integrated Battery Management Systems (BMS).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ELECTRICAL DESIGN &amp; REDUNDANCY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Power System Redundancy: N, N+1, and 2N Topologies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14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66928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E3A8A"/>
                </a:solidFill>
              </a:defRPr>
            </a:pPr>
            <a:r>
              <a:t>• N Configuration (Base Capacity): </a:t>
            </a:r>
            <a:r>
              <a:rPr sz="1350" b="0">
                <a:solidFill>
                  <a:srgbClr val="0F172A"/>
                </a:solidFill>
              </a:rPr>
              <a:t>Provides baseline capacity required to support active IT load with zero spares. Any single component failure causes an outage.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N+1 Configuration (Parallel Redundant): </a:t>
            </a:r>
            <a:r>
              <a:rPr sz="1350" b="0">
                <a:solidFill>
                  <a:srgbClr val="0F172A"/>
                </a:solidFill>
              </a:rPr>
              <a:t>Includes one extra module beyond baseline (N). Allows scheduled maintenance or failure of one unit without disrupting IT load.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2N Configuration (System + System): </a:t>
            </a:r>
            <a:r>
              <a:rPr sz="1350" b="0">
                <a:solidFill>
                  <a:srgbClr val="0F172A"/>
                </a:solidFill>
              </a:rPr>
              <a:t>Two complete, independent electrical delivery systems (Path A &amp; Path B) running from substation down to dual-corded servers. Tier IV standard.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2(N+1) Configuration: </a:t>
            </a:r>
            <a:r>
              <a:rPr sz="1350" b="0">
                <a:solidFill>
                  <a:srgbClr val="0F172A"/>
                </a:solidFill>
              </a:rPr>
              <a:t>The pinnacle of resilience: two independent parallel distribution paths, each possessing internal N+1 module-level redundancy.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91640"/>
            <a:ext cx="4876495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redundancy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4572000" cy="25509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Figure 3: Redundancy topologies across Uptime Institute Tier classification levels.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POWER DISTRIBUTION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End-to-End Single Line Diagram (SLD) Power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15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66928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E3A8A"/>
                </a:solidFill>
              </a:defRPr>
            </a:pPr>
            <a:r>
              <a:t>• High-Voltage Intake: </a:t>
            </a:r>
            <a:r>
              <a:rPr sz="1350" b="0">
                <a:solidFill>
                  <a:srgbClr val="0F172A"/>
                </a:solidFill>
              </a:rPr>
              <a:t>Dual 33 kV utility lines feed Medium Voltage Vacuum Circuit Breaker (VCB) switchgear equipped with Ring Main Units.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Voltage Transformation: </a:t>
            </a:r>
            <a:r>
              <a:rPr sz="1350" b="0">
                <a:solidFill>
                  <a:srgbClr val="0F172A"/>
                </a:solidFill>
              </a:rPr>
              <a:t>Cast Resin Dry-Type step-down transformers convert 33 kV to 415 V utilization voltage (Dyn11 vector group, K-20 rated).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Main Switchboard &amp; ATS: </a:t>
            </a:r>
            <a:r>
              <a:rPr sz="1350" b="0">
                <a:solidFill>
                  <a:srgbClr val="0F172A"/>
                </a:solidFill>
              </a:rPr>
              <a:t>Low-voltage switchboard integrates utility feeds with backup diesel generators via high-speed Automatic Transfer Switches.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Dual-Path Delivery: </a:t>
            </a:r>
            <a:r>
              <a:rPr sz="1350" b="0">
                <a:solidFill>
                  <a:srgbClr val="0F172A"/>
                </a:solidFill>
              </a:rPr>
              <a:t>Conditioned power flows through parallel Online Double Conversion UPS systems into overhead track busways feeding dual rack ePDUs.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91640"/>
            <a:ext cx="4876495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sl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4572000" cy="34795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Figure 4: Complete Single Line Diagram (SLD) from utility substation to server rack.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POWER DISTRIBUTION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Transfer Switching Technologies: ATS vs. STS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16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Automatic Transfer Switch (ATS): </a:t>
            </a:r>
            <a:r>
              <a:rPr sz="1450" b="0">
                <a:solidFill>
                  <a:srgbClr val="0F172A"/>
                </a:solidFill>
              </a:rPr>
              <a:t>Electromechanical motorized switch operating upstream between Grid and Diesel Generators with switching speeds of 50 to 100 ms.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Static Transfer Switch (STS): </a:t>
            </a:r>
            <a:r>
              <a:rPr sz="1450" b="0">
                <a:solidFill>
                  <a:srgbClr val="0F172A"/>
                </a:solidFill>
              </a:rPr>
              <a:t>Solid-state silicon SCR switch performing phase-synchronized power transfers in 2 to 4 ms (&lt; 1/4 cycle), imperceptible to servers.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Single-Corded IT Protection: </a:t>
            </a:r>
            <a:r>
              <a:rPr sz="1450" b="0">
                <a:solidFill>
                  <a:srgbClr val="0F172A"/>
                </a:solidFill>
              </a:rPr>
              <a:t>STS units are deployed immediately upstream of legacy single-corded network switches to prevent reboot upon an upstream power feed loss.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Interlocking &amp; Anti-Paralleling: </a:t>
            </a:r>
            <a:r>
              <a:rPr sz="1450" b="0">
                <a:solidFill>
                  <a:srgbClr val="0F172A"/>
                </a:solidFill>
              </a:rPr>
              <a:t>Strict mechanical and microprocessor interlocks prevent accidental paralleling of unsynchronized electrical sources.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POWER DISTRIBUTION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Whitespace Distribution: Floor PDU vs. Overhead Busway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17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66928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E3A8A"/>
                </a:solidFill>
              </a:defRPr>
            </a:pPr>
            <a:r>
              <a:t>• Legacy Floor-Mounted PDU: </a:t>
            </a:r>
            <a:r>
              <a:rPr sz="1350" b="0">
                <a:solidFill>
                  <a:srgbClr val="0F172A"/>
                </a:solidFill>
              </a:rPr>
              <a:t>Steel cabinets housing isolation transformers; distributes power via hundreds of flexible underfloor conduit cables ('whips').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Underfloor Airflow Choking: </a:t>
            </a:r>
            <a:r>
              <a:rPr sz="1350" b="0">
                <a:solidFill>
                  <a:srgbClr val="0F172A"/>
                </a:solidFill>
              </a:rPr>
              <a:t>Dense accumulation of underfloor cable whips severely blocks chilled air circulation, causing hotspot risks in high-density server racks.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Overhead Track Busway: </a:t>
            </a:r>
            <a:r>
              <a:rPr sz="1350" b="0">
                <a:solidFill>
                  <a:srgbClr val="0F172A"/>
                </a:solidFill>
              </a:rPr>
              <a:t>Modular open-channel aluminum/copper track suspended directly above aisles, completely eliminating underfloor airflow obstructions.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Plug-and-Play Tap-Off Boxes: </a:t>
            </a:r>
            <a:r>
              <a:rPr sz="1350" b="0">
                <a:solidFill>
                  <a:srgbClr val="0F172A"/>
                </a:solidFill>
              </a:rPr>
              <a:t>Allows electricians to insert and lock modular branch circuit tap-off boxes in real time without de-energizing the main overhead busbar.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91640"/>
            <a:ext cx="4876495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busway_vs_w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4572000" cy="23870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Figure 5: Underfloor cable whip congestion vs. modern modular overhead track busway.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POWER DISTRIBUTION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Dual-Corded Server Power Allocation &amp; The 45%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18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66928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E3A8A"/>
                </a:solidFill>
              </a:defRPr>
            </a:pPr>
            <a:r>
              <a:t>• Internal Redundant PSUs: </a:t>
            </a:r>
            <a:r>
              <a:rPr sz="1350" b="0">
                <a:solidFill>
                  <a:srgbClr val="0F172A"/>
                </a:solidFill>
              </a:rPr>
              <a:t>Enterprise servers incorporate dual internal Power Supply Units (PSU-1 &amp; PSU-2) sharing the active processing load in a 50/50 ratio.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A/B Source Separation: </a:t>
            </a:r>
            <a:r>
              <a:rPr sz="1350" b="0">
                <a:solidFill>
                  <a:srgbClr val="0F172A"/>
                </a:solidFill>
              </a:rPr>
              <a:t>PSU-1 connects to Rack PDU A (UPS A); PSU-2 connects to Rack PDU B (UPS B), providing complete circuit independence.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The 40–45% Operational Rule: </a:t>
            </a:r>
            <a:r>
              <a:rPr sz="1350" b="0">
                <a:solidFill>
                  <a:srgbClr val="0F172A"/>
                </a:solidFill>
              </a:rPr>
              <a:t>Neither UPS path must exceed 45% rated load during normal dual-feed operation to guarantee safety headroom.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Instantaneous Load Step: </a:t>
            </a:r>
            <a:r>
              <a:rPr sz="1350" b="0">
                <a:solidFill>
                  <a:srgbClr val="0F172A"/>
                </a:solidFill>
              </a:rPr>
              <a:t>If UPS A fails, 100% of the entire data centre load immediately transfers to UPS B. Operating below 45% prevents cascading overload trips.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91640"/>
            <a:ext cx="4876495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dual_cor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4572000" cy="23870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Figure 6: Dual-corded server power allocation and the critical 45% maximum operational threshold.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EARTHING &amp; LIGHTNING PROTECTION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Earthing Philosophy: Life Safety vs. Digital Signal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19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Dual-Role Grounding Mandate: </a:t>
            </a:r>
            <a:r>
              <a:rPr sz="1450" b="0">
                <a:solidFill>
                  <a:srgbClr val="0F172A"/>
                </a:solidFill>
              </a:rPr>
              <a:t>Data centre grounding simultaneously fulfills two objectives: Low-Frequency Fault Clearing and High-Frequency Signal Integrity.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Personnel Safety (IEEE 142): </a:t>
            </a:r>
            <a:r>
              <a:rPr sz="1450" b="0">
                <a:solidFill>
                  <a:srgbClr val="0F172A"/>
                </a:solidFill>
              </a:rPr>
              <a:t>Provides a permanent low-impedance metallic fault return path to trip upstream circuit breakers within 20 ms during insulation failure.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Signal Grounding (IEEE 1100): </a:t>
            </a:r>
            <a:r>
              <a:rPr sz="1450" b="0">
                <a:solidFill>
                  <a:srgbClr val="0F172A"/>
                </a:solidFill>
              </a:rPr>
              <a:t>High-speed processors operating at gigahertz frequencies require a stable equipotential reference plane to eliminate common-mode noise and ESD.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Earth Resistance Standard: </a:t>
            </a:r>
            <a:r>
              <a:rPr sz="1450" b="0">
                <a:solidFill>
                  <a:srgbClr val="0F172A"/>
                </a:solidFill>
              </a:rPr>
              <a:t>Engineering standards mandate a total earth electrode system resistance of less than 1.0 Ohm (R_earth &lt; 1.0 Ω) for mission-critical IT facilities.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EARTHING &amp; LIGHTNING PROTECTION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TN-S Grounding Architecture: Standards &amp; Separation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20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66928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E3A8A"/>
                </a:solidFill>
              </a:defRPr>
            </a:pPr>
            <a:r>
              <a:t>• TN-S Definition: </a:t>
            </a:r>
            <a:r>
              <a:rPr sz="1350" b="0">
                <a:solidFill>
                  <a:srgbClr val="0F172A"/>
                </a:solidFill>
              </a:rPr>
              <a:t>T (Solidly grounded transformer neutral), N (Chassis bonded to earth), S (Neutral and Protective Earth run as strictly separate conductors).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Single-Point Neutral Bonding: </a:t>
            </a:r>
            <a:r>
              <a:rPr sz="1350" b="0">
                <a:solidFill>
                  <a:srgbClr val="0F172A"/>
                </a:solidFill>
              </a:rPr>
              <a:t>Neutral (N) and Protective Earth (PE) are bonded together at ONLY ONE point in the facility: the main transformer secondary star point.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Strict Prohibition of TN-C: </a:t>
            </a:r>
            <a:r>
              <a:rPr sz="1350" b="0">
                <a:solidFill>
                  <a:srgbClr val="0F172A"/>
                </a:solidFill>
              </a:rPr>
              <a:t>In TN-C systems, Neutral and Earth share one wire (PEN). Harmonic return currents flow across server chassis, causing shock risks and data corruption.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Electromagnetic Isolation: </a:t>
            </a:r>
            <a:r>
              <a:rPr sz="1350" b="0">
                <a:solidFill>
                  <a:srgbClr val="0F172A"/>
                </a:solidFill>
              </a:rPr>
              <a:t>Guarantees zero operational return currents circulate through building steel, cable trays, or server rack cabinets.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91640"/>
            <a:ext cx="4876495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tns_eart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4572000" cy="26348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Figure 7: Schematic wiring of the TN-S earthing scheme showing total separation of Neutral and PE.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EARTHING &amp; LIGHTNING PROTECTION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High-Frequency Grounding: Signal Reference Grid (SRG)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21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66928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E3A8A"/>
                </a:solidFill>
              </a:defRPr>
            </a:pPr>
            <a:r>
              <a:t>• High-Frequency Inductance: </a:t>
            </a:r>
            <a:r>
              <a:rPr sz="1350" b="0">
                <a:solidFill>
                  <a:srgbClr val="0F172A"/>
                </a:solidFill>
              </a:rPr>
              <a:t>At gigahertz frequencies, conductor inductive reactance dominates (Z = R + j2πfL). A conventional single ground wire acts as an open antenna.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Welded 2ft × 2ft Copper Mesh: </a:t>
            </a:r>
            <a:r>
              <a:rPr sz="1350" b="0">
                <a:solidFill>
                  <a:srgbClr val="0F172A"/>
                </a:solidFill>
              </a:rPr>
              <a:t>A prefabricated planar grid of flat copper strips or bare wire forming a 2-foot by 2-foot mesh installed directly beneath raised floor pedestals.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Multi-Path Low Impedance (Z ≈ 0 Ω): </a:t>
            </a:r>
            <a:r>
              <a:rPr sz="1350" b="0">
                <a:solidFill>
                  <a:srgbClr val="0F172A"/>
                </a:solidFill>
              </a:rPr>
              <a:t>The mesh provides hundreds of parallel interconnected ground paths, reducing high-frequency impedance to near zero across the entire whitespace.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Equipotential Bonding: </a:t>
            </a:r>
            <a:r>
              <a:rPr sz="1350" b="0">
                <a:solidFill>
                  <a:srgbClr val="0F172A"/>
                </a:solidFill>
              </a:rPr>
              <a:t>All server racks, stanchions, cable trays, and air handlers are bonded to the SRG using short, wide, low-inductance braided copper straps.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91640"/>
            <a:ext cx="4876495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srg_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4572000" cy="25509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Figure 8: Signal Reference Grid (SRG) welded 2ft × 2ft copper mesh beneath raised floor pedestals.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EARTHING &amp; LIGHTNING PROTECTION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Lightning &amp; Surge Protection: IEC 62305 &amp; SPD Cascading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22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66928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E3A8A"/>
                </a:solidFill>
              </a:defRPr>
            </a:pPr>
            <a:r>
              <a:t>• External Protection (Faraday Cage): </a:t>
            </a:r>
            <a:r>
              <a:rPr sz="1350" b="0">
                <a:solidFill>
                  <a:srgbClr val="0F172A"/>
                </a:solidFill>
              </a:rPr>
              <a:t>Engineered under IEC 62305 using the Rolling Sphere Method (radius = 20m). Rooftop air terminals safely channel 200 kA strikes to ground.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Coordinated 3-Stage SPD Cascade: </a:t>
            </a:r>
            <a:r>
              <a:rPr sz="1350" b="0">
                <a:solidFill>
                  <a:srgbClr val="0F172A"/>
                </a:solidFill>
              </a:rPr>
              <a:t>Protects sensitive server silicon against lightning electromagnetic pulses (LEMP) and switching surges across three coordinated defense layers.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Type 1 SPD (Substation Intake): </a:t>
            </a:r>
            <a:r>
              <a:rPr sz="1350" b="0">
                <a:solidFill>
                  <a:srgbClr val="0F172A"/>
                </a:solidFill>
              </a:rPr>
              <a:t>Heavy-duty spark gaps or MOVs absorbing high-energy direct lightning current waveforms (10/350 µs) at the facility service entrance.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Type 2 &amp; Type 3 SPDs: </a:t>
            </a:r>
            <a:r>
              <a:rPr sz="1350" b="0">
                <a:solidFill>
                  <a:srgbClr val="0F172A"/>
                </a:solidFill>
              </a:rPr>
              <a:t>Type 2 devices clamp distribution switching surges (8/20 µs); Type 3 devices in rack ePDUs provide precision sub-microsecond voltage clamping.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91640"/>
            <a:ext cx="4876495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spd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4572000" cy="23870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Figure 9: Coordinated 3-stage Surge Protection Device (SPD) cascade under IEC 62305.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ELECTRICAL DESIGN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Electrical Capacity Planning &amp; Load Sizing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23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Step 1: IT Whitespace Load: </a:t>
            </a:r>
            <a:r>
              <a:rPr sz="1450" b="0">
                <a:solidFill>
                  <a:srgbClr val="0F172A"/>
                </a:solidFill>
              </a:rPr>
              <a:t>Total IT Load (kW) = ∑ [Rack Count × Power per Rack]. Incorporates blade servers, high-density AI accelerators, storage, and networking.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Step 2: Mechanical Cooling Overhead: </a:t>
            </a:r>
            <a:r>
              <a:rPr sz="1450" b="0">
                <a:solidFill>
                  <a:srgbClr val="0F172A"/>
                </a:solidFill>
              </a:rPr>
              <a:t>Chillers, cooling towers, pumps, and Computer Room Air Handlers (CRAH) draw 25% to 40% of active IT load depending on ambient climate.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Step 3: Auxiliary Infrastructure: </a:t>
            </a:r>
            <a:r>
              <a:rPr sz="1450" b="0">
                <a:solidFill>
                  <a:srgbClr val="0F172A"/>
                </a:solidFill>
              </a:rPr>
              <a:t>Substation battery chargers, whitespace lighting, fire suppression, security, and UPS conversion losses represent an additional 5% to 8% load.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Step 4: Diversity &amp; Growth Margins: </a:t>
            </a:r>
            <a:r>
              <a:rPr sz="1450" b="0">
                <a:solidFill>
                  <a:srgbClr val="0F172A"/>
                </a:solidFill>
              </a:rPr>
              <a:t>Apply operational diversity factors (0.80–0.90) and include 20% to 30% electrical headroom across switchgear and transformers for future expansion.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ENERGY EFFICIENCY &amp; METRICS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Data Centre Energy Efficiency: PUE &amp; DCiE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24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66928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E3A8A"/>
                </a:solidFill>
              </a:defRPr>
            </a:pPr>
            <a:r>
              <a:t>• Power Usage Effectiveness (PUE): </a:t>
            </a:r>
            <a:r>
              <a:rPr sz="1350" b="0">
                <a:solidFill>
                  <a:srgbClr val="0F172A"/>
                </a:solidFill>
              </a:rPr>
              <a:t>The global benchmark by The Green Grid: PUE = Total Facility Energy / IT Equipment Energy. Ideal theoretical PUE is 1.0 (zero non-IT waste).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Industry Benchmarks: </a:t>
            </a:r>
            <a:r>
              <a:rPr sz="1350" b="0">
                <a:solidFill>
                  <a:srgbClr val="0F172A"/>
                </a:solidFill>
              </a:rPr>
              <a:t>Legacy facilities operate at PUE 1.8–2.0. Modern enterprise facilities achieve PUE 1.3–1.4. Hyperscale liquid-cooled facilities achieve PUE 1.10–1.15.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Data Centre Infrastructure Efficiency (DCiE): </a:t>
            </a:r>
            <a:r>
              <a:rPr sz="1350" b="0">
                <a:solidFill>
                  <a:srgbClr val="0F172A"/>
                </a:solidFill>
              </a:rPr>
              <a:t>The reciprocal of PUE expressed as a percentage: DCiE = (1 / PUE) × 100%. Quantifies the percentage of incoming energy delivered to computing silicon.</a:t>
            </a:r>
          </a:p>
          <a:p>
            <a:pPr>
              <a:spcBef>
                <a:spcPts val="1400"/>
              </a:spcBef>
              <a:defRPr sz="1450" b="1">
                <a:solidFill>
                  <a:srgbClr val="1E3A8A"/>
                </a:solidFill>
              </a:defRPr>
            </a:pPr>
            <a:r>
              <a:t>• Efficiency Levers: </a:t>
            </a:r>
            <a:r>
              <a:rPr sz="1350" b="0">
                <a:solidFill>
                  <a:srgbClr val="0F172A"/>
                </a:solidFill>
              </a:rPr>
              <a:t>Hot/cold aisle containment, variable frequency drives (VFDs) on pumps/fans, elevated chilled water setpoints, and transformer loss minimization.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91640"/>
            <a:ext cx="4876495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pu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4572000" cy="40617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Figure 10: Total facility energy consumption breakdown for a modern data centre (PUE = 1.40).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ENGINEERING SUMMARY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Summary of Core Electrical Engineering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Unit 2: Data Centre Electrical Infrastructure Engineering  |  Theoretical Reference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Slide 25 of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• Continuous Availability: </a:t>
            </a:r>
            <a:r>
              <a:rPr sz="1450" b="0">
                <a:solidFill>
                  <a:srgbClr val="0F172A"/>
                </a:solidFill>
              </a:rPr>
              <a:t>Total elimination of single points of failure via dual utility interconnections, DCC-rated generator plants, and Online Double Conversion UPS systems.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Power Quality Management: </a:t>
            </a:r>
            <a:r>
              <a:rPr sz="1450" b="0">
                <a:solidFill>
                  <a:srgbClr val="0F172A"/>
                </a:solidFill>
              </a:rPr>
              <a:t>Harmonic mitigation via K-20 rated CRT transformers, active harmonic filters, and 200% double-sized neutral conductors designed for SMPS loads.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High-Frequency Grounding: </a:t>
            </a:r>
            <a:r>
              <a:rPr sz="1450" b="0">
                <a:solidFill>
                  <a:srgbClr val="0F172A"/>
                </a:solidFill>
              </a:rPr>
              <a:t>Implementation of strict TN-S earthing topology combined with an equipotential 2ft × 2ft Signal Reference Grid (SRG) ensuring earth resistance &lt; 1.0 Ω.</a:t>
            </a:r>
          </a:p>
          <a:p>
            <a:pPr>
              <a:spcBef>
                <a:spcPts val="1600"/>
              </a:spcBef>
              <a:defRPr sz="1600" b="1">
                <a:solidFill>
                  <a:srgbClr val="1E3A8A"/>
                </a:solidFill>
              </a:defRPr>
            </a:pPr>
            <a:r>
              <a:t>• Holistic Lifecycle Sizing: </a:t>
            </a:r>
            <a:r>
              <a:rPr sz="1450" b="0">
                <a:solidFill>
                  <a:srgbClr val="0F172A"/>
                </a:solidFill>
              </a:rPr>
              <a:t>Rigorous capacity modeling factoring in IT density, mechanical cooling overhead, Uptime Tier redundancy targets, and aggressive PUE efficiency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