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371600"/>
            <a:ext cx="137160" cy="3931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280160"/>
            <a:ext cx="9601200" cy="4114800"/>
          </a:xfrm>
          <a:prstGeom prst="rect">
            <a:avLst/>
          </a:prstGeom>
          <a:noFill/>
        </p:spPr>
        <p:txBody>
          <a:bodyPr wrap="square">
            <a:spAutoFit/>
          </a:bodyPr>
          <a:lstStyle/>
          <a:p>
            <a:pPr>
              <a:defRPr sz="1400" b="1">
                <a:solidFill>
                  <a:srgbClr val="0EA5E9"/>
                </a:solidFill>
              </a:defRPr>
            </a:pPr>
            <a:r>
              <a:t>DATA CENTRE SYSTEMS ENGINEERING (M.TECH CSE)</a:t>
            </a:r>
          </a:p>
          <a:p>
            <a:pPr>
              <a:spcBef>
                <a:spcPts val="800"/>
              </a:spcBef>
              <a:defRPr sz="3000" b="1">
                <a:solidFill>
                  <a:srgbClr val="FFFFFF"/>
                </a:solidFill>
              </a:defRPr>
            </a:pPr>
            <a:r>
              <a:t>Unit 2: Electrical Infrastructure Engineering</a:t>
            </a:r>
          </a:p>
          <a:p>
            <a:pPr>
              <a:spcBef>
                <a:spcPts val="800"/>
              </a:spcBef>
              <a:defRPr sz="1600">
                <a:solidFill>
                  <a:srgbClr val="CBD5E1"/>
                </a:solidFill>
              </a:defRPr>
            </a:pPr>
            <a:r>
              <a:t>Easy-to-Understand Master Revision Deck for University Exams</a:t>
            </a:r>
          </a:p>
          <a:p>
            <a:pPr>
              <a:spcBef>
                <a:spcPts val="1400"/>
              </a:spcBef>
              <a:defRPr sz="1200">
                <a:solidFill>
                  <a:srgbClr val="94A3B8"/>
                </a:solidFill>
              </a:defRPr>
            </a:pPr>
            <a:r>
              <a:t>Plain English Explanations • Simple Diagrams • High-Scoring Exam Tips • Solved Numericals</a:t>
            </a:r>
          </a:p>
          <a:p>
            <a:pPr>
              <a:spcBef>
                <a:spcPts val="2200"/>
              </a:spcBef>
              <a:defRPr sz="1100" b="1">
                <a:solidFill>
                  <a:srgbClr val="059669"/>
                </a:solidFill>
              </a:defRPr>
            </a:pPr>
            <a:r>
              <a:t>MIT-WPU × NIRVAA Solution Pvt. Ltd. | 100% Exam-Focused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2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BIG PICTURE</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The Journey of Electricity in a Data Centre (In Simple Words)</a:t>
            </a:r>
          </a:p>
          <a:p>
            <a:pPr>
              <a:defRPr sz="1100">
                <a:solidFill>
                  <a:srgbClr val="94A3B8"/>
                </a:solidFill>
                <a:latin typeface="Calibri"/>
              </a:defRPr>
            </a:pPr>
            <a:r>
              <a:t>How power travels from government electric poles down to the CPU chip inside a server</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02</a:t>
            </a:r>
          </a:p>
        </p:txBody>
      </p:sp>
      <p:sp>
        <p:nvSpPr>
          <p:cNvPr id="8" name="Rounded Rectangle 7"/>
          <p:cNvSpPr/>
          <p:nvPr/>
        </p:nvSpPr>
        <p:spPr>
          <a:xfrm>
            <a:off x="548640" y="1280160"/>
            <a:ext cx="11094415" cy="48463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10637215" cy="411480"/>
          </a:xfrm>
          <a:prstGeom prst="rect">
            <a:avLst/>
          </a:prstGeom>
          <a:noFill/>
        </p:spPr>
        <p:txBody>
          <a:bodyPr wrap="none">
            <a:spAutoFit/>
          </a:bodyPr>
          <a:lstStyle/>
          <a:p>
            <a:pPr>
              <a:defRPr sz="1400" b="1">
                <a:solidFill>
                  <a:srgbClr val="0F172A"/>
                </a:solidFill>
                <a:latin typeface="Calibri"/>
              </a:defRPr>
            </a:pPr>
            <a:r>
              <a:t>The 6-Step Power Pipeline (Memorize This Flow!)</a:t>
            </a:r>
          </a:p>
        </p:txBody>
      </p:sp>
      <p:sp>
        <p:nvSpPr>
          <p:cNvPr id="10" name="Rounded Rectangle 9"/>
          <p:cNvSpPr/>
          <p:nvPr/>
        </p:nvSpPr>
        <p:spPr>
          <a:xfrm>
            <a:off x="10180015" y="1463040"/>
            <a:ext cx="128016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THE MASTER FLOW</a:t>
            </a:r>
          </a:p>
        </p:txBody>
      </p:sp>
      <p:sp>
        <p:nvSpPr>
          <p:cNvPr id="11" name="TextBox 10"/>
          <p:cNvSpPr txBox="1"/>
          <p:nvPr/>
        </p:nvSpPr>
        <p:spPr>
          <a:xfrm>
            <a:off x="777240" y="1920240"/>
            <a:ext cx="10637215"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1. High Voltage Grid (Substation):</a:t>
            </a:r>
            <a:r>
              <a:rPr b="0">
                <a:solidFill>
                  <a:srgbClr val="475569"/>
                </a:solidFill>
              </a:rPr>
              <a:t> Government power comes in at 33,000V or 11,000V through two different underground paths so one cable cut doesn't kill the building.</a:t>
            </a:r>
          </a:p>
          <a:p>
            <a:pPr>
              <a:spcAft>
                <a:spcPts val="600"/>
              </a:spcAft>
              <a:defRPr sz="1100">
                <a:solidFill>
                  <a:srgbClr val="475569"/>
                </a:solidFill>
                <a:latin typeface="Calibri"/>
              </a:defRPr>
            </a:pPr>
            <a:r>
              <a:rPr b="1">
                <a:solidFill>
                  <a:srgbClr val="0F172A"/>
                </a:solidFill>
              </a:rPr>
              <a:t>• 2. Step-Down Transformers:</a:t>
            </a:r>
            <a:r>
              <a:rPr b="0">
                <a:solidFill>
                  <a:srgbClr val="475569"/>
                </a:solidFill>
              </a:rPr>
              <a:t> Reduces the deadly 33,000V down to safe 415V/230V that equipment can use. Must be 'Dry-Type' (no oil fire risk).</a:t>
            </a:r>
          </a:p>
          <a:p>
            <a:pPr>
              <a:spcAft>
                <a:spcPts val="600"/>
              </a:spcAft>
              <a:defRPr sz="1100">
                <a:solidFill>
                  <a:srgbClr val="475569"/>
                </a:solidFill>
                <a:latin typeface="Calibri"/>
              </a:defRPr>
            </a:pPr>
            <a:r>
              <a:rPr b="1">
                <a:solidFill>
                  <a:srgbClr val="0F172A"/>
                </a:solidFill>
              </a:rPr>
              <a:t>• 3. Generator Backup (DG Sets):</a:t>
            </a:r>
            <a:r>
              <a:rPr b="0">
                <a:solidFill>
                  <a:srgbClr val="475569"/>
                </a:solidFill>
              </a:rPr>
              <a:t> If government power cuts, giant diesel engines automatically crank up and supply power within 10 seconds. They have enough diesel for 3 days!</a:t>
            </a:r>
          </a:p>
          <a:p>
            <a:pPr>
              <a:spcAft>
                <a:spcPts val="600"/>
              </a:spcAft>
              <a:defRPr sz="1100">
                <a:solidFill>
                  <a:srgbClr val="475569"/>
                </a:solidFill>
                <a:latin typeface="Calibri"/>
              </a:defRPr>
            </a:pPr>
            <a:r>
              <a:rPr b="1">
                <a:solidFill>
                  <a:srgbClr val="0F172A"/>
                </a:solidFill>
              </a:rPr>
              <a:t>• 4. The Battery Bridge (UPS):</a:t>
            </a:r>
            <a:r>
              <a:rPr b="0">
                <a:solidFill>
                  <a:srgbClr val="475569"/>
                </a:solidFill>
              </a:rPr>
              <a:t> While generators take 10 seconds to start, the UPS powers servers with ZERO milliseconds delay. The servers don't even flicker.</a:t>
            </a:r>
          </a:p>
          <a:p>
            <a:pPr>
              <a:spcAft>
                <a:spcPts val="600"/>
              </a:spcAft>
              <a:defRPr sz="1100">
                <a:solidFill>
                  <a:srgbClr val="475569"/>
                </a:solidFill>
                <a:latin typeface="Calibri"/>
              </a:defRPr>
            </a:pPr>
            <a:r>
              <a:rPr b="1">
                <a:solidFill>
                  <a:srgbClr val="0F172A"/>
                </a:solidFill>
              </a:rPr>
              <a:t>• 5. Floor Distribution (PDUs &amp; Busway):</a:t>
            </a:r>
            <a:r>
              <a:rPr b="0">
                <a:solidFill>
                  <a:srgbClr val="475569"/>
                </a:solidFill>
              </a:rPr>
              <a:t> Overhead metal tracks on the ceiling drop power cables down to each server rack safely and cleanly.</a:t>
            </a:r>
          </a:p>
          <a:p>
            <a:pPr>
              <a:spcAft>
                <a:spcPts val="600"/>
              </a:spcAft>
              <a:defRPr sz="1100">
                <a:solidFill>
                  <a:srgbClr val="475569"/>
                </a:solidFill>
                <a:latin typeface="Calibri"/>
              </a:defRPr>
            </a:pPr>
            <a:r>
              <a:rPr b="1">
                <a:solidFill>
                  <a:srgbClr val="0F172A"/>
                </a:solidFill>
              </a:rPr>
              <a:t>• 6. Server Dual Power Supplies (Dual Cording):</a:t>
            </a:r>
            <a:r>
              <a:rPr b="0">
                <a:solidFill>
                  <a:srgbClr val="475569"/>
                </a:solidFill>
              </a:rPr>
              <a:t> Every server has two power cords (Plug A into Path A, Plug B into Path B). If one plug fails, the server never reboots!</a:t>
            </a:r>
          </a:p>
          <a:p>
            <a:pPr>
              <a:spcAft>
                <a:spcPts val="600"/>
              </a:spcAft>
              <a:defRPr sz="1100">
                <a:solidFill>
                  <a:srgbClr val="475569"/>
                </a:solidFill>
                <a:latin typeface="Calibri"/>
              </a:defRPr>
            </a:pPr>
            <a:r>
              <a:rPr b="1">
                <a:solidFill>
                  <a:srgbClr val="0F172A"/>
                </a:solidFill>
              </a:rPr>
              <a:t>• Golden Exam Rule:</a:t>
            </a:r>
            <a:r>
              <a:rPr b="0">
                <a:solidFill>
                  <a:srgbClr val="475569"/>
                </a:solidFill>
              </a:rPr>
              <a:t> When asked for the Single Line Diagram (SLD), just draw these 6 blocks in order from top to bottom!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3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MODULE 1</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Utility Power: Why We Need Dual Feeds &amp; RMU</a:t>
            </a:r>
          </a:p>
          <a:p>
            <a:pPr>
              <a:defRPr sz="1100">
                <a:solidFill>
                  <a:srgbClr val="94A3B8"/>
                </a:solidFill>
                <a:latin typeface="Calibri"/>
              </a:defRPr>
            </a:pPr>
            <a:r>
              <a:t>Understanding how data centres connect to the power grid without ever losing power</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03</a:t>
            </a:r>
          </a:p>
        </p:txBody>
      </p:sp>
      <p:sp>
        <p:nvSpPr>
          <p:cNvPr id="8" name="Rounded Rectangle 7"/>
          <p:cNvSpPr/>
          <p:nvPr/>
        </p:nvSpPr>
        <p:spPr>
          <a:xfrm>
            <a:off x="548640" y="1280160"/>
            <a:ext cx="53492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none">
            <a:spAutoFit/>
          </a:bodyPr>
          <a:lstStyle/>
          <a:p>
            <a:pPr>
              <a:defRPr sz="1400" b="1">
                <a:solidFill>
                  <a:srgbClr val="0F172A"/>
                </a:solidFill>
                <a:latin typeface="Calibri"/>
              </a:defRPr>
            </a:pPr>
            <a:r>
              <a:t>Dual Utility Feeds (The 2-Road Rule)</a:t>
            </a:r>
          </a:p>
        </p:txBody>
      </p:sp>
      <p:sp>
        <p:nvSpPr>
          <p:cNvPr id="10" name="Rounded Rectangle 9"/>
          <p:cNvSpPr/>
          <p:nvPr/>
        </p:nvSpPr>
        <p:spPr>
          <a:xfrm>
            <a:off x="4434840" y="1463040"/>
            <a:ext cx="128016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GRID CONNECTION</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The Problem:</a:t>
            </a:r>
            <a:r>
              <a:rPr b="0">
                <a:solidFill>
                  <a:srgbClr val="475569"/>
                </a:solidFill>
              </a:rPr>
              <a:t> If a data centre only connects to one electrical wire from the street, any road construction or vehicle crash cutting that wire shuts down Google/banking.</a:t>
            </a:r>
          </a:p>
          <a:p>
            <a:pPr>
              <a:spcAft>
                <a:spcPts val="600"/>
              </a:spcAft>
              <a:defRPr sz="1100">
                <a:solidFill>
                  <a:srgbClr val="475569"/>
                </a:solidFill>
                <a:latin typeface="Calibri"/>
              </a:defRPr>
            </a:pPr>
            <a:r>
              <a:rPr b="1">
                <a:solidFill>
                  <a:srgbClr val="0F172A"/>
                </a:solidFill>
              </a:rPr>
              <a:t>• The Solution (Dual Feeds):</a:t>
            </a:r>
            <a:r>
              <a:rPr b="0">
                <a:solidFill>
                  <a:srgbClr val="475569"/>
                </a:solidFill>
              </a:rPr>
              <a:t> Bring in TWO separate power cables from TWO completely different power substations.</a:t>
            </a:r>
          </a:p>
          <a:p>
            <a:pPr>
              <a:spcAft>
                <a:spcPts val="600"/>
              </a:spcAft>
              <a:defRPr sz="1100">
                <a:solidFill>
                  <a:srgbClr val="475569"/>
                </a:solidFill>
                <a:latin typeface="Calibri"/>
              </a:defRPr>
            </a:pPr>
            <a:r>
              <a:rPr b="1">
                <a:solidFill>
                  <a:srgbClr val="0F172A"/>
                </a:solidFill>
              </a:rPr>
              <a:t>• Physical Route Separation:</a:t>
            </a:r>
            <a:r>
              <a:rPr b="0">
                <a:solidFill>
                  <a:srgbClr val="475569"/>
                </a:solidFill>
              </a:rPr>
              <a:t> Cable A comes from North Street; Cable B comes from South Street (&gt; 20 meters apart). If a backhoe digs up one road, the other line stays alive!</a:t>
            </a:r>
          </a:p>
          <a:p>
            <a:pPr>
              <a:spcAft>
                <a:spcPts val="600"/>
              </a:spcAft>
              <a:defRPr sz="1100">
                <a:solidFill>
                  <a:srgbClr val="475569"/>
                </a:solidFill>
                <a:latin typeface="Calibri"/>
              </a:defRPr>
            </a:pPr>
            <a:r>
              <a:rPr b="1">
                <a:solidFill>
                  <a:srgbClr val="0F172A"/>
                </a:solidFill>
              </a:rPr>
              <a:t>• Ring Main Unit (RMU):</a:t>
            </a:r>
            <a:r>
              <a:rPr b="0">
                <a:solidFill>
                  <a:srgbClr val="475569"/>
                </a:solidFill>
              </a:rPr>
              <a:t> Think of RMU like a roundabout for electricity. If one road has an accident, the roundabout automatically routes power through the other road.</a:t>
            </a:r>
          </a:p>
          <a:p>
            <a:pPr>
              <a:spcAft>
                <a:spcPts val="600"/>
              </a:spcAft>
              <a:defRPr sz="1100">
                <a:solidFill>
                  <a:srgbClr val="475569"/>
                </a:solidFill>
                <a:latin typeface="Calibri"/>
              </a:defRPr>
            </a:pPr>
            <a:r>
              <a:rPr b="1">
                <a:solidFill>
                  <a:srgbClr val="0F172A"/>
                </a:solidFill>
              </a:rPr>
              <a:t>• Gas-Insulated Switchgear (GIS):</a:t>
            </a:r>
            <a:r>
              <a:rPr b="0">
                <a:solidFill>
                  <a:srgbClr val="475569"/>
                </a:solidFill>
              </a:rPr>
              <a:t> Compact, sealed switch boxes filled with safe gas instead of open air. Takes up 70% less room in city buildings.</a:t>
            </a:r>
          </a:p>
        </p:txBody>
      </p:sp>
      <p:sp>
        <p:nvSpPr>
          <p:cNvPr id="12" name="Rounded Rectangle 11"/>
          <p:cNvSpPr/>
          <p:nvPr/>
        </p:nvSpPr>
        <p:spPr>
          <a:xfrm>
            <a:off x="6217920" y="1280160"/>
            <a:ext cx="53492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none">
            <a:spAutoFit/>
          </a:bodyPr>
          <a:lstStyle/>
          <a:p>
            <a:pPr>
              <a:defRPr sz="1400" b="1">
                <a:solidFill>
                  <a:srgbClr val="0F172A"/>
                </a:solidFill>
                <a:latin typeface="Calibri"/>
              </a:defRPr>
            </a:pPr>
            <a:r>
              <a:t>Transformers &amp; K-Factor (Why Normal Transformers Burn)</a:t>
            </a:r>
          </a:p>
        </p:txBody>
      </p:sp>
      <p:sp>
        <p:nvSpPr>
          <p:cNvPr id="14" name="Rounded Rectangle 13"/>
          <p:cNvSpPr/>
          <p:nvPr/>
        </p:nvSpPr>
        <p:spPr>
          <a:xfrm>
            <a:off x="10104120" y="1463040"/>
            <a:ext cx="128016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TRANSFORMERS</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Cast Resin (Dry-Type) Transformers:</a:t>
            </a:r>
            <a:r>
              <a:rPr b="0">
                <a:solidFill>
                  <a:srgbClr val="475569"/>
                </a:solidFill>
              </a:rPr>
              <a:t> Built with solid epoxy resin instead of flammable oil. Safe to put directly inside the building. Cannot catch fire.</a:t>
            </a:r>
          </a:p>
          <a:p>
            <a:pPr>
              <a:spcAft>
                <a:spcPts val="600"/>
              </a:spcAft>
              <a:defRPr sz="1100">
                <a:solidFill>
                  <a:srgbClr val="475569"/>
                </a:solidFill>
                <a:latin typeface="Calibri"/>
              </a:defRPr>
            </a:pPr>
            <a:r>
              <a:rPr b="1">
                <a:solidFill>
                  <a:srgbClr val="0F172A"/>
                </a:solidFill>
              </a:rPr>
              <a:t>• What are Harmonics?:</a:t>
            </a:r>
            <a:r>
              <a:rPr b="0">
                <a:solidFill>
                  <a:srgbClr val="475569"/>
                </a:solidFill>
              </a:rPr>
              <a:t> Normal appliances draw power smoothly like drinking water through a straw. Servers sip power in violent, jerky gulps (pulses). This is called 'Harmonics'.</a:t>
            </a:r>
          </a:p>
          <a:p>
            <a:pPr>
              <a:spcAft>
                <a:spcPts val="600"/>
              </a:spcAft>
              <a:defRPr sz="1100">
                <a:solidFill>
                  <a:srgbClr val="475569"/>
                </a:solidFill>
                <a:latin typeface="Calibri"/>
              </a:defRPr>
            </a:pPr>
            <a:r>
              <a:rPr b="1">
                <a:solidFill>
                  <a:srgbClr val="0F172A"/>
                </a:solidFill>
              </a:rPr>
              <a:t>• The Overheating Danger:</a:t>
            </a:r>
            <a:r>
              <a:rPr b="0">
                <a:solidFill>
                  <a:srgbClr val="475569"/>
                </a:solidFill>
              </a:rPr>
              <a:t> These jerky pulses create high-frequency eddy currents that make normal transformers burn up and melt.</a:t>
            </a:r>
          </a:p>
          <a:p>
            <a:pPr>
              <a:spcAft>
                <a:spcPts val="600"/>
              </a:spcAft>
              <a:defRPr sz="1100">
                <a:solidFill>
                  <a:srgbClr val="475569"/>
                </a:solidFill>
                <a:latin typeface="Calibri"/>
              </a:defRPr>
            </a:pPr>
            <a:r>
              <a:rPr b="1">
                <a:solidFill>
                  <a:srgbClr val="0F172A"/>
                </a:solidFill>
              </a:rPr>
              <a:t>• What is K-Factor?:</a:t>
            </a:r>
            <a:r>
              <a:rPr b="0">
                <a:solidFill>
                  <a:srgbClr val="475569"/>
                </a:solidFill>
              </a:rPr>
              <a:t> K-Factor is just a strength rating for transformers handling server electrical noise.</a:t>
            </a:r>
          </a:p>
          <a:p>
            <a:pPr>
              <a:spcAft>
                <a:spcPts val="600"/>
              </a:spcAft>
              <a:defRPr sz="1100">
                <a:solidFill>
                  <a:srgbClr val="475569"/>
                </a:solidFill>
                <a:latin typeface="Calibri"/>
              </a:defRPr>
            </a:pPr>
            <a:r>
              <a:rPr b="1">
                <a:solidFill>
                  <a:srgbClr val="0F172A"/>
                </a:solidFill>
              </a:rPr>
              <a:t>• Standard Ratings to Remember:</a:t>
            </a:r>
            <a:r>
              <a:rPr b="0">
                <a:solidFill>
                  <a:srgbClr val="475569"/>
                </a:solidFill>
              </a:rPr>
              <a:t>
  • K-4: Basic office computers.
  • K-13: Standard server rooms.
  • K-20: Heavy cloud &amp; AI data centres (handles 20x the eddy heat!).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4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SWITCHES</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ATS vs. STS: How Switches Transfer Power Without Crashing Servers</a:t>
            </a:r>
          </a:p>
          <a:p>
            <a:pPr>
              <a:defRPr sz="1100">
                <a:solidFill>
                  <a:srgbClr val="94A3B8"/>
                </a:solidFill>
                <a:latin typeface="Calibri"/>
              </a:defRPr>
            </a:pPr>
            <a:r>
              <a:t>The differences in switching speed, technology, and placement in the data centre</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04</a:t>
            </a:r>
          </a:p>
        </p:txBody>
      </p:sp>
      <p:sp>
        <p:nvSpPr>
          <p:cNvPr id="8" name="Rounded Rectangle 7"/>
          <p:cNvSpPr/>
          <p:nvPr/>
        </p:nvSpPr>
        <p:spPr>
          <a:xfrm>
            <a:off x="548640" y="1280160"/>
            <a:ext cx="53492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none">
            <a:spAutoFit/>
          </a:bodyPr>
          <a:lstStyle/>
          <a:p>
            <a:pPr>
              <a:defRPr sz="1400" b="1">
                <a:solidFill>
                  <a:srgbClr val="0F172A"/>
                </a:solidFill>
                <a:latin typeface="Calibri"/>
              </a:defRPr>
            </a:pPr>
            <a:r>
              <a:t>ATS (Automatic Transfer Switch) - Mechanical</a:t>
            </a:r>
          </a:p>
        </p:txBody>
      </p:sp>
      <p:sp>
        <p:nvSpPr>
          <p:cNvPr id="10" name="Rounded Rectangle 9"/>
          <p:cNvSpPr/>
          <p:nvPr/>
        </p:nvSpPr>
        <p:spPr>
          <a:xfrm>
            <a:off x="4434840" y="1463040"/>
            <a:ext cx="1280160" cy="228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MECHANICAL SWITCH</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How it works:</a:t>
            </a:r>
            <a:r>
              <a:rPr b="0">
                <a:solidFill>
                  <a:srgbClr val="475569"/>
                </a:solidFill>
              </a:rPr>
              <a:t> A physical motorized switch that flips between Source 1 and Source 2.</a:t>
            </a:r>
          </a:p>
          <a:p>
            <a:pPr>
              <a:spcAft>
                <a:spcPts val="600"/>
              </a:spcAft>
              <a:defRPr sz="1100">
                <a:solidFill>
                  <a:srgbClr val="475569"/>
                </a:solidFill>
                <a:latin typeface="Calibri"/>
              </a:defRPr>
            </a:pPr>
            <a:r>
              <a:rPr b="1">
                <a:solidFill>
                  <a:srgbClr val="0F172A"/>
                </a:solidFill>
              </a:rPr>
              <a:t>• Transfer Speed:</a:t>
            </a:r>
            <a:r>
              <a:rPr b="0">
                <a:solidFill>
                  <a:srgbClr val="475569"/>
                </a:solidFill>
              </a:rPr>
              <a:t> Takes 50 to 100 milliseconds (0.05 to 0.1 seconds).</a:t>
            </a:r>
          </a:p>
          <a:p>
            <a:pPr>
              <a:spcAft>
                <a:spcPts val="600"/>
              </a:spcAft>
              <a:defRPr sz="1100">
                <a:solidFill>
                  <a:srgbClr val="475569"/>
                </a:solidFill>
                <a:latin typeface="Calibri"/>
              </a:defRPr>
            </a:pPr>
            <a:r>
              <a:rPr b="1">
                <a:solidFill>
                  <a:srgbClr val="0F172A"/>
                </a:solidFill>
              </a:rPr>
              <a:t>• Can a server survive that?:</a:t>
            </a:r>
            <a:r>
              <a:rPr b="0">
                <a:solidFill>
                  <a:srgbClr val="475569"/>
                </a:solidFill>
              </a:rPr>
              <a:t> NO! Servers shut down if power is cut for more than 16 milliseconds (0.016s).</a:t>
            </a:r>
          </a:p>
          <a:p>
            <a:pPr>
              <a:spcAft>
                <a:spcPts val="600"/>
              </a:spcAft>
              <a:defRPr sz="1100">
                <a:solidFill>
                  <a:srgbClr val="475569"/>
                </a:solidFill>
                <a:latin typeface="Calibri"/>
              </a:defRPr>
            </a:pPr>
            <a:r>
              <a:rPr b="1">
                <a:solidFill>
                  <a:srgbClr val="0F172A"/>
                </a:solidFill>
              </a:rPr>
              <a:t>• Where do we use it?:</a:t>
            </a:r>
            <a:r>
              <a:rPr b="0">
                <a:solidFill>
                  <a:srgbClr val="475569"/>
                </a:solidFill>
              </a:rPr>
              <a:t> Upstream! Between the Government Grid and the Diesel Generator. We don't care about the 100ms pause here because the UPS batteries downstream keep the servers running.</a:t>
            </a:r>
          </a:p>
          <a:p>
            <a:pPr>
              <a:spcAft>
                <a:spcPts val="600"/>
              </a:spcAft>
              <a:defRPr sz="1100">
                <a:solidFill>
                  <a:srgbClr val="475569"/>
                </a:solidFill>
                <a:latin typeface="Calibri"/>
              </a:defRPr>
            </a:pPr>
            <a:r>
              <a:rPr b="1">
                <a:solidFill>
                  <a:srgbClr val="0F172A"/>
                </a:solidFill>
              </a:rPr>
              <a:t>• Wear &amp; Tear:</a:t>
            </a:r>
            <a:r>
              <a:rPr b="0">
                <a:solidFill>
                  <a:srgbClr val="475569"/>
                </a:solidFill>
              </a:rPr>
              <a:t> Has mechanical moving parts that wear out over time.</a:t>
            </a:r>
          </a:p>
          <a:p>
            <a:pPr>
              <a:spcAft>
                <a:spcPts val="600"/>
              </a:spcAft>
              <a:defRPr sz="1100">
                <a:solidFill>
                  <a:srgbClr val="475569"/>
                </a:solidFill>
                <a:latin typeface="Calibri"/>
              </a:defRPr>
            </a:pPr>
            <a:r>
              <a:rPr b="1">
                <a:solidFill>
                  <a:srgbClr val="0F172A"/>
                </a:solidFill>
              </a:rPr>
              <a:t>• Cost:</a:t>
            </a:r>
            <a:r>
              <a:rPr b="0">
                <a:solidFill>
                  <a:srgbClr val="475569"/>
                </a:solidFill>
              </a:rPr>
              <a:t> Affordable and very reliable for high-current switching.</a:t>
            </a:r>
          </a:p>
        </p:txBody>
      </p:sp>
      <p:sp>
        <p:nvSpPr>
          <p:cNvPr id="12" name="Rounded Rectangle 11"/>
          <p:cNvSpPr/>
          <p:nvPr/>
        </p:nvSpPr>
        <p:spPr>
          <a:xfrm>
            <a:off x="6217920" y="1280160"/>
            <a:ext cx="5349240" cy="48463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none">
            <a:spAutoFit/>
          </a:bodyPr>
          <a:lstStyle/>
          <a:p>
            <a:pPr>
              <a:defRPr sz="1400" b="1">
                <a:solidFill>
                  <a:srgbClr val="0F172A"/>
                </a:solidFill>
                <a:latin typeface="Calibri"/>
              </a:defRPr>
            </a:pPr>
            <a:r>
              <a:t>STS (Static Transfer Switch) - Silicon Solid-State</a:t>
            </a:r>
          </a:p>
        </p:txBody>
      </p:sp>
      <p:sp>
        <p:nvSpPr>
          <p:cNvPr id="14" name="Rounded Rectangle 13"/>
          <p:cNvSpPr/>
          <p:nvPr/>
        </p:nvSpPr>
        <p:spPr>
          <a:xfrm>
            <a:off x="10104120" y="1463040"/>
            <a:ext cx="128016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ULTRA-FAST SILICON</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How it works:</a:t>
            </a:r>
            <a:r>
              <a:rPr b="0">
                <a:solidFill>
                  <a:srgbClr val="475569"/>
                </a:solidFill>
              </a:rPr>
              <a:t> Uses computer chips called SCR thyristors. No moving parts at all.</a:t>
            </a:r>
          </a:p>
          <a:p>
            <a:pPr>
              <a:spcAft>
                <a:spcPts val="600"/>
              </a:spcAft>
              <a:defRPr sz="1100">
                <a:solidFill>
                  <a:srgbClr val="475569"/>
                </a:solidFill>
                <a:latin typeface="Calibri"/>
              </a:defRPr>
            </a:pPr>
            <a:r>
              <a:rPr b="1">
                <a:solidFill>
                  <a:srgbClr val="0F172A"/>
                </a:solidFill>
              </a:rPr>
              <a:t>• Transfer Speed:</a:t>
            </a:r>
            <a:r>
              <a:rPr b="0">
                <a:solidFill>
                  <a:srgbClr val="475569"/>
                </a:solidFill>
              </a:rPr>
              <a:t> Blazing fast! Takes only 2 to 4 milliseconds (sub-cycle transfer).</a:t>
            </a:r>
          </a:p>
          <a:p>
            <a:pPr>
              <a:spcAft>
                <a:spcPts val="600"/>
              </a:spcAft>
              <a:defRPr sz="1100">
                <a:solidFill>
                  <a:srgbClr val="475569"/>
                </a:solidFill>
                <a:latin typeface="Calibri"/>
              </a:defRPr>
            </a:pPr>
            <a:r>
              <a:rPr b="1">
                <a:solidFill>
                  <a:srgbClr val="0F172A"/>
                </a:solidFill>
              </a:rPr>
              <a:t>• Can a server survive that?:</a:t>
            </a:r>
            <a:r>
              <a:rPr b="0">
                <a:solidFill>
                  <a:srgbClr val="475569"/>
                </a:solidFill>
              </a:rPr>
              <a:t> YES! Servers have internal capacitor tanks that easily survive 16 to 20 ms. Servers don't even notice the switch!</a:t>
            </a:r>
          </a:p>
          <a:p>
            <a:pPr>
              <a:spcAft>
                <a:spcPts val="600"/>
              </a:spcAft>
              <a:defRPr sz="1100">
                <a:solidFill>
                  <a:srgbClr val="475569"/>
                </a:solidFill>
                <a:latin typeface="Calibri"/>
              </a:defRPr>
            </a:pPr>
            <a:r>
              <a:rPr b="1">
                <a:solidFill>
                  <a:srgbClr val="0F172A"/>
                </a:solidFill>
              </a:rPr>
              <a:t>• Where do we use it?:</a:t>
            </a:r>
            <a:r>
              <a:rPr b="0">
                <a:solidFill>
                  <a:srgbClr val="475569"/>
                </a:solidFill>
              </a:rPr>
              <a:t> Downstream! Right near the server racks, switching between UPS Feed A and UPS Feed B.</a:t>
            </a:r>
          </a:p>
          <a:p>
            <a:pPr>
              <a:spcAft>
                <a:spcPts val="600"/>
              </a:spcAft>
              <a:defRPr sz="1100">
                <a:solidFill>
                  <a:srgbClr val="475569"/>
                </a:solidFill>
                <a:latin typeface="Calibri"/>
              </a:defRPr>
            </a:pPr>
            <a:r>
              <a:rPr b="1">
                <a:solidFill>
                  <a:srgbClr val="0F172A"/>
                </a:solidFill>
              </a:rPr>
              <a:t>• Wear &amp; Tear:</a:t>
            </a:r>
            <a:r>
              <a:rPr b="0">
                <a:solidFill>
                  <a:srgbClr val="475569"/>
                </a:solidFill>
              </a:rPr>
              <a:t> Zero moving parts; lasts forever with unlimited switches.</a:t>
            </a:r>
          </a:p>
          <a:p>
            <a:pPr>
              <a:spcAft>
                <a:spcPts val="600"/>
              </a:spcAft>
              <a:defRPr sz="1100">
                <a:solidFill>
                  <a:srgbClr val="475569"/>
                </a:solidFill>
                <a:latin typeface="Calibri"/>
              </a:defRPr>
            </a:pPr>
            <a:r>
              <a:rPr b="1">
                <a:solidFill>
                  <a:srgbClr val="0F172A"/>
                </a:solidFill>
              </a:rPr>
              <a:t>• Exam Tip:</a:t>
            </a:r>
            <a:r>
              <a:rPr b="0">
                <a:solidFill>
                  <a:srgbClr val="475569"/>
                </a:solidFill>
              </a:rPr>
              <a:t> In exam tables, always state: ATS is slow (50-100ms) for Grid/DG; STS is ultra-fast (2-4ms) for Rack/IT!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5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MODULE 2</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Diesel Generators (DG Sets): The True Primary Power</a:t>
            </a:r>
          </a:p>
          <a:p>
            <a:pPr>
              <a:defRPr sz="1100">
                <a:solidFill>
                  <a:srgbClr val="94A3B8"/>
                </a:solidFill>
                <a:latin typeface="Calibri"/>
              </a:defRPr>
            </a:pPr>
            <a:r>
              <a:t>Why data centres treat the government grid as a bonus and generators as the real backbone</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05</a:t>
            </a:r>
          </a:p>
        </p:txBody>
      </p:sp>
      <p:sp>
        <p:nvSpPr>
          <p:cNvPr id="8" name="Rounded Rectangle 7"/>
          <p:cNvSpPr/>
          <p:nvPr/>
        </p:nvSpPr>
        <p:spPr>
          <a:xfrm>
            <a:off x="548640" y="1280160"/>
            <a:ext cx="53492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none">
            <a:spAutoFit/>
          </a:bodyPr>
          <a:lstStyle/>
          <a:p>
            <a:pPr>
              <a:defRPr sz="1400" b="1">
                <a:solidFill>
                  <a:srgbClr val="0F172A"/>
                </a:solidFill>
                <a:latin typeface="Calibri"/>
              </a:defRPr>
            </a:pPr>
            <a:r>
              <a:t>Generator Ratings: What You Must Write in Exams</a:t>
            </a:r>
          </a:p>
        </p:txBody>
      </p:sp>
      <p:sp>
        <p:nvSpPr>
          <p:cNvPr id="10" name="Rounded Rectangle 9"/>
          <p:cNvSpPr/>
          <p:nvPr/>
        </p:nvSpPr>
        <p:spPr>
          <a:xfrm>
            <a:off x="4434840" y="1463040"/>
            <a:ext cx="128016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GENERATOR RATINGS</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Standby Rating (ESP):</a:t>
            </a:r>
            <a:r>
              <a:rPr b="0">
                <a:solidFill>
                  <a:srgbClr val="475569"/>
                </a:solidFill>
              </a:rPr>
              <a:t> Only allowed to run for 200 hours per year at 70% load. Good for hospitals and apartments, but NOT allowed for Tier III/IV data centres!</a:t>
            </a:r>
          </a:p>
          <a:p>
            <a:pPr>
              <a:spcAft>
                <a:spcPts val="600"/>
              </a:spcAft>
              <a:defRPr sz="1100">
                <a:solidFill>
                  <a:srgbClr val="475569"/>
                </a:solidFill>
                <a:latin typeface="Calibri"/>
              </a:defRPr>
            </a:pPr>
            <a:r>
              <a:rPr b="1">
                <a:solidFill>
                  <a:srgbClr val="0F172A"/>
                </a:solidFill>
              </a:rPr>
              <a:t>• DCC Rating (Data Centre Continuous):</a:t>
            </a:r>
            <a:r>
              <a:rPr b="0">
                <a:solidFill>
                  <a:srgbClr val="475569"/>
                </a:solidFill>
              </a:rPr>
              <a:t> The gold standard! Manufacturers certify these engines can run at 100% full power for 24/7/365 with ZERO hourly limits.</a:t>
            </a:r>
          </a:p>
          <a:p>
            <a:pPr>
              <a:spcAft>
                <a:spcPts val="600"/>
              </a:spcAft>
              <a:defRPr sz="1100">
                <a:solidFill>
                  <a:srgbClr val="475569"/>
                </a:solidFill>
                <a:latin typeface="Calibri"/>
              </a:defRPr>
            </a:pPr>
            <a:r>
              <a:rPr b="1">
                <a:solidFill>
                  <a:srgbClr val="0F172A"/>
                </a:solidFill>
              </a:rPr>
              <a:t>• The 10-Second Black Start Rule:</a:t>
            </a:r>
            <a:r>
              <a:rPr b="0">
                <a:solidFill>
                  <a:srgbClr val="475569"/>
                </a:solidFill>
              </a:rPr>
              <a:t> When grid power cuts, generators must crank, fire, reach 50 Hz speed, synchronize, and accept 100% of the building load in less than 10 seconds (NFPA 110).</a:t>
            </a:r>
          </a:p>
          <a:p>
            <a:pPr>
              <a:spcAft>
                <a:spcPts val="600"/>
              </a:spcAft>
              <a:defRPr sz="1100">
                <a:solidFill>
                  <a:srgbClr val="475569"/>
                </a:solidFill>
                <a:latin typeface="Calibri"/>
              </a:defRPr>
            </a:pPr>
            <a:r>
              <a:rPr b="1">
                <a:solidFill>
                  <a:srgbClr val="0F172A"/>
                </a:solidFill>
              </a:rPr>
              <a:t>• Jacket Water Heaters:</a:t>
            </a:r>
            <a:r>
              <a:rPr b="0">
                <a:solidFill>
                  <a:srgbClr val="475569"/>
                </a:solidFill>
              </a:rPr>
              <a:t> Electric heaters keep the generator engine block warm at 40°C all day so it starts instantly without choking on a cold winter night.</a:t>
            </a:r>
          </a:p>
          <a:p>
            <a:pPr>
              <a:spcAft>
                <a:spcPts val="600"/>
              </a:spcAft>
              <a:defRPr sz="1100">
                <a:solidFill>
                  <a:srgbClr val="475569"/>
                </a:solidFill>
                <a:latin typeface="Calibri"/>
              </a:defRPr>
            </a:pPr>
            <a:r>
              <a:rPr b="1">
                <a:solidFill>
                  <a:srgbClr val="0F172A"/>
                </a:solidFill>
              </a:rPr>
              <a:t>• Dual Starter Batteries:</a:t>
            </a:r>
            <a:r>
              <a:rPr b="0">
                <a:solidFill>
                  <a:srgbClr val="475569"/>
                </a:solidFill>
              </a:rPr>
              <a:t> Two separate battery sets crank the engine. If Battery A is dead, Battery B starts it.</a:t>
            </a:r>
          </a:p>
        </p:txBody>
      </p:sp>
      <p:sp>
        <p:nvSpPr>
          <p:cNvPr id="12" name="Rounded Rectangle 11"/>
          <p:cNvSpPr/>
          <p:nvPr/>
        </p:nvSpPr>
        <p:spPr>
          <a:xfrm>
            <a:off x="6217920" y="1280160"/>
            <a:ext cx="53492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none">
            <a:spAutoFit/>
          </a:bodyPr>
          <a:lstStyle/>
          <a:p>
            <a:pPr>
              <a:defRPr sz="1400" b="1">
                <a:solidFill>
                  <a:srgbClr val="0F172A"/>
                </a:solidFill>
                <a:latin typeface="Calibri"/>
              </a:defRPr>
            </a:pPr>
            <a:r>
              <a:t>Fuel Tanks: How to Run for 3 Days Straight</a:t>
            </a:r>
          </a:p>
        </p:txBody>
      </p:sp>
      <p:sp>
        <p:nvSpPr>
          <p:cNvPr id="14" name="Rounded Rectangle 13"/>
          <p:cNvSpPr/>
          <p:nvPr/>
        </p:nvSpPr>
        <p:spPr>
          <a:xfrm>
            <a:off x="10104120" y="1463040"/>
            <a:ext cx="128016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72-HR FUEL STORAGE</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Day Tank (Inside the Room):</a:t>
            </a:r>
            <a:r>
              <a:rPr b="0">
                <a:solidFill>
                  <a:srgbClr val="475569"/>
                </a:solidFill>
              </a:rPr>
              <a:t> Small fuel tank right next to the engine holding 1 to 2 hours of diesel for instant gravity feeding.</a:t>
            </a:r>
          </a:p>
          <a:p>
            <a:pPr>
              <a:spcAft>
                <a:spcPts val="600"/>
              </a:spcAft>
              <a:defRPr sz="1100">
                <a:solidFill>
                  <a:srgbClr val="475569"/>
                </a:solidFill>
                <a:latin typeface="Calibri"/>
              </a:defRPr>
            </a:pPr>
            <a:r>
              <a:rPr b="1">
                <a:solidFill>
                  <a:srgbClr val="0F172A"/>
                </a:solidFill>
              </a:rPr>
              <a:t>• Bulk Storage Tank (Underground):</a:t>
            </a:r>
            <a:r>
              <a:rPr b="0">
                <a:solidFill>
                  <a:srgbClr val="475569"/>
                </a:solidFill>
              </a:rPr>
              <a:t> Huge tanks storing enough diesel fuel to run the data centre for 48 to 72 hours (3 full days) non-stop.</a:t>
            </a:r>
          </a:p>
          <a:p>
            <a:pPr>
              <a:spcAft>
                <a:spcPts val="600"/>
              </a:spcAft>
              <a:defRPr sz="1100">
                <a:solidFill>
                  <a:srgbClr val="475569"/>
                </a:solidFill>
                <a:latin typeface="Calibri"/>
              </a:defRPr>
            </a:pPr>
            <a:r>
              <a:rPr b="1">
                <a:solidFill>
                  <a:srgbClr val="0F172A"/>
                </a:solidFill>
              </a:rPr>
              <a:t>• Fuel Polishing (Cleaning System):</a:t>
            </a:r>
            <a:r>
              <a:rPr b="0">
                <a:solidFill>
                  <a:srgbClr val="475569"/>
                </a:solidFill>
              </a:rPr>
              <a:t> Diesel sitting in tanks gets cloudy, grows bacteria, and collects water. Automated pumps filter and 'polish' the fuel 24/7 so it never clogs injectors.</a:t>
            </a:r>
          </a:p>
          <a:p>
            <a:pPr>
              <a:spcAft>
                <a:spcPts val="600"/>
              </a:spcAft>
              <a:defRPr sz="1100">
                <a:solidFill>
                  <a:srgbClr val="475569"/>
                </a:solidFill>
                <a:latin typeface="Calibri"/>
              </a:defRPr>
            </a:pPr>
            <a:r>
              <a:rPr b="1">
                <a:solidFill>
                  <a:srgbClr val="0F172A"/>
                </a:solidFill>
              </a:rPr>
              <a:t>• Paralleling Switchgear:</a:t>
            </a:r>
            <a:r>
              <a:rPr b="0">
                <a:solidFill>
                  <a:srgbClr val="475569"/>
                </a:solidFill>
              </a:rPr>
              <a:t> When 4 big generators run together, this computer panel synchronizes their electrical waves like musicians playing in harmony so they don't blow up.</a:t>
            </a:r>
          </a:p>
          <a:p>
            <a:pPr>
              <a:spcAft>
                <a:spcPts val="600"/>
              </a:spcAft>
              <a:defRPr sz="1100">
                <a:solidFill>
                  <a:srgbClr val="475569"/>
                </a:solidFill>
                <a:latin typeface="Calibri"/>
              </a:defRPr>
            </a:pPr>
            <a:r>
              <a:rPr b="1">
                <a:solidFill>
                  <a:srgbClr val="0F172A"/>
                </a:solidFill>
              </a:rPr>
              <a:t>• Exam Catchphrase:</a:t>
            </a:r>
            <a:r>
              <a:rPr b="0">
                <a:solidFill>
                  <a:srgbClr val="475569"/>
                </a:solidFill>
              </a:rPr>
              <a:t> 'Utility grid is an economic convenience; the on-site generator plant is the primary power source!'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6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UPS SYSTEMS</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Online Double Conversion UPS: The Zero-Downtime Heart</a:t>
            </a:r>
          </a:p>
          <a:p>
            <a:pPr>
              <a:defRPr sz="1100">
                <a:solidFill>
                  <a:srgbClr val="94A3B8"/>
                </a:solidFill>
                <a:latin typeface="Calibri"/>
              </a:defRPr>
            </a:pPr>
            <a:r>
              <a:t>Why it's called 'Double Conversion' and how it achieves 0.00 milliseconds transfer time</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06</a:t>
            </a:r>
          </a:p>
        </p:txBody>
      </p:sp>
      <p:sp>
        <p:nvSpPr>
          <p:cNvPr id="8" name="Rounded Rectangle 7"/>
          <p:cNvSpPr/>
          <p:nvPr/>
        </p:nvSpPr>
        <p:spPr>
          <a:xfrm>
            <a:off x="548640" y="1280160"/>
            <a:ext cx="11094415" cy="48463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10637215" cy="411480"/>
          </a:xfrm>
          <a:prstGeom prst="rect">
            <a:avLst/>
          </a:prstGeom>
          <a:noFill/>
        </p:spPr>
        <p:txBody>
          <a:bodyPr wrap="none">
            <a:spAutoFit/>
          </a:bodyPr>
          <a:lstStyle/>
          <a:p>
            <a:pPr>
              <a:defRPr sz="1400" b="1">
                <a:solidFill>
                  <a:srgbClr val="0F172A"/>
                </a:solidFill>
                <a:latin typeface="Calibri"/>
              </a:defRPr>
            </a:pPr>
            <a:r>
              <a:t>How It Works Step-by-Step (The 4 Building Blocks)</a:t>
            </a:r>
          </a:p>
        </p:txBody>
      </p:sp>
      <p:sp>
        <p:nvSpPr>
          <p:cNvPr id="10" name="Rounded Rectangle 9"/>
          <p:cNvSpPr/>
          <p:nvPr/>
        </p:nvSpPr>
        <p:spPr>
          <a:xfrm>
            <a:off x="10180015" y="1463040"/>
            <a:ext cx="128016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ONLINE DOUBLE CONVERSION (VFI)</a:t>
            </a:r>
          </a:p>
        </p:txBody>
      </p:sp>
      <p:sp>
        <p:nvSpPr>
          <p:cNvPr id="11" name="TextBox 10"/>
          <p:cNvSpPr txBox="1"/>
          <p:nvPr/>
        </p:nvSpPr>
        <p:spPr>
          <a:xfrm>
            <a:off x="777240" y="1920240"/>
            <a:ext cx="10637215"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Block 1:</a:t>
            </a:r>
            <a:r>
              <a:rPr b="0">
                <a:solidFill>
                  <a:srgbClr val="475569"/>
                </a:solidFill>
              </a:rPr>
              <a:t> Rectifier (AC to DC) -&gt; Takes dirty government wall power (Alternating Current) and turns it into clean Direct Current (DC). It also charges the battery bank.</a:t>
            </a:r>
          </a:p>
          <a:p>
            <a:pPr>
              <a:spcAft>
                <a:spcPts val="600"/>
              </a:spcAft>
              <a:defRPr sz="1100">
                <a:solidFill>
                  <a:srgbClr val="475569"/>
                </a:solidFill>
                <a:latin typeface="Calibri"/>
              </a:defRPr>
            </a:pPr>
            <a:r>
              <a:rPr b="1">
                <a:solidFill>
                  <a:srgbClr val="0F172A"/>
                </a:solidFill>
              </a:rPr>
              <a:t>• Block 2:</a:t>
            </a:r>
            <a:r>
              <a:rPr b="0">
                <a:solidFill>
                  <a:srgbClr val="475569"/>
                </a:solidFill>
              </a:rPr>
              <a:t> Battery Bank (DC Storage) -&gt; Sits permanently connected on the DC wire. Acts like a giant shock absorber and battery bank.</a:t>
            </a:r>
          </a:p>
          <a:p>
            <a:pPr>
              <a:spcAft>
                <a:spcPts val="600"/>
              </a:spcAft>
              <a:defRPr sz="1100">
                <a:solidFill>
                  <a:srgbClr val="475569"/>
                </a:solidFill>
                <a:latin typeface="Calibri"/>
              </a:defRPr>
            </a:pPr>
            <a:r>
              <a:rPr b="1">
                <a:solidFill>
                  <a:srgbClr val="0F172A"/>
                </a:solidFill>
              </a:rPr>
              <a:t>• Block 3:</a:t>
            </a:r>
            <a:r>
              <a:rPr b="0">
                <a:solidFill>
                  <a:srgbClr val="475569"/>
                </a:solidFill>
              </a:rPr>
              <a:t> Inverter (DC to AC) -&gt; Takes the clean DC power and converts it back into perfect, pure sine-wave 230V AC electricity for the server racks.</a:t>
            </a:r>
          </a:p>
          <a:p>
            <a:pPr>
              <a:spcAft>
                <a:spcPts val="600"/>
              </a:spcAft>
              <a:defRPr sz="1100">
                <a:solidFill>
                  <a:srgbClr val="475569"/>
                </a:solidFill>
                <a:latin typeface="Calibri"/>
              </a:defRPr>
            </a:pPr>
            <a:r>
              <a:rPr b="1">
                <a:solidFill>
                  <a:srgbClr val="0F172A"/>
                </a:solidFill>
              </a:rPr>
              <a:t>• Why 'Double Conversion'?:</a:t>
            </a:r>
            <a:r>
              <a:rPr b="0">
                <a:solidFill>
                  <a:srgbClr val="475569"/>
                </a:solidFill>
              </a:rPr>
              <a:t> Because power is converted TWICE (AC -&gt; DC -&gt; AC). This completely cleans out all voltage spikes, surges, sags, and lightning noise!</a:t>
            </a:r>
          </a:p>
          <a:p>
            <a:pPr>
              <a:spcAft>
                <a:spcPts val="600"/>
              </a:spcAft>
              <a:defRPr sz="1100">
                <a:solidFill>
                  <a:srgbClr val="475569"/>
                </a:solidFill>
                <a:latin typeface="Calibri"/>
              </a:defRPr>
            </a:pPr>
            <a:r>
              <a:rPr b="1">
                <a:solidFill>
                  <a:srgbClr val="0F172A"/>
                </a:solidFill>
              </a:rPr>
              <a:t>• Zero Milliseconds Transfer Time:</a:t>
            </a:r>
            <a:r>
              <a:rPr b="0">
                <a:solidFill>
                  <a:srgbClr val="475569"/>
                </a:solidFill>
              </a:rPr>
              <a:t> Because servers are ALWAYS drinking from the Inverter and the battery is ALREADY sitting on the DC line, when wall power fails, the transfer time is EXACTLY ZERO MILLISECONDS (0 ms). The servers don't even blink.</a:t>
            </a:r>
          </a:p>
          <a:p>
            <a:pPr>
              <a:spcAft>
                <a:spcPts val="600"/>
              </a:spcAft>
              <a:defRPr sz="1100">
                <a:solidFill>
                  <a:srgbClr val="475569"/>
                </a:solidFill>
                <a:latin typeface="Calibri"/>
              </a:defRPr>
            </a:pPr>
            <a:r>
              <a:rPr b="1">
                <a:solidFill>
                  <a:srgbClr val="0F172A"/>
                </a:solidFill>
              </a:rPr>
              <a:t>• Static Bypass Switch:</a:t>
            </a:r>
            <a:r>
              <a:rPr b="0">
                <a:solidFill>
                  <a:srgbClr val="475569"/>
                </a:solidFill>
              </a:rPr>
              <a:t> If the UPS inverter has an internal electronic short-circuit, this ultra-fast chip switch instantly routes power around the UPS to wall power in 2ms so servers don't die.</a:t>
            </a:r>
          </a:p>
          <a:p>
            <a:pPr>
              <a:spcAft>
                <a:spcPts val="600"/>
              </a:spcAft>
              <a:defRPr sz="1100">
                <a:solidFill>
                  <a:srgbClr val="475569"/>
                </a:solidFill>
                <a:latin typeface="Calibri"/>
              </a:defRPr>
            </a:pPr>
            <a:r>
              <a:rPr b="1">
                <a:solidFill>
                  <a:srgbClr val="0F172A"/>
                </a:solidFill>
              </a:rPr>
              <a:t>• Manual Maintenance Bypass:</a:t>
            </a:r>
            <a:r>
              <a:rPr b="0">
                <a:solidFill>
                  <a:srgbClr val="475569"/>
                </a:solidFill>
              </a:rPr>
              <a:t> A mechanical lever that lets an electrician turn off and safely replace the whole UPS box while servers stay powered.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7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BATTERIES</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Battery Showdown: Old Lead-Acid (VRLA) vs. Modern Lithium-Ion</a:t>
            </a:r>
          </a:p>
          <a:p>
            <a:pPr>
              <a:defRPr sz="1100">
                <a:solidFill>
                  <a:srgbClr val="94A3B8"/>
                </a:solidFill>
                <a:latin typeface="Calibri"/>
              </a:defRPr>
            </a:pPr>
            <a:r>
              <a:t>Why modern cloud data centres are ditching heavy lead-acid batteries for smartphone-style lithium</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07</a:t>
            </a:r>
          </a:p>
        </p:txBody>
      </p:sp>
      <p:sp>
        <p:nvSpPr>
          <p:cNvPr id="8" name="Rounded Rectangle 7"/>
          <p:cNvSpPr/>
          <p:nvPr/>
        </p:nvSpPr>
        <p:spPr>
          <a:xfrm>
            <a:off x="548640" y="1280160"/>
            <a:ext cx="53492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none">
            <a:spAutoFit/>
          </a:bodyPr>
          <a:lstStyle/>
          <a:p>
            <a:pPr>
              <a:defRPr sz="1400" b="1">
                <a:solidFill>
                  <a:srgbClr val="0F172A"/>
                </a:solidFill>
                <a:latin typeface="Calibri"/>
              </a:defRPr>
            </a:pPr>
            <a:r>
              <a:t>VRLA (Old Lead-Acid Batteries)</a:t>
            </a:r>
          </a:p>
        </p:txBody>
      </p:sp>
      <p:sp>
        <p:nvSpPr>
          <p:cNvPr id="10" name="Rounded Rectangle 9"/>
          <p:cNvSpPr/>
          <p:nvPr/>
        </p:nvSpPr>
        <p:spPr>
          <a:xfrm>
            <a:off x="4434840" y="1463040"/>
            <a:ext cx="1280160" cy="228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TRADITIONAL (HEAVY)</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What it is:</a:t>
            </a:r>
            <a:r>
              <a:rPr b="0">
                <a:solidFill>
                  <a:srgbClr val="475569"/>
                </a:solidFill>
              </a:rPr>
              <a:t> Heavy lead plates soaked in acid (just like a car battery, but sealed).</a:t>
            </a:r>
          </a:p>
          <a:p>
            <a:pPr>
              <a:spcAft>
                <a:spcPts val="600"/>
              </a:spcAft>
              <a:defRPr sz="1100">
                <a:solidFill>
                  <a:srgbClr val="475569"/>
                </a:solidFill>
                <a:latin typeface="Calibri"/>
              </a:defRPr>
            </a:pPr>
            <a:r>
              <a:rPr b="1">
                <a:solidFill>
                  <a:srgbClr val="0F172A"/>
                </a:solidFill>
              </a:rPr>
              <a:t>• Short Lifespan:</a:t>
            </a:r>
            <a:r>
              <a:rPr b="0">
                <a:solidFill>
                  <a:srgbClr val="475569"/>
                </a:solidFill>
              </a:rPr>
              <a:t> Dies in only 3 to 5 years. Must be thrown out and replaced repeatedly.</a:t>
            </a:r>
          </a:p>
          <a:p>
            <a:pPr>
              <a:spcAft>
                <a:spcPts val="600"/>
              </a:spcAft>
              <a:defRPr sz="1100">
                <a:solidFill>
                  <a:srgbClr val="475569"/>
                </a:solidFill>
                <a:latin typeface="Calibri"/>
              </a:defRPr>
            </a:pPr>
            <a:r>
              <a:rPr b="1">
                <a:solidFill>
                  <a:srgbClr val="0F172A"/>
                </a:solidFill>
              </a:rPr>
              <a:t>• Extremely Heavy:</a:t>
            </a:r>
            <a:r>
              <a:rPr b="0">
                <a:solidFill>
                  <a:srgbClr val="475569"/>
                </a:solidFill>
              </a:rPr>
              <a:t> Requires reinforced concrete floors (800-1000 kg/m²). Can crack regular office floors!</a:t>
            </a:r>
          </a:p>
          <a:p>
            <a:pPr>
              <a:spcAft>
                <a:spcPts val="600"/>
              </a:spcAft>
              <a:defRPr sz="1100">
                <a:solidFill>
                  <a:srgbClr val="475569"/>
                </a:solidFill>
                <a:latin typeface="Calibri"/>
              </a:defRPr>
            </a:pPr>
            <a:r>
              <a:rPr b="1">
                <a:solidFill>
                  <a:srgbClr val="0F172A"/>
                </a:solidFill>
              </a:rPr>
              <a:t>• Takes Massive Space:</a:t>
            </a:r>
            <a:r>
              <a:rPr b="0">
                <a:solidFill>
                  <a:srgbClr val="475569"/>
                </a:solidFill>
              </a:rPr>
              <a:t> Requires huge dedicated rooms with special acid-proof ventilation.</a:t>
            </a:r>
          </a:p>
          <a:p>
            <a:pPr>
              <a:spcAft>
                <a:spcPts val="600"/>
              </a:spcAft>
              <a:defRPr sz="1100">
                <a:solidFill>
                  <a:srgbClr val="475569"/>
                </a:solidFill>
                <a:latin typeface="Calibri"/>
              </a:defRPr>
            </a:pPr>
            <a:r>
              <a:rPr b="1">
                <a:solidFill>
                  <a:srgbClr val="0F172A"/>
                </a:solidFill>
              </a:rPr>
              <a:t>• Hates Heat:</a:t>
            </a:r>
            <a:r>
              <a:rPr b="0">
                <a:solidFill>
                  <a:srgbClr val="475569"/>
                </a:solidFill>
              </a:rPr>
              <a:t> Must be kept at exactly 20°C - 25°C. For every 10°C temperature rise, battery life is cut in HALF!</a:t>
            </a:r>
          </a:p>
          <a:p>
            <a:pPr>
              <a:spcAft>
                <a:spcPts val="600"/>
              </a:spcAft>
              <a:defRPr sz="1100">
                <a:solidFill>
                  <a:srgbClr val="475569"/>
                </a:solidFill>
                <a:latin typeface="Calibri"/>
              </a:defRPr>
            </a:pPr>
            <a:r>
              <a:rPr b="1">
                <a:solidFill>
                  <a:srgbClr val="0F172A"/>
                </a:solidFill>
              </a:rPr>
              <a:t>• Low Initial Cost (Cheap):</a:t>
            </a:r>
            <a:r>
              <a:rPr b="0">
                <a:solidFill>
                  <a:srgbClr val="475569"/>
                </a:solidFill>
              </a:rPr>
              <a:t> Cheaper to buy on Day 1, but expensive over 10 years because you buy it 3 times.</a:t>
            </a:r>
          </a:p>
        </p:txBody>
      </p:sp>
      <p:sp>
        <p:nvSpPr>
          <p:cNvPr id="12" name="Rounded Rectangle 11"/>
          <p:cNvSpPr/>
          <p:nvPr/>
        </p:nvSpPr>
        <p:spPr>
          <a:xfrm>
            <a:off x="6217920" y="1280160"/>
            <a:ext cx="5349240" cy="48463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none">
            <a:spAutoFit/>
          </a:bodyPr>
          <a:lstStyle/>
          <a:p>
            <a:pPr>
              <a:defRPr sz="1400" b="1">
                <a:solidFill>
                  <a:srgbClr val="0F172A"/>
                </a:solidFill>
                <a:latin typeface="Calibri"/>
              </a:defRPr>
            </a:pPr>
            <a:r>
              <a:t>Lithium-Ion (LFP Chemistry)</a:t>
            </a:r>
          </a:p>
        </p:txBody>
      </p:sp>
      <p:sp>
        <p:nvSpPr>
          <p:cNvPr id="14" name="Rounded Rectangle 13"/>
          <p:cNvSpPr/>
          <p:nvPr/>
        </p:nvSpPr>
        <p:spPr>
          <a:xfrm>
            <a:off x="10104120" y="1463040"/>
            <a:ext cx="128016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MODERN (RECOMMENDED)</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What it is:</a:t>
            </a:r>
            <a:r>
              <a:rPr b="0">
                <a:solidFill>
                  <a:srgbClr val="475569"/>
                </a:solidFill>
              </a:rPr>
              <a:t> Modern lithium chemistry (Lithium Iron Phosphate - LFP is fire-safe).</a:t>
            </a:r>
          </a:p>
          <a:p>
            <a:pPr>
              <a:spcAft>
                <a:spcPts val="600"/>
              </a:spcAft>
              <a:defRPr sz="1100">
                <a:solidFill>
                  <a:srgbClr val="475569"/>
                </a:solidFill>
                <a:latin typeface="Calibri"/>
              </a:defRPr>
            </a:pPr>
            <a:r>
              <a:rPr b="1">
                <a:solidFill>
                  <a:srgbClr val="0F172A"/>
                </a:solidFill>
              </a:rPr>
              <a:t>• Long Lifespan:</a:t>
            </a:r>
            <a:r>
              <a:rPr b="0">
                <a:solidFill>
                  <a:srgbClr val="475569"/>
                </a:solidFill>
              </a:rPr>
              <a:t> Lasts 12 to 15 years (matches the whole lifespan of the data centre!).</a:t>
            </a:r>
          </a:p>
          <a:p>
            <a:pPr>
              <a:spcAft>
                <a:spcPts val="600"/>
              </a:spcAft>
              <a:defRPr sz="1100">
                <a:solidFill>
                  <a:srgbClr val="475569"/>
                </a:solidFill>
                <a:latin typeface="Calibri"/>
              </a:defRPr>
            </a:pPr>
            <a:r>
              <a:rPr b="1">
                <a:solidFill>
                  <a:srgbClr val="0F172A"/>
                </a:solidFill>
              </a:rPr>
              <a:t>• 60% Lighter &amp; 70% Smaller:</a:t>
            </a:r>
            <a:r>
              <a:rPr b="0">
                <a:solidFill>
                  <a:srgbClr val="475569"/>
                </a:solidFill>
              </a:rPr>
              <a:t> Very light. Can be placed right inside the server room next to racks.</a:t>
            </a:r>
          </a:p>
          <a:p>
            <a:pPr>
              <a:spcAft>
                <a:spcPts val="600"/>
              </a:spcAft>
              <a:defRPr sz="1100">
                <a:solidFill>
                  <a:srgbClr val="475569"/>
                </a:solidFill>
                <a:latin typeface="Calibri"/>
              </a:defRPr>
            </a:pPr>
            <a:r>
              <a:rPr b="1">
                <a:solidFill>
                  <a:srgbClr val="0F172A"/>
                </a:solidFill>
              </a:rPr>
              <a:t>• Handles Higher Heat:</a:t>
            </a:r>
            <a:r>
              <a:rPr b="0">
                <a:solidFill>
                  <a:srgbClr val="475569"/>
                </a:solidFill>
              </a:rPr>
              <a:t> Works happily up to 30°C. Saves thousands of dollars in air conditioning power!</a:t>
            </a:r>
          </a:p>
          <a:p>
            <a:pPr>
              <a:spcAft>
                <a:spcPts val="600"/>
              </a:spcAft>
              <a:defRPr sz="1100">
                <a:solidFill>
                  <a:srgbClr val="475569"/>
                </a:solidFill>
                <a:latin typeface="Calibri"/>
              </a:defRPr>
            </a:pPr>
            <a:r>
              <a:rPr b="1">
                <a:solidFill>
                  <a:srgbClr val="0F172A"/>
                </a:solidFill>
              </a:rPr>
              <a:t>• Smart BMS (Brain):</a:t>
            </a:r>
            <a:r>
              <a:rPr b="0">
                <a:solidFill>
                  <a:srgbClr val="475569"/>
                </a:solidFill>
              </a:rPr>
              <a:t> Built-in Battery Management System monitors every cell's voltage, temperature, and health 24/7.</a:t>
            </a:r>
          </a:p>
          <a:p>
            <a:pPr>
              <a:spcAft>
                <a:spcPts val="600"/>
              </a:spcAft>
              <a:defRPr sz="1100">
                <a:solidFill>
                  <a:srgbClr val="475569"/>
                </a:solidFill>
                <a:latin typeface="Calibri"/>
              </a:defRPr>
            </a:pPr>
            <a:r>
              <a:rPr b="1">
                <a:solidFill>
                  <a:srgbClr val="0F172A"/>
                </a:solidFill>
              </a:rPr>
              <a:t>• Cost:</a:t>
            </a:r>
            <a:r>
              <a:rPr b="0">
                <a:solidFill>
                  <a:srgbClr val="475569"/>
                </a:solidFill>
              </a:rPr>
              <a:t> Costs more on Day 1, but saves massive money over 10 years (Lowest Total Cost of Ownership).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8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REDUNDANCY</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Redundancy Topologies: N, N+1, and 2N Explained with Real Examples</a:t>
            </a:r>
          </a:p>
          <a:p>
            <a:pPr>
              <a:defRPr sz="1100">
                <a:solidFill>
                  <a:srgbClr val="94A3B8"/>
                </a:solidFill>
                <a:latin typeface="Calibri"/>
              </a:defRPr>
            </a:pPr>
            <a:r>
              <a:t>How backup design determines whether a data centre is Tier I, II, III, or IV</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08</a:t>
            </a:r>
          </a:p>
        </p:txBody>
      </p:sp>
      <p:sp>
        <p:nvSpPr>
          <p:cNvPr id="8" name="Rounded Rectangle 7"/>
          <p:cNvSpPr/>
          <p:nvPr/>
        </p:nvSpPr>
        <p:spPr>
          <a:xfrm>
            <a:off x="548640" y="1280160"/>
            <a:ext cx="35204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3063240" cy="411480"/>
          </a:xfrm>
          <a:prstGeom prst="rect">
            <a:avLst/>
          </a:prstGeom>
          <a:noFill/>
        </p:spPr>
        <p:txBody>
          <a:bodyPr wrap="none">
            <a:spAutoFit/>
          </a:bodyPr>
          <a:lstStyle/>
          <a:p>
            <a:pPr>
              <a:defRPr sz="1400" b="1">
                <a:solidFill>
                  <a:srgbClr val="0F172A"/>
                </a:solidFill>
                <a:latin typeface="Calibri"/>
              </a:defRPr>
            </a:pPr>
            <a:r>
              <a:t>N System (Zero Backup)</a:t>
            </a:r>
          </a:p>
        </p:txBody>
      </p:sp>
      <p:sp>
        <p:nvSpPr>
          <p:cNvPr id="10" name="Rounded Rectangle 9"/>
          <p:cNvSpPr/>
          <p:nvPr/>
        </p:nvSpPr>
        <p:spPr>
          <a:xfrm>
            <a:off x="2606040" y="1463040"/>
            <a:ext cx="1280160" cy="228600"/>
          </a:xfrm>
          <a:prstGeom prst="round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TIER I (BASIC)</a:t>
            </a:r>
          </a:p>
        </p:txBody>
      </p:sp>
      <p:sp>
        <p:nvSpPr>
          <p:cNvPr id="11" name="TextBox 10"/>
          <p:cNvSpPr txBox="1"/>
          <p:nvPr/>
        </p:nvSpPr>
        <p:spPr>
          <a:xfrm>
            <a:off x="777240" y="1920240"/>
            <a:ext cx="30632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Real-world Analogy:</a:t>
            </a:r>
            <a:r>
              <a:rPr b="0">
                <a:solidFill>
                  <a:srgbClr val="475569"/>
                </a:solidFill>
              </a:rPr>
              <a:t> A car with exactly 4 wheels and NO spare tire.</a:t>
            </a:r>
          </a:p>
          <a:p>
            <a:pPr>
              <a:spcAft>
                <a:spcPts val="600"/>
              </a:spcAft>
              <a:defRPr sz="1100">
                <a:solidFill>
                  <a:srgbClr val="475569"/>
                </a:solidFill>
                <a:latin typeface="Calibri"/>
              </a:defRPr>
            </a:pPr>
            <a:r>
              <a:rPr b="1">
                <a:solidFill>
                  <a:srgbClr val="0F172A"/>
                </a:solidFill>
              </a:rPr>
              <a:t>• What it means:</a:t>
            </a:r>
            <a:r>
              <a:rPr b="0">
                <a:solidFill>
                  <a:srgbClr val="475569"/>
                </a:solidFill>
              </a:rPr>
              <a:t> If your data centre needs 1000 kW, you buy exactly one 1000 kW UPS.</a:t>
            </a:r>
          </a:p>
          <a:p>
            <a:pPr>
              <a:spcAft>
                <a:spcPts val="600"/>
              </a:spcAft>
              <a:defRPr sz="1100">
                <a:solidFill>
                  <a:srgbClr val="475569"/>
                </a:solidFill>
                <a:latin typeface="Calibri"/>
              </a:defRPr>
            </a:pPr>
            <a:r>
              <a:rPr b="1">
                <a:solidFill>
                  <a:srgbClr val="0F172A"/>
                </a:solidFill>
              </a:rPr>
              <a:t>• The Risk:</a:t>
            </a:r>
            <a:r>
              <a:rPr b="0">
                <a:solidFill>
                  <a:srgbClr val="475569"/>
                </a:solidFill>
              </a:rPr>
              <a:t> If that one UPS breaks or needs an oil change, the whole data centre dies immediately.</a:t>
            </a:r>
          </a:p>
          <a:p>
            <a:pPr>
              <a:spcAft>
                <a:spcPts val="600"/>
              </a:spcAft>
              <a:defRPr sz="1100">
                <a:solidFill>
                  <a:srgbClr val="475569"/>
                </a:solidFill>
                <a:latin typeface="Calibri"/>
              </a:defRPr>
            </a:pPr>
            <a:r>
              <a:rPr b="1">
                <a:solidFill>
                  <a:srgbClr val="0F172A"/>
                </a:solidFill>
              </a:rPr>
              <a:t>• Tier Rating:</a:t>
            </a:r>
            <a:r>
              <a:rPr b="0">
                <a:solidFill>
                  <a:srgbClr val="475569"/>
                </a:solidFill>
              </a:rPr>
              <a:t> Tier I (Basic capacity).</a:t>
            </a:r>
          </a:p>
          <a:p>
            <a:pPr>
              <a:spcAft>
                <a:spcPts val="600"/>
              </a:spcAft>
              <a:defRPr sz="1100">
                <a:solidFill>
                  <a:srgbClr val="475569"/>
                </a:solidFill>
                <a:latin typeface="Calibri"/>
              </a:defRPr>
            </a:pPr>
            <a:r>
              <a:rPr b="1">
                <a:solidFill>
                  <a:srgbClr val="0F172A"/>
                </a:solidFill>
              </a:rPr>
              <a:t>• Availability:</a:t>
            </a:r>
            <a:r>
              <a:rPr b="0">
                <a:solidFill>
                  <a:srgbClr val="475569"/>
                </a:solidFill>
              </a:rPr>
              <a:t> 99.67% (allows 28.8 hours of downtime per year).</a:t>
            </a:r>
          </a:p>
        </p:txBody>
      </p:sp>
      <p:sp>
        <p:nvSpPr>
          <p:cNvPr id="12" name="Rounded Rectangle 11"/>
          <p:cNvSpPr/>
          <p:nvPr/>
        </p:nvSpPr>
        <p:spPr>
          <a:xfrm>
            <a:off x="4297680" y="1280160"/>
            <a:ext cx="35204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463040"/>
            <a:ext cx="3063240" cy="411480"/>
          </a:xfrm>
          <a:prstGeom prst="rect">
            <a:avLst/>
          </a:prstGeom>
          <a:noFill/>
        </p:spPr>
        <p:txBody>
          <a:bodyPr wrap="none">
            <a:spAutoFit/>
          </a:bodyPr>
          <a:lstStyle/>
          <a:p>
            <a:pPr>
              <a:defRPr sz="1400" b="1">
                <a:solidFill>
                  <a:srgbClr val="0F172A"/>
                </a:solidFill>
                <a:latin typeface="Calibri"/>
              </a:defRPr>
            </a:pPr>
            <a:r>
              <a:t>N+1 System (One Spare)</a:t>
            </a:r>
          </a:p>
        </p:txBody>
      </p:sp>
      <p:sp>
        <p:nvSpPr>
          <p:cNvPr id="14" name="Rounded Rectangle 13"/>
          <p:cNvSpPr/>
          <p:nvPr/>
        </p:nvSpPr>
        <p:spPr>
          <a:xfrm>
            <a:off x="6355080" y="1463040"/>
            <a:ext cx="1280160" cy="228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TIER II (SPARE COMPONENT)</a:t>
            </a:r>
          </a:p>
        </p:txBody>
      </p:sp>
      <p:sp>
        <p:nvSpPr>
          <p:cNvPr id="15" name="TextBox 14"/>
          <p:cNvSpPr txBox="1"/>
          <p:nvPr/>
        </p:nvSpPr>
        <p:spPr>
          <a:xfrm>
            <a:off x="4526280" y="1920240"/>
            <a:ext cx="30632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Real-world Analogy:</a:t>
            </a:r>
            <a:r>
              <a:rPr b="0">
                <a:solidFill>
                  <a:srgbClr val="475569"/>
                </a:solidFill>
              </a:rPr>
              <a:t> A car with 4 wheels plus 1 spare tire in the trunk.</a:t>
            </a:r>
          </a:p>
          <a:p>
            <a:pPr>
              <a:spcAft>
                <a:spcPts val="600"/>
              </a:spcAft>
              <a:defRPr sz="1100">
                <a:solidFill>
                  <a:srgbClr val="475569"/>
                </a:solidFill>
                <a:latin typeface="Calibri"/>
              </a:defRPr>
            </a:pPr>
            <a:r>
              <a:rPr b="1">
                <a:solidFill>
                  <a:srgbClr val="0F172A"/>
                </a:solidFill>
              </a:rPr>
              <a:t>• What it means:</a:t>
            </a:r>
            <a:r>
              <a:rPr b="0">
                <a:solidFill>
                  <a:srgbClr val="475569"/>
                </a:solidFill>
              </a:rPr>
              <a:t> You need 3 UPS units to run the servers? You buy 4 units (3 + 1 extra).</a:t>
            </a:r>
          </a:p>
          <a:p>
            <a:pPr>
              <a:spcAft>
                <a:spcPts val="600"/>
              </a:spcAft>
              <a:defRPr sz="1100">
                <a:solidFill>
                  <a:srgbClr val="475569"/>
                </a:solidFill>
                <a:latin typeface="Calibri"/>
              </a:defRPr>
            </a:pPr>
            <a:r>
              <a:rPr b="1">
                <a:solidFill>
                  <a:srgbClr val="0F172A"/>
                </a:solidFill>
              </a:rPr>
              <a:t>• The Benefit:</a:t>
            </a:r>
            <a:r>
              <a:rPr b="0">
                <a:solidFill>
                  <a:srgbClr val="475569"/>
                </a:solidFill>
              </a:rPr>
              <a:t> If any 1 unit fails or needs maintenance, the other 3 carry the load.</a:t>
            </a:r>
          </a:p>
          <a:p>
            <a:pPr>
              <a:spcAft>
                <a:spcPts val="600"/>
              </a:spcAft>
              <a:defRPr sz="1100">
                <a:solidFill>
                  <a:srgbClr val="475569"/>
                </a:solidFill>
                <a:latin typeface="Calibri"/>
              </a:defRPr>
            </a:pPr>
            <a:r>
              <a:rPr b="1">
                <a:solidFill>
                  <a:srgbClr val="0F172A"/>
                </a:solidFill>
              </a:rPr>
              <a:t>• The Flaw:</a:t>
            </a:r>
            <a:r>
              <a:rPr b="0">
                <a:solidFill>
                  <a:srgbClr val="475569"/>
                </a:solidFill>
              </a:rPr>
              <a:t> All 4 units connect to the SAME electrical pipe (single bus). If that bus faults, everything shuts down!</a:t>
            </a:r>
          </a:p>
          <a:p>
            <a:pPr>
              <a:spcAft>
                <a:spcPts val="600"/>
              </a:spcAft>
              <a:defRPr sz="1100">
                <a:solidFill>
                  <a:srgbClr val="475569"/>
                </a:solidFill>
                <a:latin typeface="Calibri"/>
              </a:defRPr>
            </a:pPr>
            <a:r>
              <a:rPr b="1">
                <a:solidFill>
                  <a:srgbClr val="0F172A"/>
                </a:solidFill>
              </a:rPr>
              <a:t>• Tier Rating:</a:t>
            </a:r>
            <a:r>
              <a:rPr b="0">
                <a:solidFill>
                  <a:srgbClr val="475569"/>
                </a:solidFill>
              </a:rPr>
              <a:t> Tier II.</a:t>
            </a:r>
          </a:p>
        </p:txBody>
      </p:sp>
      <p:sp>
        <p:nvSpPr>
          <p:cNvPr id="16" name="Rounded Rectangle 15"/>
          <p:cNvSpPr/>
          <p:nvPr/>
        </p:nvSpPr>
        <p:spPr>
          <a:xfrm>
            <a:off x="8046720" y="1280160"/>
            <a:ext cx="3520440" cy="48463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1463040"/>
            <a:ext cx="3063240" cy="411480"/>
          </a:xfrm>
          <a:prstGeom prst="rect">
            <a:avLst/>
          </a:prstGeom>
          <a:noFill/>
        </p:spPr>
        <p:txBody>
          <a:bodyPr wrap="none">
            <a:spAutoFit/>
          </a:bodyPr>
          <a:lstStyle/>
          <a:p>
            <a:pPr>
              <a:defRPr sz="1400" b="1">
                <a:solidFill>
                  <a:srgbClr val="0F172A"/>
                </a:solidFill>
                <a:latin typeface="Calibri"/>
              </a:defRPr>
            </a:pPr>
            <a:r>
              <a:t>2N System (Two Complete Paths)</a:t>
            </a:r>
          </a:p>
        </p:txBody>
      </p:sp>
      <p:sp>
        <p:nvSpPr>
          <p:cNvPr id="18" name="Rounded Rectangle 17"/>
          <p:cNvSpPr/>
          <p:nvPr/>
        </p:nvSpPr>
        <p:spPr>
          <a:xfrm>
            <a:off x="10104120" y="1463040"/>
            <a:ext cx="128016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TIER IV (FAULT TOLERANT)</a:t>
            </a:r>
          </a:p>
        </p:txBody>
      </p:sp>
      <p:sp>
        <p:nvSpPr>
          <p:cNvPr id="19" name="TextBox 18"/>
          <p:cNvSpPr txBox="1"/>
          <p:nvPr/>
        </p:nvSpPr>
        <p:spPr>
          <a:xfrm>
            <a:off x="8275320" y="1920240"/>
            <a:ext cx="30632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Real-world Analogy:</a:t>
            </a:r>
            <a:r>
              <a:rPr b="0">
                <a:solidFill>
                  <a:srgbClr val="475569"/>
                </a:solidFill>
              </a:rPr>
              <a:t> An airplane with TWO completely independent engines and fuel lines.</a:t>
            </a:r>
          </a:p>
          <a:p>
            <a:pPr>
              <a:spcAft>
                <a:spcPts val="600"/>
              </a:spcAft>
              <a:defRPr sz="1100">
                <a:solidFill>
                  <a:srgbClr val="475569"/>
                </a:solidFill>
                <a:latin typeface="Calibri"/>
              </a:defRPr>
            </a:pPr>
            <a:r>
              <a:rPr b="1">
                <a:solidFill>
                  <a:srgbClr val="0F172A"/>
                </a:solidFill>
              </a:rPr>
              <a:t>• What it means:</a:t>
            </a:r>
            <a:r>
              <a:rPr b="0">
                <a:solidFill>
                  <a:srgbClr val="475569"/>
                </a:solidFill>
              </a:rPr>
              <a:t> You build TWO separate power plants (Path A and Path B). Each can run 100% of the data centre alone!</a:t>
            </a:r>
          </a:p>
          <a:p>
            <a:pPr>
              <a:spcAft>
                <a:spcPts val="600"/>
              </a:spcAft>
              <a:defRPr sz="1100">
                <a:solidFill>
                  <a:srgbClr val="475569"/>
                </a:solidFill>
                <a:latin typeface="Calibri"/>
              </a:defRPr>
            </a:pPr>
            <a:r>
              <a:rPr b="1">
                <a:solidFill>
                  <a:srgbClr val="0F172A"/>
                </a:solidFill>
              </a:rPr>
              <a:t>• Normal Operation:</a:t>
            </a:r>
            <a:r>
              <a:rPr b="0">
                <a:solidFill>
                  <a:srgbClr val="475569"/>
                </a:solidFill>
              </a:rPr>
              <a:t> Path A runs at 50%, Path B runs at 50%.</a:t>
            </a:r>
          </a:p>
          <a:p>
            <a:pPr>
              <a:spcAft>
                <a:spcPts val="600"/>
              </a:spcAft>
              <a:defRPr sz="1100">
                <a:solidFill>
                  <a:srgbClr val="475569"/>
                </a:solidFill>
                <a:latin typeface="Calibri"/>
              </a:defRPr>
            </a:pPr>
            <a:r>
              <a:rPr b="1">
                <a:solidFill>
                  <a:srgbClr val="0F172A"/>
                </a:solidFill>
              </a:rPr>
              <a:t>• Zero Single Points of Failure:</a:t>
            </a:r>
            <a:r>
              <a:rPr b="0">
                <a:solidFill>
                  <a:srgbClr val="475569"/>
                </a:solidFill>
              </a:rPr>
              <a:t> If Path A blows up, catches fire, or gets struck by lightning, Path B runs everything smoothly.</a:t>
            </a:r>
          </a:p>
          <a:p>
            <a:pPr>
              <a:spcAft>
                <a:spcPts val="600"/>
              </a:spcAft>
              <a:defRPr sz="1100">
                <a:solidFill>
                  <a:srgbClr val="475569"/>
                </a:solidFill>
                <a:latin typeface="Calibri"/>
              </a:defRPr>
            </a:pPr>
            <a:r>
              <a:rPr b="1">
                <a:solidFill>
                  <a:srgbClr val="0F172A"/>
                </a:solidFill>
              </a:rPr>
              <a:t>• Tier Rating:</a:t>
            </a:r>
            <a:r>
              <a:rPr b="0">
                <a:solidFill>
                  <a:srgbClr val="475569"/>
                </a:solidFill>
              </a:rPr>
              <a:t> Tier IV (The highest standard).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9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MODULE 3</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Power Distribution: Floor PDUs vs. Overhead Track Busways</a:t>
            </a:r>
          </a:p>
          <a:p>
            <a:pPr>
              <a:defRPr sz="1100">
                <a:solidFill>
                  <a:srgbClr val="94A3B8"/>
                </a:solidFill>
                <a:latin typeface="Calibri"/>
              </a:defRPr>
            </a:pPr>
            <a:r>
              <a:t>Moving away from messy underfloor cables to clean, modular ceiling busbars</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09</a:t>
            </a:r>
          </a:p>
        </p:txBody>
      </p:sp>
      <p:sp>
        <p:nvSpPr>
          <p:cNvPr id="8" name="Rounded Rectangle 7"/>
          <p:cNvSpPr/>
          <p:nvPr/>
        </p:nvSpPr>
        <p:spPr>
          <a:xfrm>
            <a:off x="548640" y="1280160"/>
            <a:ext cx="53492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none">
            <a:spAutoFit/>
          </a:bodyPr>
          <a:lstStyle/>
          <a:p>
            <a:pPr>
              <a:defRPr sz="1400" b="1">
                <a:solidFill>
                  <a:srgbClr val="0F172A"/>
                </a:solidFill>
                <a:latin typeface="Calibri"/>
              </a:defRPr>
            </a:pPr>
            <a:r>
              <a:t>Old Way: Underfloor Cables (RPPs)</a:t>
            </a:r>
          </a:p>
        </p:txBody>
      </p:sp>
      <p:sp>
        <p:nvSpPr>
          <p:cNvPr id="10" name="Rounded Rectangle 9"/>
          <p:cNvSpPr/>
          <p:nvPr/>
        </p:nvSpPr>
        <p:spPr>
          <a:xfrm>
            <a:off x="4434840" y="1463040"/>
            <a:ext cx="1280160" cy="228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OLD METHOD</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How it works:</a:t>
            </a:r>
            <a:r>
              <a:rPr b="0">
                <a:solidFill>
                  <a:srgbClr val="475569"/>
                </a:solidFill>
              </a:rPr>
              <a:t> Huge metal boxes called Remote Power Panels (RPP) stand on the floor. Electricians pull hundreds of thick cables under the raised floor tiles.</a:t>
            </a:r>
          </a:p>
          <a:p>
            <a:pPr>
              <a:spcAft>
                <a:spcPts val="600"/>
              </a:spcAft>
              <a:defRPr sz="1100">
                <a:solidFill>
                  <a:srgbClr val="475569"/>
                </a:solidFill>
                <a:latin typeface="Calibri"/>
              </a:defRPr>
            </a:pPr>
            <a:r>
              <a:rPr b="1">
                <a:solidFill>
                  <a:srgbClr val="0F172A"/>
                </a:solidFill>
              </a:rPr>
              <a:t>• The Big Problem (Cable Spaghetti):</a:t>
            </a:r>
            <a:r>
              <a:rPr b="0">
                <a:solidFill>
                  <a:srgbClr val="475569"/>
                </a:solidFill>
              </a:rPr>
              <a:t> Hundreds of messy cables block cold air flowing under the floor. Servers overheat because cold air can't get through!</a:t>
            </a:r>
          </a:p>
          <a:p>
            <a:pPr>
              <a:spcAft>
                <a:spcPts val="600"/>
              </a:spcAft>
              <a:defRPr sz="1100">
                <a:solidFill>
                  <a:srgbClr val="475569"/>
                </a:solidFill>
                <a:latin typeface="Calibri"/>
              </a:defRPr>
            </a:pPr>
            <a:r>
              <a:rPr b="1">
                <a:solidFill>
                  <a:srgbClr val="0F172A"/>
                </a:solidFill>
              </a:rPr>
              <a:t>• Zero Flexibility:</a:t>
            </a:r>
            <a:r>
              <a:rPr b="0">
                <a:solidFill>
                  <a:srgbClr val="475569"/>
                </a:solidFill>
              </a:rPr>
              <a:t> To add one new server rack, you must open floor tiles and pull a new heavy cable while other wires are live (danger of accidental unplugging).</a:t>
            </a:r>
          </a:p>
          <a:p>
            <a:pPr>
              <a:spcAft>
                <a:spcPts val="600"/>
              </a:spcAft>
              <a:defRPr sz="1100">
                <a:solidFill>
                  <a:srgbClr val="475569"/>
                </a:solidFill>
                <a:latin typeface="Calibri"/>
              </a:defRPr>
            </a:pPr>
            <a:r>
              <a:rPr b="1">
                <a:solidFill>
                  <a:srgbClr val="0F172A"/>
                </a:solidFill>
              </a:rPr>
              <a:t>• Wastes Floor Space:</a:t>
            </a:r>
            <a:r>
              <a:rPr b="0">
                <a:solidFill>
                  <a:srgbClr val="475569"/>
                </a:solidFill>
              </a:rPr>
              <a:t> Bulky RPP panels take up room that could have held expensive server racks.</a:t>
            </a:r>
          </a:p>
        </p:txBody>
      </p:sp>
      <p:sp>
        <p:nvSpPr>
          <p:cNvPr id="12" name="Rounded Rectangle 11"/>
          <p:cNvSpPr/>
          <p:nvPr/>
        </p:nvSpPr>
        <p:spPr>
          <a:xfrm>
            <a:off x="6217920" y="1280160"/>
            <a:ext cx="5349240" cy="48463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none">
            <a:spAutoFit/>
          </a:bodyPr>
          <a:lstStyle/>
          <a:p>
            <a:pPr>
              <a:defRPr sz="1400" b="1">
                <a:solidFill>
                  <a:srgbClr val="0F172A"/>
                </a:solidFill>
                <a:latin typeface="Calibri"/>
              </a:defRPr>
            </a:pPr>
            <a:r>
              <a:t>Modern Way: Overhead Track Busway</a:t>
            </a:r>
          </a:p>
        </p:txBody>
      </p:sp>
      <p:sp>
        <p:nvSpPr>
          <p:cNvPr id="14" name="Rounded Rectangle 13"/>
          <p:cNvSpPr/>
          <p:nvPr/>
        </p:nvSpPr>
        <p:spPr>
          <a:xfrm>
            <a:off x="10104120" y="1463040"/>
            <a:ext cx="128016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MODERN METHOD</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How it works:</a:t>
            </a:r>
            <a:r>
              <a:rPr b="0">
                <a:solidFill>
                  <a:srgbClr val="475569"/>
                </a:solidFill>
              </a:rPr>
              <a:t> Metal electrical bars (tracks) are mounted on the ceiling directly above the rows of server racks.</a:t>
            </a:r>
          </a:p>
          <a:p>
            <a:pPr>
              <a:spcAft>
                <a:spcPts val="600"/>
              </a:spcAft>
              <a:defRPr sz="1100">
                <a:solidFill>
                  <a:srgbClr val="475569"/>
                </a:solidFill>
                <a:latin typeface="Calibri"/>
              </a:defRPr>
            </a:pPr>
            <a:r>
              <a:rPr b="1">
                <a:solidFill>
                  <a:srgbClr val="0F172A"/>
                </a:solidFill>
              </a:rPr>
              <a:t>• Plug-In Tap-Off Boxes:</a:t>
            </a:r>
            <a:r>
              <a:rPr b="0">
                <a:solidFill>
                  <a:srgbClr val="475569"/>
                </a:solidFill>
              </a:rPr>
              <a:t> Little power boxes plug directly into the ceiling track anywhere you want, just like plugging into a wall socket!</a:t>
            </a:r>
          </a:p>
          <a:p>
            <a:pPr>
              <a:spcAft>
                <a:spcPts val="600"/>
              </a:spcAft>
              <a:defRPr sz="1100">
                <a:solidFill>
                  <a:srgbClr val="475569"/>
                </a:solidFill>
                <a:latin typeface="Calibri"/>
              </a:defRPr>
            </a:pPr>
            <a:r>
              <a:rPr b="1">
                <a:solidFill>
                  <a:srgbClr val="0F172A"/>
                </a:solidFill>
              </a:rPr>
              <a:t>• Hot-Swappable:</a:t>
            </a:r>
            <a:r>
              <a:rPr b="0">
                <a:solidFill>
                  <a:srgbClr val="475569"/>
                </a:solidFill>
              </a:rPr>
              <a:t> An engineer can click in a new power box while the electricity is fully ON without cutting power to neighboring racks.</a:t>
            </a:r>
          </a:p>
          <a:p>
            <a:pPr>
              <a:spcAft>
                <a:spcPts val="600"/>
              </a:spcAft>
              <a:defRPr sz="1100">
                <a:solidFill>
                  <a:srgbClr val="475569"/>
                </a:solidFill>
                <a:latin typeface="Calibri"/>
              </a:defRPr>
            </a:pPr>
            <a:r>
              <a:rPr b="1">
                <a:solidFill>
                  <a:srgbClr val="0F172A"/>
                </a:solidFill>
              </a:rPr>
              <a:t>• Free Cold Air:</a:t>
            </a:r>
            <a:r>
              <a:rPr b="0">
                <a:solidFill>
                  <a:srgbClr val="475569"/>
                </a:solidFill>
              </a:rPr>
              <a:t> Under the floor is 100% empty, allowing cold air to flow smoothly into servers (lowers electricity bills!).</a:t>
            </a:r>
          </a:p>
          <a:p>
            <a:pPr>
              <a:spcAft>
                <a:spcPts val="600"/>
              </a:spcAft>
              <a:defRPr sz="1100">
                <a:solidFill>
                  <a:srgbClr val="475569"/>
                </a:solidFill>
                <a:latin typeface="Calibri"/>
              </a:defRPr>
            </a:pPr>
            <a:r>
              <a:rPr b="1">
                <a:solidFill>
                  <a:srgbClr val="0F172A"/>
                </a:solidFill>
              </a:rPr>
              <a:t>• Exam Tip:</a:t>
            </a:r>
            <a:r>
              <a:rPr b="0">
                <a:solidFill>
                  <a:srgbClr val="475569"/>
                </a:solidFill>
              </a:rPr>
              <a:t> Modern data centres use Overhead Busway because it saves floor space, improves cooling, and lets you add racks in minutes.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10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IN-RACK POWER</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Inside the Server Rack: Intelligent ePDUs &amp; Dual-Corded Servers</a:t>
            </a:r>
          </a:p>
          <a:p>
            <a:pPr>
              <a:defRPr sz="1100">
                <a:solidFill>
                  <a:srgbClr val="94A3B8"/>
                </a:solidFill>
                <a:latin typeface="Calibri"/>
              </a:defRPr>
            </a:pPr>
            <a:r>
              <a:t>How redundant power reaches every single motherboard inside the rack</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10</a:t>
            </a:r>
          </a:p>
        </p:txBody>
      </p:sp>
      <p:sp>
        <p:nvSpPr>
          <p:cNvPr id="8" name="Rounded Rectangle 7"/>
          <p:cNvSpPr/>
          <p:nvPr/>
        </p:nvSpPr>
        <p:spPr>
          <a:xfrm>
            <a:off x="548640" y="1280160"/>
            <a:ext cx="53492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none">
            <a:spAutoFit/>
          </a:bodyPr>
          <a:lstStyle/>
          <a:p>
            <a:pPr>
              <a:defRPr sz="1400" b="1">
                <a:solidFill>
                  <a:srgbClr val="0F172A"/>
                </a:solidFill>
                <a:latin typeface="Calibri"/>
              </a:defRPr>
            </a:pPr>
            <a:r>
              <a:t>Rack PDUs (ePDUs) - From Dumb to Smart</a:t>
            </a:r>
          </a:p>
        </p:txBody>
      </p:sp>
      <p:sp>
        <p:nvSpPr>
          <p:cNvPr id="10" name="Rounded Rectangle 9"/>
          <p:cNvSpPr/>
          <p:nvPr/>
        </p:nvSpPr>
        <p:spPr>
          <a:xfrm>
            <a:off x="4434840" y="1463040"/>
            <a:ext cx="128016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RACK PDU TYPES</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Basic PDU:</a:t>
            </a:r>
            <a:r>
              <a:rPr b="0">
                <a:solidFill>
                  <a:srgbClr val="475569"/>
                </a:solidFill>
              </a:rPr>
              <a:t> Just a dumb extension cord with multiple plugs. Distributes power, but has no screen and no network card.</a:t>
            </a:r>
          </a:p>
          <a:p>
            <a:pPr>
              <a:spcAft>
                <a:spcPts val="600"/>
              </a:spcAft>
              <a:defRPr sz="1100">
                <a:solidFill>
                  <a:srgbClr val="475569"/>
                </a:solidFill>
                <a:latin typeface="Calibri"/>
              </a:defRPr>
            </a:pPr>
            <a:r>
              <a:rPr b="1">
                <a:solidFill>
                  <a:srgbClr val="0F172A"/>
                </a:solidFill>
              </a:rPr>
              <a:t>• Metered PDU:</a:t>
            </a:r>
            <a:r>
              <a:rPr b="0">
                <a:solidFill>
                  <a:srgbClr val="475569"/>
                </a:solidFill>
              </a:rPr>
              <a:t> Has a digital LED screen showing how many Amperes are being drawn. Prevents technicians from plugging in too many servers and tripping the breaker.</a:t>
            </a:r>
          </a:p>
          <a:p>
            <a:pPr>
              <a:spcAft>
                <a:spcPts val="600"/>
              </a:spcAft>
              <a:defRPr sz="1100">
                <a:solidFill>
                  <a:srgbClr val="475569"/>
                </a:solidFill>
                <a:latin typeface="Calibri"/>
              </a:defRPr>
            </a:pPr>
            <a:r>
              <a:rPr b="1">
                <a:solidFill>
                  <a:srgbClr val="0F172A"/>
                </a:solidFill>
              </a:rPr>
              <a:t>• Monitored PDU:</a:t>
            </a:r>
            <a:r>
              <a:rPr b="0">
                <a:solidFill>
                  <a:srgbClr val="475569"/>
                </a:solidFill>
              </a:rPr>
              <a:t> Has an Ethernet port and IP address. Sends live voltage, power, and electricity usage alerts over the network to the control room.</a:t>
            </a:r>
          </a:p>
          <a:p>
            <a:pPr>
              <a:spcAft>
                <a:spcPts val="600"/>
              </a:spcAft>
              <a:defRPr sz="1100">
                <a:solidFill>
                  <a:srgbClr val="475569"/>
                </a:solidFill>
                <a:latin typeface="Calibri"/>
              </a:defRPr>
            </a:pPr>
            <a:r>
              <a:rPr b="1">
                <a:solidFill>
                  <a:srgbClr val="0F172A"/>
                </a:solidFill>
              </a:rPr>
              <a:t>• Switched PDU (The Best!):</a:t>
            </a:r>
            <a:r>
              <a:rPr b="0">
                <a:solidFill>
                  <a:srgbClr val="475569"/>
                </a:solidFill>
              </a:rPr>
              <a:t> Lets engineers remotely turn individual outlets ON or OFF from home. If a server freezes at 2 AM, you can reboot it with one click on a web browser without driving to the data centre!</a:t>
            </a:r>
          </a:p>
        </p:txBody>
      </p:sp>
      <p:sp>
        <p:nvSpPr>
          <p:cNvPr id="12" name="Rounded Rectangle 11"/>
          <p:cNvSpPr/>
          <p:nvPr/>
        </p:nvSpPr>
        <p:spPr>
          <a:xfrm>
            <a:off x="6217920" y="1280160"/>
            <a:ext cx="5349240" cy="48463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none">
            <a:spAutoFit/>
          </a:bodyPr>
          <a:lstStyle/>
          <a:p>
            <a:pPr>
              <a:defRPr sz="1400" b="1">
                <a:solidFill>
                  <a:srgbClr val="0F172A"/>
                </a:solidFill>
                <a:latin typeface="Calibri"/>
              </a:defRPr>
            </a:pPr>
            <a:r>
              <a:t>Dual-Corded Servers (Why Every Server Has 2 Plugs)</a:t>
            </a:r>
          </a:p>
        </p:txBody>
      </p:sp>
      <p:sp>
        <p:nvSpPr>
          <p:cNvPr id="14" name="Rounded Rectangle 13"/>
          <p:cNvSpPr/>
          <p:nvPr/>
        </p:nvSpPr>
        <p:spPr>
          <a:xfrm>
            <a:off x="10104120" y="1463040"/>
            <a:ext cx="128016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DUAL CORDING</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t>• Every enterprise server (Dell, HP, Cisco) has TWO power supplies (PSU 1 and PSU 2) sticking out the back.</a:t>
            </a:r>
          </a:p>
          <a:p>
            <a:pPr>
              <a:spcAft>
                <a:spcPts val="600"/>
              </a:spcAft>
              <a:defRPr sz="1100">
                <a:solidFill>
                  <a:srgbClr val="475569"/>
                </a:solidFill>
                <a:latin typeface="Calibri"/>
              </a:defRPr>
            </a:pPr>
            <a:r>
              <a:rPr b="1">
                <a:solidFill>
                  <a:srgbClr val="0F172A"/>
                </a:solidFill>
              </a:rPr>
              <a:t>• How they connect:</a:t>
            </a:r>
            <a:r>
              <a:rPr b="0">
                <a:solidFill>
                  <a:srgbClr val="475569"/>
                </a:solidFill>
              </a:rPr>
              <a:t>
  • Cord 1 plugs into Rack PDU A (powered by UPS Path A).
  • Cord 2 plugs into Rack PDU B (powered by UPS Path B).</a:t>
            </a:r>
          </a:p>
          <a:p>
            <a:pPr>
              <a:spcAft>
                <a:spcPts val="600"/>
              </a:spcAft>
              <a:defRPr sz="1100">
                <a:solidFill>
                  <a:srgbClr val="475569"/>
                </a:solidFill>
                <a:latin typeface="Calibri"/>
              </a:defRPr>
            </a:pPr>
            <a:r>
              <a:rPr b="1">
                <a:solidFill>
                  <a:srgbClr val="0F172A"/>
                </a:solidFill>
              </a:rPr>
              <a:t>• Normal Operation:</a:t>
            </a:r>
            <a:r>
              <a:rPr b="0">
                <a:solidFill>
                  <a:srgbClr val="475569"/>
                </a:solidFill>
              </a:rPr>
              <a:t> Both power supplies share the work (50% each).</a:t>
            </a:r>
          </a:p>
          <a:p>
            <a:pPr>
              <a:spcAft>
                <a:spcPts val="600"/>
              </a:spcAft>
              <a:defRPr sz="1100">
                <a:solidFill>
                  <a:srgbClr val="475569"/>
                </a:solidFill>
                <a:latin typeface="Calibri"/>
              </a:defRPr>
            </a:pPr>
            <a:r>
              <a:rPr b="1">
                <a:solidFill>
                  <a:srgbClr val="0F172A"/>
                </a:solidFill>
              </a:rPr>
              <a:t>• What happens during failure?:</a:t>
            </a:r>
            <a:r>
              <a:rPr b="0">
                <a:solidFill>
                  <a:srgbClr val="475569"/>
                </a:solidFill>
              </a:rPr>
              <a:t> If an electrician trips Breaker A or unplugs Cord 1 by mistake, PSU 2 instantly drinks 100% of the power from Cord B.</a:t>
            </a:r>
          </a:p>
          <a:p>
            <a:pPr>
              <a:spcAft>
                <a:spcPts val="600"/>
              </a:spcAft>
              <a:defRPr sz="1100">
                <a:solidFill>
                  <a:srgbClr val="475569"/>
                </a:solidFill>
                <a:latin typeface="Calibri"/>
              </a:defRPr>
            </a:pPr>
            <a:r>
              <a:rPr b="1">
                <a:solidFill>
                  <a:srgbClr val="0F172A"/>
                </a:solidFill>
              </a:rPr>
              <a:t>• Result:</a:t>
            </a:r>
            <a:r>
              <a:rPr b="0">
                <a:solidFill>
                  <a:srgbClr val="475569"/>
                </a:solidFill>
              </a:rPr>
              <a:t> The website never goes down; users watching YouTube or banking never notice anything happened!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11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MODULE 4</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Earthing: Why the TN-S Scheme is Mandatory for Data Centres</a:t>
            </a:r>
          </a:p>
          <a:p>
            <a:pPr>
              <a:defRPr sz="1100">
                <a:solidFill>
                  <a:srgbClr val="94A3B8"/>
                </a:solidFill>
                <a:latin typeface="Calibri"/>
              </a:defRPr>
            </a:pPr>
            <a:r>
              <a:t>Why keeping the Neutral and Earth wires separate saves human lives and stops data corruption</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11</a:t>
            </a:r>
          </a:p>
        </p:txBody>
      </p:sp>
      <p:sp>
        <p:nvSpPr>
          <p:cNvPr id="8" name="Rounded Rectangle 7"/>
          <p:cNvSpPr/>
          <p:nvPr/>
        </p:nvSpPr>
        <p:spPr>
          <a:xfrm>
            <a:off x="548640" y="1280160"/>
            <a:ext cx="53492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none">
            <a:spAutoFit/>
          </a:bodyPr>
          <a:lstStyle/>
          <a:p>
            <a:pPr>
              <a:defRPr sz="1400" b="1">
                <a:solidFill>
                  <a:srgbClr val="0F172A"/>
                </a:solidFill>
                <a:latin typeface="Calibri"/>
              </a:defRPr>
            </a:pPr>
            <a:r>
              <a:t>The 3 Reasons We Do Earthing</a:t>
            </a:r>
          </a:p>
        </p:txBody>
      </p:sp>
      <p:sp>
        <p:nvSpPr>
          <p:cNvPr id="10" name="Rounded Rectangle 9"/>
          <p:cNvSpPr/>
          <p:nvPr/>
        </p:nvSpPr>
        <p:spPr>
          <a:xfrm>
            <a:off x="4434840" y="1463040"/>
            <a:ext cx="128016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WHY GROUNDING MATTERS</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1. Human Life Safety:</a:t>
            </a:r>
            <a:r>
              <a:rPr b="0">
                <a:solidFill>
                  <a:srgbClr val="475569"/>
                </a:solidFill>
              </a:rPr>
              <a:t> If a wire comes loose inside a metal server chassis, the current must rush harmlessly down to earth and trip the breaker in milliseconds so technicians don't get electrocuted.</a:t>
            </a:r>
          </a:p>
          <a:p>
            <a:pPr>
              <a:spcAft>
                <a:spcPts val="600"/>
              </a:spcAft>
              <a:defRPr sz="1100">
                <a:solidFill>
                  <a:srgbClr val="475569"/>
                </a:solidFill>
                <a:latin typeface="Calibri"/>
              </a:defRPr>
            </a:pPr>
            <a:r>
              <a:rPr b="1">
                <a:solidFill>
                  <a:srgbClr val="0F172A"/>
                </a:solidFill>
              </a:rPr>
              <a:t>• 2. Neutral Voltage Stabilization:</a:t>
            </a:r>
            <a:r>
              <a:rPr b="0">
                <a:solidFill>
                  <a:srgbClr val="475569"/>
                </a:solidFill>
              </a:rPr>
              <a:t> Ties the transformer center point to Earth so voltage doesn't float dangerously between 0V and 500V.</a:t>
            </a:r>
          </a:p>
          <a:p>
            <a:pPr>
              <a:spcAft>
                <a:spcPts val="600"/>
              </a:spcAft>
              <a:defRPr sz="1100">
                <a:solidFill>
                  <a:srgbClr val="475569"/>
                </a:solidFill>
                <a:latin typeface="Calibri"/>
              </a:defRPr>
            </a:pPr>
            <a:r>
              <a:rPr b="1">
                <a:solidFill>
                  <a:srgbClr val="0F172A"/>
                </a:solidFill>
              </a:rPr>
              <a:t>• 3. High-Frequency Noise Drainage:</a:t>
            </a:r>
            <a:r>
              <a:rPr b="0">
                <a:solidFill>
                  <a:srgbClr val="475569"/>
                </a:solidFill>
              </a:rPr>
              <a:t> Microchips run on tiny 1.2V signals. Static electricity and radio noise must be drained away so binary 1s don't flip to 0s!</a:t>
            </a:r>
          </a:p>
          <a:p>
            <a:pPr>
              <a:spcAft>
                <a:spcPts val="600"/>
              </a:spcAft>
              <a:defRPr sz="1100">
                <a:solidFill>
                  <a:srgbClr val="475569"/>
                </a:solidFill>
                <a:latin typeface="Calibri"/>
              </a:defRPr>
            </a:pPr>
            <a:r>
              <a:rPr b="1">
                <a:solidFill>
                  <a:srgbClr val="0F172A"/>
                </a:solidFill>
              </a:rPr>
              <a:t>• Earth Resistance Rule:</a:t>
            </a:r>
            <a:r>
              <a:rPr b="0">
                <a:solidFill>
                  <a:srgbClr val="475569"/>
                </a:solidFill>
              </a:rPr>
              <a:t> Normal buildings allow 5 Ohms. Data centres demand less than 1.0 Ohm (target &lt; 0.5 Ohm) using maintenance-free chemical copper earth pits.</a:t>
            </a:r>
          </a:p>
        </p:txBody>
      </p:sp>
      <p:sp>
        <p:nvSpPr>
          <p:cNvPr id="12" name="Rounded Rectangle 11"/>
          <p:cNvSpPr/>
          <p:nvPr/>
        </p:nvSpPr>
        <p:spPr>
          <a:xfrm>
            <a:off x="6217920" y="1280160"/>
            <a:ext cx="5349240" cy="48463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none">
            <a:spAutoFit/>
          </a:bodyPr>
          <a:lstStyle/>
          <a:p>
            <a:pPr>
              <a:defRPr sz="1400" b="1">
                <a:solidFill>
                  <a:srgbClr val="0F172A"/>
                </a:solidFill>
                <a:latin typeface="Calibri"/>
              </a:defRPr>
            </a:pPr>
            <a:r>
              <a:t>Why TN-S is Mandatory (And TN-C is Forbidden)</a:t>
            </a:r>
          </a:p>
        </p:txBody>
      </p:sp>
      <p:sp>
        <p:nvSpPr>
          <p:cNvPr id="14" name="Rounded Rectangle 13"/>
          <p:cNvSpPr/>
          <p:nvPr/>
        </p:nvSpPr>
        <p:spPr>
          <a:xfrm>
            <a:off x="10104120" y="1463040"/>
            <a:ext cx="1280160" cy="228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TN-S IS MANDATORY</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What is TN-S?:</a:t>
            </a:r>
            <a:r>
              <a:rPr b="0">
                <a:solidFill>
                  <a:srgbClr val="475569"/>
                </a:solidFill>
              </a:rPr>
              <a:t> 'Terre-Neutre Séparé'. It means the Neutral wire (N) and Earth wire (PE) are kept STRICTLY SEPARATE throughout the whole building.</a:t>
            </a:r>
          </a:p>
          <a:p>
            <a:pPr>
              <a:spcAft>
                <a:spcPts val="600"/>
              </a:spcAft>
              <a:defRPr sz="1100">
                <a:solidFill>
                  <a:srgbClr val="475569"/>
                </a:solidFill>
                <a:latin typeface="Calibri"/>
              </a:defRPr>
            </a:pPr>
            <a:r>
              <a:rPr b="1">
                <a:solidFill>
                  <a:srgbClr val="0F172A"/>
                </a:solidFill>
              </a:rPr>
              <a:t>• The Only Bond:</a:t>
            </a:r>
            <a:r>
              <a:rPr b="0">
                <a:solidFill>
                  <a:srgbClr val="475569"/>
                </a:solidFill>
              </a:rPr>
              <a:t> Neutral and Earth are tied together at ONLY ONE SPOT (at the transformer). Never again downstream!</a:t>
            </a:r>
          </a:p>
          <a:p>
            <a:pPr>
              <a:spcAft>
                <a:spcPts val="600"/>
              </a:spcAft>
              <a:defRPr sz="1100">
                <a:solidFill>
                  <a:srgbClr val="475569"/>
                </a:solidFill>
                <a:latin typeface="Calibri"/>
              </a:defRPr>
            </a:pPr>
            <a:r>
              <a:rPr b="1">
                <a:solidFill>
                  <a:srgbClr val="0F172A"/>
                </a:solidFill>
              </a:rPr>
              <a:t>• Why TN-C is Forbidden (Dangerous!):</a:t>
            </a:r>
            <a:r>
              <a:rPr b="0">
                <a:solidFill>
                  <a:srgbClr val="475569"/>
                </a:solidFill>
              </a:rPr>
              <a:t>
  • In TN-C, Neutral and Earth share one single wire (PEN wire).
  • Thousands of server power supplies dump electrical noise onto the neutral.
  • That noise flows through the metal cabinets and Ethernet shields!
  • Result: Electric shocks to workers and corrupted data packets.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12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SRG &amp; LIGHTNING</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Signal Reference Grid (SRG) &amp; Lightning Protection</a:t>
            </a:r>
          </a:p>
          <a:p>
            <a:pPr>
              <a:defRPr sz="1100">
                <a:solidFill>
                  <a:srgbClr val="94A3B8"/>
                </a:solidFill>
                <a:latin typeface="Calibri"/>
              </a:defRPr>
            </a:pPr>
            <a:r>
              <a:t>How a simple 2ft x 2ft copper mesh under the floor stops high-frequency computer noise</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12</a:t>
            </a:r>
          </a:p>
        </p:txBody>
      </p:sp>
      <p:sp>
        <p:nvSpPr>
          <p:cNvPr id="8" name="Rounded Rectangle 7"/>
          <p:cNvSpPr/>
          <p:nvPr/>
        </p:nvSpPr>
        <p:spPr>
          <a:xfrm>
            <a:off x="548640" y="1280160"/>
            <a:ext cx="53492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none">
            <a:spAutoFit/>
          </a:bodyPr>
          <a:lstStyle/>
          <a:p>
            <a:pPr>
              <a:defRPr sz="1400" b="1">
                <a:solidFill>
                  <a:srgbClr val="0F172A"/>
                </a:solidFill>
                <a:latin typeface="Calibri"/>
              </a:defRPr>
            </a:pPr>
            <a:r>
              <a:t>Signal Reference Grid (SRG) - In Plain Words</a:t>
            </a:r>
          </a:p>
        </p:txBody>
      </p:sp>
      <p:sp>
        <p:nvSpPr>
          <p:cNvPr id="10" name="Rounded Rectangle 9"/>
          <p:cNvSpPr/>
          <p:nvPr/>
        </p:nvSpPr>
        <p:spPr>
          <a:xfrm>
            <a:off x="4434840" y="1463040"/>
            <a:ext cx="128016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THE 2x2 FT MESH</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The Problem with Normal Ground Wires:</a:t>
            </a:r>
            <a:r>
              <a:rPr b="0">
                <a:solidFill>
                  <a:srgbClr val="475569"/>
                </a:solidFill>
              </a:rPr>
              <a:t> At regular 50 Hz power, a long copper wire is a great ground. But at high frequencies (computer clocks in MHz), a single wire acts like an electrical wall (high inductive impedance) and radiates noise like a radio antenna!</a:t>
            </a:r>
          </a:p>
          <a:p>
            <a:pPr>
              <a:spcAft>
                <a:spcPts val="600"/>
              </a:spcAft>
              <a:defRPr sz="1100">
                <a:solidFill>
                  <a:srgbClr val="475569"/>
                </a:solidFill>
                <a:latin typeface="Calibri"/>
              </a:defRPr>
            </a:pPr>
            <a:r>
              <a:rPr b="1">
                <a:solidFill>
                  <a:srgbClr val="0F172A"/>
                </a:solidFill>
              </a:rPr>
              <a:t>• The Solution (SRG Mesh):</a:t>
            </a:r>
            <a:r>
              <a:rPr b="0">
                <a:solidFill>
                  <a:srgbClr val="475569"/>
                </a:solidFill>
              </a:rPr>
              <a:t> A prefabricated 2 ft × 2 ft copper grid laid under the raised floor tiles.</a:t>
            </a:r>
          </a:p>
          <a:p>
            <a:pPr>
              <a:spcAft>
                <a:spcPts val="600"/>
              </a:spcAft>
              <a:defRPr sz="1100">
                <a:solidFill>
                  <a:srgbClr val="475569"/>
                </a:solidFill>
                <a:latin typeface="Calibri"/>
              </a:defRPr>
            </a:pPr>
            <a:r>
              <a:rPr b="1">
                <a:solidFill>
                  <a:srgbClr val="0F172A"/>
                </a:solidFill>
              </a:rPr>
              <a:t>• The Parallel Wire Magic:</a:t>
            </a:r>
            <a:r>
              <a:rPr b="0">
                <a:solidFill>
                  <a:srgbClr val="475569"/>
                </a:solidFill>
              </a:rPr>
              <a:t> When you connect hundreds of wires in a grid, the electrical resistance/inductance divides down to near ZERO!</a:t>
            </a:r>
          </a:p>
          <a:p>
            <a:pPr>
              <a:spcAft>
                <a:spcPts val="600"/>
              </a:spcAft>
              <a:defRPr sz="1100">
                <a:solidFill>
                  <a:srgbClr val="475569"/>
                </a:solidFill>
                <a:latin typeface="Calibri"/>
              </a:defRPr>
            </a:pPr>
            <a:r>
              <a:rPr b="1">
                <a:solidFill>
                  <a:srgbClr val="0F172A"/>
                </a:solidFill>
              </a:rPr>
              <a:t>• How to Connect:</a:t>
            </a:r>
            <a:r>
              <a:rPr b="0">
                <a:solidFill>
                  <a:srgbClr val="475569"/>
                </a:solidFill>
              </a:rPr>
              <a:t> Every server rack, cable tray, and floor pedestal is strapped to the nearest square on the copper grid with a short braided flat strap.</a:t>
            </a:r>
          </a:p>
          <a:p>
            <a:pPr>
              <a:spcAft>
                <a:spcPts val="600"/>
              </a:spcAft>
              <a:defRPr sz="1100">
                <a:solidFill>
                  <a:srgbClr val="475569"/>
                </a:solidFill>
                <a:latin typeface="Calibri"/>
              </a:defRPr>
            </a:pPr>
            <a:r>
              <a:rPr b="1">
                <a:solidFill>
                  <a:srgbClr val="0F172A"/>
                </a:solidFill>
              </a:rPr>
              <a:t>• Result:</a:t>
            </a:r>
            <a:r>
              <a:rPr b="0">
                <a:solidFill>
                  <a:srgbClr val="475569"/>
                </a:solidFill>
              </a:rPr>
              <a:t> All servers share the exact same clean electrical floor. No ground loops; zero static ESD.</a:t>
            </a:r>
          </a:p>
        </p:txBody>
      </p:sp>
      <p:sp>
        <p:nvSpPr>
          <p:cNvPr id="12" name="Rounded Rectangle 11"/>
          <p:cNvSpPr/>
          <p:nvPr/>
        </p:nvSpPr>
        <p:spPr>
          <a:xfrm>
            <a:off x="6217920" y="1280160"/>
            <a:ext cx="5349240" cy="48463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none">
            <a:spAutoFit/>
          </a:bodyPr>
          <a:lstStyle/>
          <a:p>
            <a:pPr>
              <a:defRPr sz="1400" b="1">
                <a:solidFill>
                  <a:srgbClr val="0F172A"/>
                </a:solidFill>
                <a:latin typeface="Calibri"/>
              </a:defRPr>
            </a:pPr>
            <a:r>
              <a:t>Lightning &amp; Surge Protection (3-Stage Defense)</a:t>
            </a:r>
          </a:p>
        </p:txBody>
      </p:sp>
      <p:sp>
        <p:nvSpPr>
          <p:cNvPr id="14" name="Rounded Rectangle 13"/>
          <p:cNvSpPr/>
          <p:nvPr/>
        </p:nvSpPr>
        <p:spPr>
          <a:xfrm>
            <a:off x="10104120" y="1463040"/>
            <a:ext cx="128016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3-STAGE DEFENSE</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External Lightning (Roof):</a:t>
            </a:r>
            <a:r>
              <a:rPr b="0">
                <a:solidFill>
                  <a:srgbClr val="475569"/>
                </a:solidFill>
              </a:rPr>
              <a:t> Metal rods on the roof and a wire mesh catch direct lightning strikes and safely guide thousands of Amperes down to deep earth pits.</a:t>
            </a:r>
          </a:p>
          <a:p>
            <a:pPr>
              <a:spcAft>
                <a:spcPts val="600"/>
              </a:spcAft>
              <a:defRPr sz="1100">
                <a:solidFill>
                  <a:srgbClr val="475569"/>
                </a:solidFill>
                <a:latin typeface="Calibri"/>
              </a:defRPr>
            </a:pPr>
            <a:r>
              <a:rPr b="1">
                <a:solidFill>
                  <a:srgbClr val="0F172A"/>
                </a:solidFill>
              </a:rPr>
              <a:t>• Internal Lightning (The 3 SPDs - Surge Protectors):</a:t>
            </a:r>
            <a:r>
              <a:rPr b="0">
                <a:solidFill>
                  <a:srgbClr val="475569"/>
                </a:solidFill>
              </a:rPr>
              <a:t>
  • Type 1 SPD (Main Gate): Catches the massive direct lightning strike at the main building entrance switchboard.
  • Type 2 SPD (Floor Panels): Catches leftover surges at the floor distribution and UPS boards.
  • Type 3 SPD (In the Rack): Catches tiny residual spikes inside the rack PDU, clamping voltage down to safe levels (&lt; 1000V).</a:t>
            </a:r>
          </a:p>
          <a:p>
            <a:pPr>
              <a:spcAft>
                <a:spcPts val="600"/>
              </a:spcAft>
              <a:defRPr sz="1100">
                <a:solidFill>
                  <a:srgbClr val="475569"/>
                </a:solidFill>
                <a:latin typeface="Calibri"/>
              </a:defRPr>
            </a:pPr>
            <a:r>
              <a:rPr b="1">
                <a:solidFill>
                  <a:srgbClr val="0F172A"/>
                </a:solidFill>
              </a:rPr>
              <a:t>• Exam Rule:</a:t>
            </a:r>
            <a:r>
              <a:rPr b="0">
                <a:solidFill>
                  <a:srgbClr val="475569"/>
                </a:solidFill>
              </a:rPr>
              <a:t> SPDs must be cascaded in 3 stages: Heavy at the gate, Medium at the floor, Fine at the server!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13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MODULE 5</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How to Size a Data Centre: The 6-Step Calculation Pipeline</a:t>
            </a:r>
          </a:p>
          <a:p>
            <a:pPr>
              <a:defRPr sz="1100">
                <a:solidFill>
                  <a:srgbClr val="94A3B8"/>
                </a:solidFill>
                <a:latin typeface="Calibri"/>
              </a:defRPr>
            </a:pPr>
            <a:r>
              <a:t>A simple step-by-step method to solve any university exam sizing question</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13</a:t>
            </a:r>
          </a:p>
        </p:txBody>
      </p:sp>
      <p:sp>
        <p:nvSpPr>
          <p:cNvPr id="8" name="Rounded Rectangle 7"/>
          <p:cNvSpPr/>
          <p:nvPr/>
        </p:nvSpPr>
        <p:spPr>
          <a:xfrm>
            <a:off x="548640" y="1280160"/>
            <a:ext cx="11094415" cy="48463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10637215" cy="411480"/>
          </a:xfrm>
          <a:prstGeom prst="rect">
            <a:avLst/>
          </a:prstGeom>
          <a:noFill/>
        </p:spPr>
        <p:txBody>
          <a:bodyPr wrap="none">
            <a:spAutoFit/>
          </a:bodyPr>
          <a:lstStyle/>
          <a:p>
            <a:pPr>
              <a:defRPr sz="1400" b="1">
                <a:solidFill>
                  <a:srgbClr val="0F172A"/>
                </a:solidFill>
                <a:latin typeface="Calibri"/>
              </a:defRPr>
            </a:pPr>
            <a:r>
              <a:t>Step-by-Step Sizing Logic (Follow This in Exams!)</a:t>
            </a:r>
          </a:p>
        </p:txBody>
      </p:sp>
      <p:sp>
        <p:nvSpPr>
          <p:cNvPr id="10" name="Rounded Rectangle 9"/>
          <p:cNvSpPr/>
          <p:nvPr/>
        </p:nvSpPr>
        <p:spPr>
          <a:xfrm>
            <a:off x="10180015" y="1463040"/>
            <a:ext cx="128016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THE SIZING RECIPE</a:t>
            </a:r>
          </a:p>
        </p:txBody>
      </p:sp>
      <p:sp>
        <p:nvSpPr>
          <p:cNvPr id="11" name="TextBox 10"/>
          <p:cNvSpPr txBox="1"/>
          <p:nvPr/>
        </p:nvSpPr>
        <p:spPr>
          <a:xfrm>
            <a:off x="777240" y="1920240"/>
            <a:ext cx="10637215"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Step 1:</a:t>
            </a:r>
            <a:r>
              <a:rPr b="0">
                <a:solidFill>
                  <a:srgbClr val="475569"/>
                </a:solidFill>
              </a:rPr>
              <a:t> Calculate Server Power (IT Load in kW) -&gt; Multiply number of racks by kW per rack. Example: 100 racks × 5 kW = 500 kW.</a:t>
            </a:r>
          </a:p>
          <a:p>
            <a:pPr>
              <a:spcAft>
                <a:spcPts val="600"/>
              </a:spcAft>
              <a:defRPr sz="1100">
                <a:solidFill>
                  <a:srgbClr val="475569"/>
                </a:solidFill>
                <a:latin typeface="Calibri"/>
              </a:defRPr>
            </a:pPr>
            <a:r>
              <a:rPr b="1">
                <a:solidFill>
                  <a:srgbClr val="0F172A"/>
                </a:solidFill>
              </a:rPr>
              <a:t>• Step 2:</a:t>
            </a:r>
            <a:r>
              <a:rPr b="0">
                <a:solidFill>
                  <a:srgbClr val="475569"/>
                </a:solidFill>
              </a:rPr>
              <a:t> Convert kW to kVA -&gt; Real power (kW) divided by Power Factor (usually 0.95 or 0.98). Example: 500 kW / 0.95 = 526 kVA.</a:t>
            </a:r>
          </a:p>
          <a:p>
            <a:pPr>
              <a:spcAft>
                <a:spcPts val="600"/>
              </a:spcAft>
              <a:defRPr sz="1100">
                <a:solidFill>
                  <a:srgbClr val="475569"/>
                </a:solidFill>
                <a:latin typeface="Calibri"/>
              </a:defRPr>
            </a:pPr>
            <a:r>
              <a:rPr b="1">
                <a:solidFill>
                  <a:srgbClr val="0F172A"/>
                </a:solidFill>
              </a:rPr>
              <a:t>• Step 3:</a:t>
            </a:r>
            <a:r>
              <a:rPr b="0">
                <a:solidFill>
                  <a:srgbClr val="475569"/>
                </a:solidFill>
              </a:rPr>
              <a:t> Size the UPS (kVA) -&gt; Divide by UPS efficiency (e.g. 95%) and divide by maximum safe load factor (e.g. 75%). Example: 526 / (0.95 × 0.75) = 738 kVA -&gt; Choose two 500 kVA units in N+1!</a:t>
            </a:r>
          </a:p>
          <a:p>
            <a:pPr>
              <a:spcAft>
                <a:spcPts val="600"/>
              </a:spcAft>
              <a:defRPr sz="1100">
                <a:solidFill>
                  <a:srgbClr val="475569"/>
                </a:solidFill>
                <a:latin typeface="Calibri"/>
              </a:defRPr>
            </a:pPr>
            <a:r>
              <a:rPr b="1">
                <a:solidFill>
                  <a:srgbClr val="0F172A"/>
                </a:solidFill>
              </a:rPr>
              <a:t>• Step 4:</a:t>
            </a:r>
            <a:r>
              <a:rPr b="0">
                <a:solidFill>
                  <a:srgbClr val="475569"/>
                </a:solidFill>
              </a:rPr>
              <a:t> Size the Batteries (Ah) -&gt; Calculate DC discharge current = DC Watts / DC Bus Voltage. Multiply current by backup hours (15 mins = 0.25 hrs). Multiply by 1.25 safety factor.</a:t>
            </a:r>
          </a:p>
          <a:p>
            <a:pPr>
              <a:spcAft>
                <a:spcPts val="600"/>
              </a:spcAft>
              <a:defRPr sz="1100">
                <a:solidFill>
                  <a:srgbClr val="475569"/>
                </a:solidFill>
                <a:latin typeface="Calibri"/>
              </a:defRPr>
            </a:pPr>
            <a:r>
              <a:rPr b="1">
                <a:solidFill>
                  <a:srgbClr val="0F172A"/>
                </a:solidFill>
              </a:rPr>
              <a:t>• Step 5:</a:t>
            </a:r>
            <a:r>
              <a:rPr b="0">
                <a:solidFill>
                  <a:srgbClr val="475569"/>
                </a:solidFill>
              </a:rPr>
              <a:t> Calculate Total Building Power using PUE -&gt; Total Power = IT kW × PUE. If PUE is 1.4: 500 kW × 1.4 = 700 kW (200 kW goes to AC cooling and fans).</a:t>
            </a:r>
          </a:p>
          <a:p>
            <a:pPr>
              <a:spcAft>
                <a:spcPts val="600"/>
              </a:spcAft>
              <a:defRPr sz="1100">
                <a:solidFill>
                  <a:srgbClr val="475569"/>
                </a:solidFill>
                <a:latin typeface="Calibri"/>
              </a:defRPr>
            </a:pPr>
            <a:r>
              <a:rPr b="1">
                <a:solidFill>
                  <a:srgbClr val="0F172A"/>
                </a:solidFill>
              </a:rPr>
              <a:t>• Step 6:</a:t>
            </a:r>
            <a:r>
              <a:rPr b="0">
                <a:solidFill>
                  <a:srgbClr val="475569"/>
                </a:solidFill>
              </a:rPr>
              <a:t> Size the Substation Transformer &amp; Generator (kVA) -&gt; Total Building kVA + 20% buffer for future growth.</a:t>
            </a:r>
          </a:p>
          <a:p>
            <a:pPr>
              <a:spcAft>
                <a:spcPts val="600"/>
              </a:spcAft>
              <a:defRPr sz="1100">
                <a:solidFill>
                  <a:srgbClr val="475569"/>
                </a:solidFill>
                <a:latin typeface="Calibri"/>
              </a:defRPr>
            </a:pPr>
            <a:r>
              <a:rPr b="1">
                <a:solidFill>
                  <a:srgbClr val="0F172A"/>
                </a:solidFill>
              </a:rPr>
              <a:t>• Exam Secret:</a:t>
            </a:r>
            <a:r>
              <a:rPr b="0">
                <a:solidFill>
                  <a:srgbClr val="475569"/>
                </a:solidFill>
              </a:rPr>
              <a:t> Examiners grade on whether you included power factor, UPS efficiency, and the 20-25% safety buffer!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14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METRICS</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PUE and DCiE: The Energy Efficiency Formulas Demystified</a:t>
            </a:r>
          </a:p>
          <a:p>
            <a:pPr>
              <a:defRPr sz="1100">
                <a:solidFill>
                  <a:srgbClr val="94A3B8"/>
                </a:solidFill>
                <a:latin typeface="Calibri"/>
              </a:defRPr>
            </a:pPr>
            <a:r>
              <a:t>Understanding how much electricity does real work versus how much is wasted on cooling</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14</a:t>
            </a:r>
          </a:p>
        </p:txBody>
      </p:sp>
      <p:sp>
        <p:nvSpPr>
          <p:cNvPr id="8" name="Rounded Rectangle 7"/>
          <p:cNvSpPr/>
          <p:nvPr/>
        </p:nvSpPr>
        <p:spPr>
          <a:xfrm>
            <a:off x="548640" y="1280160"/>
            <a:ext cx="53492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none">
            <a:spAutoFit/>
          </a:bodyPr>
          <a:lstStyle/>
          <a:p>
            <a:pPr>
              <a:defRPr sz="1400" b="1">
                <a:solidFill>
                  <a:srgbClr val="0F172A"/>
                </a:solidFill>
                <a:latin typeface="Calibri"/>
              </a:defRPr>
            </a:pPr>
            <a:r>
              <a:t>PUE (Power Usage Effectiveness)</a:t>
            </a:r>
          </a:p>
        </p:txBody>
      </p:sp>
      <p:sp>
        <p:nvSpPr>
          <p:cNvPr id="10" name="Rounded Rectangle 9"/>
          <p:cNvSpPr/>
          <p:nvPr/>
        </p:nvSpPr>
        <p:spPr>
          <a:xfrm>
            <a:off x="4434840" y="1463040"/>
            <a:ext cx="128016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PUE FORMULA</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The Formula:</a:t>
            </a:r>
            <a:r>
              <a:rPr b="0">
                <a:solidFill>
                  <a:srgbClr val="475569"/>
                </a:solidFill>
              </a:rPr>
              <a:t> PUE = Total Facility Power / IT Equipment Power.</a:t>
            </a:r>
          </a:p>
          <a:p>
            <a:pPr>
              <a:spcAft>
                <a:spcPts val="600"/>
              </a:spcAft>
              <a:defRPr sz="1100">
                <a:solidFill>
                  <a:srgbClr val="475569"/>
                </a:solidFill>
                <a:latin typeface="Calibri"/>
              </a:defRPr>
            </a:pPr>
            <a:r>
              <a:rPr b="1">
                <a:solidFill>
                  <a:srgbClr val="0F172A"/>
                </a:solidFill>
              </a:rPr>
              <a:t>• The Analogy:</a:t>
            </a:r>
            <a:r>
              <a:rPr b="0">
                <a:solidFill>
                  <a:srgbClr val="475569"/>
                </a:solidFill>
              </a:rPr>
              <a:t> Imagine you buy 100 kg of food. If your family eats 100 kg and wastes 0 kg, your ratio is 1.0 (Perfect!). If you throw 50 kg in the trash, your ratio is 1.5.</a:t>
            </a:r>
          </a:p>
          <a:p>
            <a:pPr>
              <a:spcAft>
                <a:spcPts val="600"/>
              </a:spcAft>
              <a:defRPr sz="1100">
                <a:solidFill>
                  <a:srgbClr val="475569"/>
                </a:solidFill>
                <a:latin typeface="Calibri"/>
              </a:defRPr>
            </a:pPr>
            <a:r>
              <a:rPr b="1">
                <a:solidFill>
                  <a:srgbClr val="0F172A"/>
                </a:solidFill>
              </a:rPr>
              <a:t>• What does PUE = 1.0 mean?:</a:t>
            </a:r>
            <a:r>
              <a:rPr b="0">
                <a:solidFill>
                  <a:srgbClr val="475569"/>
                </a:solidFill>
              </a:rPr>
              <a:t> Absolute perfection! 100% of the electricity goes into powering computer servers; zero electricity wasted on cooling or lights.</a:t>
            </a:r>
          </a:p>
          <a:p>
            <a:pPr>
              <a:spcAft>
                <a:spcPts val="600"/>
              </a:spcAft>
              <a:defRPr sz="1100">
                <a:solidFill>
                  <a:srgbClr val="475569"/>
                </a:solidFill>
                <a:latin typeface="Calibri"/>
              </a:defRPr>
            </a:pPr>
            <a:r>
              <a:rPr b="1">
                <a:solidFill>
                  <a:srgbClr val="0F172A"/>
                </a:solidFill>
              </a:rPr>
              <a:t>• What does PUE = 2.0 mean?:</a:t>
            </a:r>
            <a:r>
              <a:rPr b="0">
                <a:solidFill>
                  <a:srgbClr val="475569"/>
                </a:solidFill>
              </a:rPr>
              <a:t> Terrible! For every 1 Watt used to power a server, you waste another 1 Watt running giant air conditioners.</a:t>
            </a:r>
          </a:p>
          <a:p>
            <a:pPr>
              <a:spcAft>
                <a:spcPts val="600"/>
              </a:spcAft>
              <a:defRPr sz="1100">
                <a:solidFill>
                  <a:srgbClr val="475569"/>
                </a:solidFill>
                <a:latin typeface="Calibri"/>
              </a:defRPr>
            </a:pPr>
            <a:r>
              <a:rPr b="1">
                <a:solidFill>
                  <a:srgbClr val="0F172A"/>
                </a:solidFill>
              </a:rPr>
              <a:t>• Real-World Numbers:</a:t>
            </a:r>
            <a:r>
              <a:rPr b="0">
                <a:solidFill>
                  <a:srgbClr val="475569"/>
                </a:solidFill>
              </a:rPr>
              <a:t>
  • Old Data Centres: PUE = 1.8 to 2.0 (50% wasted!)
  • Modern Data Centres: PUE = 1.3 to 1.4
  • Google / Hyperscale Cloud: PUE = 1.10 to 1.15</a:t>
            </a:r>
          </a:p>
        </p:txBody>
      </p:sp>
      <p:sp>
        <p:nvSpPr>
          <p:cNvPr id="12" name="Rounded Rectangle 11"/>
          <p:cNvSpPr/>
          <p:nvPr/>
        </p:nvSpPr>
        <p:spPr>
          <a:xfrm>
            <a:off x="6217920" y="1280160"/>
            <a:ext cx="53492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none">
            <a:spAutoFit/>
          </a:bodyPr>
          <a:lstStyle/>
          <a:p>
            <a:pPr>
              <a:defRPr sz="1400" b="1">
                <a:solidFill>
                  <a:srgbClr val="0F172A"/>
                </a:solidFill>
                <a:latin typeface="Calibri"/>
              </a:defRPr>
            </a:pPr>
            <a:r>
              <a:t>DCiE (The Reverse Percentage Metric)</a:t>
            </a:r>
          </a:p>
        </p:txBody>
      </p:sp>
      <p:sp>
        <p:nvSpPr>
          <p:cNvPr id="14" name="Rounded Rectangle 13"/>
          <p:cNvSpPr/>
          <p:nvPr/>
        </p:nvSpPr>
        <p:spPr>
          <a:xfrm>
            <a:off x="10104120" y="1463040"/>
            <a:ext cx="128016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DCiE PERCENTAGE</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The Formula:</a:t>
            </a:r>
            <a:r>
              <a:rPr b="0">
                <a:solidFill>
                  <a:srgbClr val="475569"/>
                </a:solidFill>
              </a:rPr>
              <a:t> DCiE = (IT Power / Total Power) × 100% = (1 / PUE) × 100%.</a:t>
            </a:r>
          </a:p>
          <a:p>
            <a:pPr>
              <a:spcAft>
                <a:spcPts val="600"/>
              </a:spcAft>
              <a:defRPr sz="1100">
                <a:solidFill>
                  <a:srgbClr val="475569"/>
                </a:solidFill>
                <a:latin typeface="Calibri"/>
              </a:defRPr>
            </a:pPr>
            <a:r>
              <a:rPr b="1">
                <a:solidFill>
                  <a:srgbClr val="0F172A"/>
                </a:solidFill>
              </a:rPr>
              <a:t>• What it tells you:</a:t>
            </a:r>
            <a:r>
              <a:rPr b="0">
                <a:solidFill>
                  <a:srgbClr val="475569"/>
                </a:solidFill>
              </a:rPr>
              <a:t> It shows the efficiency percentage directly.</a:t>
            </a:r>
          </a:p>
          <a:p>
            <a:pPr>
              <a:spcAft>
                <a:spcPts val="600"/>
              </a:spcAft>
              <a:defRPr sz="1100">
                <a:solidFill>
                  <a:srgbClr val="475569"/>
                </a:solidFill>
                <a:latin typeface="Calibri"/>
              </a:defRPr>
            </a:pPr>
            <a:r>
              <a:rPr b="1">
                <a:solidFill>
                  <a:srgbClr val="0F172A"/>
                </a:solidFill>
              </a:rPr>
              <a:t>• Quick Calculation Examples:</a:t>
            </a:r>
            <a:r>
              <a:rPr b="0">
                <a:solidFill>
                  <a:srgbClr val="475569"/>
                </a:solidFill>
              </a:rPr>
              <a:t>
  • If PUE is 2.0: DCiE = 1 / 2.0 = 50% (Only half your power does real work).
  • If PUE is 1.33: DCiE = 1 / 1.33 = 75%.
  • If PUE is 1.10: DCiE = 1 / 1.10 = 91% (Hyperscale efficiency!).</a:t>
            </a:r>
          </a:p>
          <a:p>
            <a:pPr>
              <a:spcAft>
                <a:spcPts val="600"/>
              </a:spcAft>
              <a:defRPr sz="1100">
                <a:solidFill>
                  <a:srgbClr val="475569"/>
                </a:solidFill>
                <a:latin typeface="Calibri"/>
              </a:defRPr>
            </a:pPr>
            <a:r>
              <a:rPr b="1">
                <a:solidFill>
                  <a:srgbClr val="0F172A"/>
                </a:solidFill>
              </a:rPr>
              <a:t>• How to Lower PUE in Exams (Mention These 3!):</a:t>
            </a:r>
            <a:r>
              <a:rPr b="0">
                <a:solidFill>
                  <a:srgbClr val="475569"/>
                </a:solidFill>
              </a:rPr>
              <a:t>
  1. Hot/Cold Aisle Containment (stops hot and cold air mixing).
  2. High-efficiency UPS units and transformers.
  3. Overhead busways (removes underfloor cable airflow blockage).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15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TIER LEVELS</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Uptime Institute Tier Standards: The 4 Tiers in Plain English</a:t>
            </a:r>
          </a:p>
          <a:p>
            <a:pPr>
              <a:defRPr sz="1100">
                <a:solidFill>
                  <a:srgbClr val="94A3B8"/>
                </a:solidFill>
                <a:latin typeface="Calibri"/>
              </a:defRPr>
            </a:pPr>
            <a:r>
              <a:t>From a basic server room to a completely bulletproof Tier IV financial vault</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15</a:t>
            </a:r>
          </a:p>
        </p:txBody>
      </p:sp>
      <p:sp>
        <p:nvSpPr>
          <p:cNvPr id="8" name="Rounded Rectangle 7"/>
          <p:cNvSpPr/>
          <p:nvPr/>
        </p:nvSpPr>
        <p:spPr>
          <a:xfrm>
            <a:off x="548640" y="1280160"/>
            <a:ext cx="26060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2148840" cy="411480"/>
          </a:xfrm>
          <a:prstGeom prst="rect">
            <a:avLst/>
          </a:prstGeom>
          <a:noFill/>
        </p:spPr>
        <p:txBody>
          <a:bodyPr wrap="none">
            <a:spAutoFit/>
          </a:bodyPr>
          <a:lstStyle/>
          <a:p>
            <a:pPr>
              <a:defRPr sz="1400" b="1">
                <a:solidFill>
                  <a:srgbClr val="0F172A"/>
                </a:solidFill>
                <a:latin typeface="Calibri"/>
              </a:defRPr>
            </a:pPr>
            <a:r>
              <a:t>Tier I: Basic</a:t>
            </a:r>
          </a:p>
        </p:txBody>
      </p:sp>
      <p:sp>
        <p:nvSpPr>
          <p:cNvPr id="10" name="Rounded Rectangle 9"/>
          <p:cNvSpPr/>
          <p:nvPr/>
        </p:nvSpPr>
        <p:spPr>
          <a:xfrm>
            <a:off x="1691640" y="1463040"/>
            <a:ext cx="1280160" cy="228600"/>
          </a:xfrm>
          <a:prstGeom prst="round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TIER I</a:t>
            </a:r>
          </a:p>
        </p:txBody>
      </p:sp>
      <p:sp>
        <p:nvSpPr>
          <p:cNvPr id="11" name="TextBox 10"/>
          <p:cNvSpPr txBox="1"/>
          <p:nvPr/>
        </p:nvSpPr>
        <p:spPr>
          <a:xfrm>
            <a:off x="777240" y="1920240"/>
            <a:ext cx="21488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Paths:</a:t>
            </a:r>
            <a:r>
              <a:rPr b="0">
                <a:solidFill>
                  <a:srgbClr val="475569"/>
                </a:solidFill>
              </a:rPr>
              <a:t> 1 Single Path.</a:t>
            </a:r>
          </a:p>
          <a:p>
            <a:pPr>
              <a:spcAft>
                <a:spcPts val="600"/>
              </a:spcAft>
              <a:defRPr sz="1100">
                <a:solidFill>
                  <a:srgbClr val="475569"/>
                </a:solidFill>
                <a:latin typeface="Calibri"/>
              </a:defRPr>
            </a:pPr>
            <a:r>
              <a:rPr b="1">
                <a:solidFill>
                  <a:srgbClr val="0F172A"/>
                </a:solidFill>
              </a:rPr>
              <a:t>• Backup:</a:t>
            </a:r>
            <a:r>
              <a:rPr b="0">
                <a:solidFill>
                  <a:srgbClr val="475569"/>
                </a:solidFill>
              </a:rPr>
              <a:t> N (No spares).</a:t>
            </a:r>
          </a:p>
          <a:p>
            <a:pPr>
              <a:spcAft>
                <a:spcPts val="600"/>
              </a:spcAft>
              <a:defRPr sz="1100">
                <a:solidFill>
                  <a:srgbClr val="475569"/>
                </a:solidFill>
                <a:latin typeface="Calibri"/>
              </a:defRPr>
            </a:pPr>
            <a:r>
              <a:rPr b="1">
                <a:solidFill>
                  <a:srgbClr val="0F172A"/>
                </a:solidFill>
              </a:rPr>
              <a:t>• Can you service it live?:</a:t>
            </a:r>
            <a:r>
              <a:rPr b="0">
                <a:solidFill>
                  <a:srgbClr val="475569"/>
                </a:solidFill>
              </a:rPr>
              <a:t> NO. Turning off a switch turns off servers.</a:t>
            </a:r>
          </a:p>
          <a:p>
            <a:pPr>
              <a:spcAft>
                <a:spcPts val="600"/>
              </a:spcAft>
              <a:defRPr sz="1100">
                <a:solidFill>
                  <a:srgbClr val="475569"/>
                </a:solidFill>
                <a:latin typeface="Calibri"/>
              </a:defRPr>
            </a:pPr>
            <a:r>
              <a:rPr b="1">
                <a:solidFill>
                  <a:srgbClr val="0F172A"/>
                </a:solidFill>
              </a:rPr>
              <a:t>• Downtime Allowed:</a:t>
            </a:r>
            <a:r>
              <a:rPr b="0">
                <a:solidFill>
                  <a:srgbClr val="475569"/>
                </a:solidFill>
              </a:rPr>
              <a:t> 28.8 hours / year.</a:t>
            </a:r>
          </a:p>
          <a:p>
            <a:pPr>
              <a:spcAft>
                <a:spcPts val="600"/>
              </a:spcAft>
              <a:defRPr sz="1100">
                <a:solidFill>
                  <a:srgbClr val="475569"/>
                </a:solidFill>
                <a:latin typeface="Calibri"/>
              </a:defRPr>
            </a:pPr>
            <a:r>
              <a:rPr b="1">
                <a:solidFill>
                  <a:srgbClr val="0F172A"/>
                </a:solidFill>
              </a:rPr>
              <a:t>• Availability:</a:t>
            </a:r>
            <a:r>
              <a:rPr b="0">
                <a:solidFill>
                  <a:srgbClr val="475569"/>
                </a:solidFill>
              </a:rPr>
              <a:t> 99.671%.</a:t>
            </a:r>
          </a:p>
          <a:p>
            <a:pPr>
              <a:spcAft>
                <a:spcPts val="600"/>
              </a:spcAft>
              <a:defRPr sz="1100">
                <a:solidFill>
                  <a:srgbClr val="475569"/>
                </a:solidFill>
                <a:latin typeface="Calibri"/>
              </a:defRPr>
            </a:pPr>
            <a:r>
              <a:rPr b="1">
                <a:solidFill>
                  <a:srgbClr val="0F172A"/>
                </a:solidFill>
              </a:rPr>
              <a:t>• Analogy:</a:t>
            </a:r>
            <a:r>
              <a:rPr b="0">
                <a:solidFill>
                  <a:srgbClr val="475569"/>
                </a:solidFill>
              </a:rPr>
              <a:t> A bicycle.</a:t>
            </a:r>
          </a:p>
        </p:txBody>
      </p:sp>
      <p:sp>
        <p:nvSpPr>
          <p:cNvPr id="12" name="Rounded Rectangle 11"/>
          <p:cNvSpPr/>
          <p:nvPr/>
        </p:nvSpPr>
        <p:spPr>
          <a:xfrm>
            <a:off x="3319272" y="1280160"/>
            <a:ext cx="26060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1463040"/>
            <a:ext cx="2148840" cy="411480"/>
          </a:xfrm>
          <a:prstGeom prst="rect">
            <a:avLst/>
          </a:prstGeom>
          <a:noFill/>
        </p:spPr>
        <p:txBody>
          <a:bodyPr wrap="none">
            <a:spAutoFit/>
          </a:bodyPr>
          <a:lstStyle/>
          <a:p>
            <a:pPr>
              <a:defRPr sz="1400" b="1">
                <a:solidFill>
                  <a:srgbClr val="0F172A"/>
                </a:solidFill>
                <a:latin typeface="Calibri"/>
              </a:defRPr>
            </a:pPr>
            <a:r>
              <a:t>Tier II: Spare Parts</a:t>
            </a:r>
          </a:p>
        </p:txBody>
      </p:sp>
      <p:sp>
        <p:nvSpPr>
          <p:cNvPr id="14" name="Rounded Rectangle 13"/>
          <p:cNvSpPr/>
          <p:nvPr/>
        </p:nvSpPr>
        <p:spPr>
          <a:xfrm>
            <a:off x="4462272" y="1463040"/>
            <a:ext cx="1280160" cy="228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TIER II</a:t>
            </a:r>
          </a:p>
        </p:txBody>
      </p:sp>
      <p:sp>
        <p:nvSpPr>
          <p:cNvPr id="15" name="TextBox 14"/>
          <p:cNvSpPr txBox="1"/>
          <p:nvPr/>
        </p:nvSpPr>
        <p:spPr>
          <a:xfrm>
            <a:off x="3547872" y="1920240"/>
            <a:ext cx="21488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Paths:</a:t>
            </a:r>
            <a:r>
              <a:rPr b="0">
                <a:solidFill>
                  <a:srgbClr val="475569"/>
                </a:solidFill>
              </a:rPr>
              <a:t> 1 Single Path.</a:t>
            </a:r>
          </a:p>
          <a:p>
            <a:pPr>
              <a:spcAft>
                <a:spcPts val="600"/>
              </a:spcAft>
              <a:defRPr sz="1100">
                <a:solidFill>
                  <a:srgbClr val="475569"/>
                </a:solidFill>
                <a:latin typeface="Calibri"/>
              </a:defRPr>
            </a:pPr>
            <a:r>
              <a:rPr b="1">
                <a:solidFill>
                  <a:srgbClr val="0F172A"/>
                </a:solidFill>
              </a:rPr>
              <a:t>• Backup:</a:t>
            </a:r>
            <a:r>
              <a:rPr b="0">
                <a:solidFill>
                  <a:srgbClr val="475569"/>
                </a:solidFill>
              </a:rPr>
              <a:t> N+1 spare components.</a:t>
            </a:r>
          </a:p>
          <a:p>
            <a:pPr>
              <a:spcAft>
                <a:spcPts val="600"/>
              </a:spcAft>
              <a:defRPr sz="1100">
                <a:solidFill>
                  <a:srgbClr val="475569"/>
                </a:solidFill>
                <a:latin typeface="Calibri"/>
              </a:defRPr>
            </a:pPr>
            <a:r>
              <a:rPr b="1">
                <a:solidFill>
                  <a:srgbClr val="0F172A"/>
                </a:solidFill>
              </a:rPr>
              <a:t>• Can you service it live?:</a:t>
            </a:r>
            <a:r>
              <a:rPr b="0">
                <a:solidFill>
                  <a:srgbClr val="475569"/>
                </a:solidFill>
              </a:rPr>
              <a:t> Still NO, because the single power pipe cannot be turned off.</a:t>
            </a:r>
          </a:p>
          <a:p>
            <a:pPr>
              <a:spcAft>
                <a:spcPts val="600"/>
              </a:spcAft>
              <a:defRPr sz="1100">
                <a:solidFill>
                  <a:srgbClr val="475569"/>
                </a:solidFill>
                <a:latin typeface="Calibri"/>
              </a:defRPr>
            </a:pPr>
            <a:r>
              <a:rPr b="1">
                <a:solidFill>
                  <a:srgbClr val="0F172A"/>
                </a:solidFill>
              </a:rPr>
              <a:t>• Downtime Allowed:</a:t>
            </a:r>
            <a:r>
              <a:rPr b="0">
                <a:solidFill>
                  <a:srgbClr val="475569"/>
                </a:solidFill>
              </a:rPr>
              <a:t> 22.0 hours / year.</a:t>
            </a:r>
          </a:p>
          <a:p>
            <a:pPr>
              <a:spcAft>
                <a:spcPts val="600"/>
              </a:spcAft>
              <a:defRPr sz="1100">
                <a:solidFill>
                  <a:srgbClr val="475569"/>
                </a:solidFill>
                <a:latin typeface="Calibri"/>
              </a:defRPr>
            </a:pPr>
            <a:r>
              <a:rPr b="1">
                <a:solidFill>
                  <a:srgbClr val="0F172A"/>
                </a:solidFill>
              </a:rPr>
              <a:t>• Availability:</a:t>
            </a:r>
            <a:r>
              <a:rPr b="0">
                <a:solidFill>
                  <a:srgbClr val="475569"/>
                </a:solidFill>
              </a:rPr>
              <a:t> 99.741%.</a:t>
            </a:r>
          </a:p>
          <a:p>
            <a:pPr>
              <a:spcAft>
                <a:spcPts val="600"/>
              </a:spcAft>
              <a:defRPr sz="1100">
                <a:solidFill>
                  <a:srgbClr val="475569"/>
                </a:solidFill>
                <a:latin typeface="Calibri"/>
              </a:defRPr>
            </a:pPr>
            <a:r>
              <a:rPr b="1">
                <a:solidFill>
                  <a:srgbClr val="0F172A"/>
                </a:solidFill>
              </a:rPr>
              <a:t>• Analogy:</a:t>
            </a:r>
            <a:r>
              <a:rPr b="0">
                <a:solidFill>
                  <a:srgbClr val="475569"/>
                </a:solidFill>
              </a:rPr>
              <a:t> Car with spare tire.</a:t>
            </a:r>
          </a:p>
        </p:txBody>
      </p:sp>
      <p:sp>
        <p:nvSpPr>
          <p:cNvPr id="16" name="Rounded Rectangle 15"/>
          <p:cNvSpPr/>
          <p:nvPr/>
        </p:nvSpPr>
        <p:spPr>
          <a:xfrm>
            <a:off x="6089904" y="1280160"/>
            <a:ext cx="2606040" cy="48463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1463040"/>
            <a:ext cx="2148840" cy="411480"/>
          </a:xfrm>
          <a:prstGeom prst="rect">
            <a:avLst/>
          </a:prstGeom>
          <a:noFill/>
        </p:spPr>
        <p:txBody>
          <a:bodyPr wrap="none">
            <a:spAutoFit/>
          </a:bodyPr>
          <a:lstStyle/>
          <a:p>
            <a:pPr>
              <a:defRPr sz="1400" b="1">
                <a:solidFill>
                  <a:srgbClr val="0F172A"/>
                </a:solidFill>
                <a:latin typeface="Calibri"/>
              </a:defRPr>
            </a:pPr>
            <a:r>
              <a:t>Tier III: Concurrently Maint.</a:t>
            </a:r>
          </a:p>
        </p:txBody>
      </p:sp>
      <p:sp>
        <p:nvSpPr>
          <p:cNvPr id="18" name="Rounded Rectangle 17"/>
          <p:cNvSpPr/>
          <p:nvPr/>
        </p:nvSpPr>
        <p:spPr>
          <a:xfrm>
            <a:off x="7232904" y="1463040"/>
            <a:ext cx="128016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TIER III</a:t>
            </a:r>
          </a:p>
        </p:txBody>
      </p:sp>
      <p:sp>
        <p:nvSpPr>
          <p:cNvPr id="19" name="TextBox 18"/>
          <p:cNvSpPr txBox="1"/>
          <p:nvPr/>
        </p:nvSpPr>
        <p:spPr>
          <a:xfrm>
            <a:off x="6318504" y="1920240"/>
            <a:ext cx="21488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Paths:</a:t>
            </a:r>
            <a:r>
              <a:rPr b="0">
                <a:solidFill>
                  <a:srgbClr val="475569"/>
                </a:solidFill>
              </a:rPr>
              <a:t> 2 Paths (1 Active, 1 Standby).</a:t>
            </a:r>
          </a:p>
          <a:p>
            <a:pPr>
              <a:spcAft>
                <a:spcPts val="600"/>
              </a:spcAft>
              <a:defRPr sz="1100">
                <a:solidFill>
                  <a:srgbClr val="475569"/>
                </a:solidFill>
                <a:latin typeface="Calibri"/>
              </a:defRPr>
            </a:pPr>
            <a:r>
              <a:rPr b="1">
                <a:solidFill>
                  <a:srgbClr val="0F172A"/>
                </a:solidFill>
              </a:rPr>
              <a:t>• Backup:</a:t>
            </a:r>
            <a:r>
              <a:rPr b="0">
                <a:solidFill>
                  <a:srgbClr val="475569"/>
                </a:solidFill>
              </a:rPr>
              <a:t> N+1 modules.</a:t>
            </a:r>
          </a:p>
          <a:p>
            <a:pPr>
              <a:spcAft>
                <a:spcPts val="600"/>
              </a:spcAft>
              <a:defRPr sz="1100">
                <a:solidFill>
                  <a:srgbClr val="475569"/>
                </a:solidFill>
                <a:latin typeface="Calibri"/>
              </a:defRPr>
            </a:pPr>
            <a:r>
              <a:rPr b="1">
                <a:solidFill>
                  <a:srgbClr val="0F172A"/>
                </a:solidFill>
              </a:rPr>
              <a:t>• Can you service it live?:</a:t>
            </a:r>
            <a:r>
              <a:rPr b="0">
                <a:solidFill>
                  <a:srgbClr val="475569"/>
                </a:solidFill>
              </a:rPr>
              <a:t> YES! You can unplug any pipe or switch for maintenance with ZERO IT downtime.</a:t>
            </a:r>
          </a:p>
          <a:p>
            <a:pPr>
              <a:spcAft>
                <a:spcPts val="600"/>
              </a:spcAft>
              <a:defRPr sz="1100">
                <a:solidFill>
                  <a:srgbClr val="475569"/>
                </a:solidFill>
                <a:latin typeface="Calibri"/>
              </a:defRPr>
            </a:pPr>
            <a:r>
              <a:rPr b="1">
                <a:solidFill>
                  <a:srgbClr val="0F172A"/>
                </a:solidFill>
              </a:rPr>
              <a:t>• Downtime Allowed:</a:t>
            </a:r>
            <a:r>
              <a:rPr b="0">
                <a:solidFill>
                  <a:srgbClr val="475569"/>
                </a:solidFill>
              </a:rPr>
              <a:t> 1.6 hours / year.</a:t>
            </a:r>
          </a:p>
          <a:p>
            <a:pPr>
              <a:spcAft>
                <a:spcPts val="600"/>
              </a:spcAft>
              <a:defRPr sz="1100">
                <a:solidFill>
                  <a:srgbClr val="475569"/>
                </a:solidFill>
                <a:latin typeface="Calibri"/>
              </a:defRPr>
            </a:pPr>
            <a:r>
              <a:rPr b="1">
                <a:solidFill>
                  <a:srgbClr val="0F172A"/>
                </a:solidFill>
              </a:rPr>
              <a:t>• Availability:</a:t>
            </a:r>
            <a:r>
              <a:rPr b="0">
                <a:solidFill>
                  <a:srgbClr val="475569"/>
                </a:solidFill>
              </a:rPr>
              <a:t> 99.982%.</a:t>
            </a:r>
          </a:p>
          <a:p>
            <a:pPr>
              <a:spcAft>
                <a:spcPts val="600"/>
              </a:spcAft>
              <a:defRPr sz="1100">
                <a:solidFill>
                  <a:srgbClr val="475569"/>
                </a:solidFill>
                <a:latin typeface="Calibri"/>
              </a:defRPr>
            </a:pPr>
            <a:r>
              <a:rPr b="1">
                <a:solidFill>
                  <a:srgbClr val="0F172A"/>
                </a:solidFill>
              </a:rPr>
              <a:t>• Analogy:</a:t>
            </a:r>
            <a:r>
              <a:rPr b="0">
                <a:solidFill>
                  <a:srgbClr val="475569"/>
                </a:solidFill>
              </a:rPr>
              <a:t> Train with backup rail.</a:t>
            </a:r>
          </a:p>
        </p:txBody>
      </p:sp>
      <p:sp>
        <p:nvSpPr>
          <p:cNvPr id="20" name="Rounded Rectangle 19"/>
          <p:cNvSpPr/>
          <p:nvPr/>
        </p:nvSpPr>
        <p:spPr>
          <a:xfrm>
            <a:off x="8860536" y="1280160"/>
            <a:ext cx="2606040" cy="48463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89136" y="1463040"/>
            <a:ext cx="2148840" cy="411480"/>
          </a:xfrm>
          <a:prstGeom prst="rect">
            <a:avLst/>
          </a:prstGeom>
          <a:noFill/>
        </p:spPr>
        <p:txBody>
          <a:bodyPr wrap="none">
            <a:spAutoFit/>
          </a:bodyPr>
          <a:lstStyle/>
          <a:p>
            <a:pPr>
              <a:defRPr sz="1400" b="1">
                <a:solidFill>
                  <a:srgbClr val="0F172A"/>
                </a:solidFill>
                <a:latin typeface="Calibri"/>
              </a:defRPr>
            </a:pPr>
            <a:r>
              <a:t>Tier IV: Fault Tolerant</a:t>
            </a:r>
          </a:p>
        </p:txBody>
      </p:sp>
      <p:sp>
        <p:nvSpPr>
          <p:cNvPr id="22" name="Rounded Rectangle 21"/>
          <p:cNvSpPr/>
          <p:nvPr/>
        </p:nvSpPr>
        <p:spPr>
          <a:xfrm>
            <a:off x="10003536" y="1463040"/>
            <a:ext cx="128016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TIER IV</a:t>
            </a:r>
          </a:p>
        </p:txBody>
      </p:sp>
      <p:sp>
        <p:nvSpPr>
          <p:cNvPr id="23" name="TextBox 22"/>
          <p:cNvSpPr txBox="1"/>
          <p:nvPr/>
        </p:nvSpPr>
        <p:spPr>
          <a:xfrm>
            <a:off x="9089136" y="1920240"/>
            <a:ext cx="21488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Paths:</a:t>
            </a:r>
            <a:r>
              <a:rPr b="0">
                <a:solidFill>
                  <a:srgbClr val="475569"/>
                </a:solidFill>
              </a:rPr>
              <a:t> 2 Simultaneously Active Paths.</a:t>
            </a:r>
          </a:p>
          <a:p>
            <a:pPr>
              <a:spcAft>
                <a:spcPts val="600"/>
              </a:spcAft>
              <a:defRPr sz="1100">
                <a:solidFill>
                  <a:srgbClr val="475569"/>
                </a:solidFill>
                <a:latin typeface="Calibri"/>
              </a:defRPr>
            </a:pPr>
            <a:r>
              <a:rPr b="1">
                <a:solidFill>
                  <a:srgbClr val="0F172A"/>
                </a:solidFill>
              </a:rPr>
              <a:t>• Backup:</a:t>
            </a:r>
            <a:r>
              <a:rPr b="0">
                <a:solidFill>
                  <a:srgbClr val="475569"/>
                </a:solidFill>
              </a:rPr>
              <a:t> 2N or 2(N+1).</a:t>
            </a:r>
          </a:p>
          <a:p>
            <a:pPr>
              <a:spcAft>
                <a:spcPts val="600"/>
              </a:spcAft>
              <a:defRPr sz="1100">
                <a:solidFill>
                  <a:srgbClr val="475569"/>
                </a:solidFill>
                <a:latin typeface="Calibri"/>
              </a:defRPr>
            </a:pPr>
            <a:r>
              <a:rPr b="1">
                <a:solidFill>
                  <a:srgbClr val="0F172A"/>
                </a:solidFill>
              </a:rPr>
              <a:t>• Can you service it live?:</a:t>
            </a:r>
            <a:r>
              <a:rPr b="0">
                <a:solidFill>
                  <a:srgbClr val="475569"/>
                </a:solidFill>
              </a:rPr>
              <a:t> YES!</a:t>
            </a:r>
          </a:p>
          <a:p>
            <a:pPr>
              <a:spcAft>
                <a:spcPts val="600"/>
              </a:spcAft>
              <a:defRPr sz="1100">
                <a:solidFill>
                  <a:srgbClr val="475569"/>
                </a:solidFill>
                <a:latin typeface="Calibri"/>
              </a:defRPr>
            </a:pPr>
            <a:r>
              <a:rPr b="1">
                <a:solidFill>
                  <a:srgbClr val="0F172A"/>
                </a:solidFill>
              </a:rPr>
              <a:t>• Survives Accidents?:</a:t>
            </a:r>
            <a:r>
              <a:rPr b="0">
                <a:solidFill>
                  <a:srgbClr val="475569"/>
                </a:solidFill>
              </a:rPr>
              <a:t> YES! If Path A catches fire, Path B handles it automatically.</a:t>
            </a:r>
          </a:p>
          <a:p>
            <a:pPr>
              <a:spcAft>
                <a:spcPts val="600"/>
              </a:spcAft>
              <a:defRPr sz="1100">
                <a:solidFill>
                  <a:srgbClr val="475569"/>
                </a:solidFill>
                <a:latin typeface="Calibri"/>
              </a:defRPr>
            </a:pPr>
            <a:r>
              <a:rPr b="1">
                <a:solidFill>
                  <a:srgbClr val="0F172A"/>
                </a:solidFill>
              </a:rPr>
              <a:t>• Downtime Allowed:</a:t>
            </a:r>
            <a:r>
              <a:rPr b="0">
                <a:solidFill>
                  <a:srgbClr val="475569"/>
                </a:solidFill>
              </a:rPr>
              <a:t> 26 minutes / year.</a:t>
            </a:r>
          </a:p>
          <a:p>
            <a:pPr>
              <a:spcAft>
                <a:spcPts val="600"/>
              </a:spcAft>
              <a:defRPr sz="1100">
                <a:solidFill>
                  <a:srgbClr val="475569"/>
                </a:solidFill>
                <a:latin typeface="Calibri"/>
              </a:defRPr>
            </a:pPr>
            <a:r>
              <a:rPr b="1">
                <a:solidFill>
                  <a:srgbClr val="0F172A"/>
                </a:solidFill>
              </a:rPr>
              <a:t>• Availability:</a:t>
            </a:r>
            <a:r>
              <a:rPr b="0">
                <a:solidFill>
                  <a:srgbClr val="475569"/>
                </a:solidFill>
              </a:rPr>
              <a:t> 99.995%.</a:t>
            </a:r>
          </a:p>
          <a:p>
            <a:pPr>
              <a:spcAft>
                <a:spcPts val="600"/>
              </a:spcAft>
              <a:defRPr sz="1100">
                <a:solidFill>
                  <a:srgbClr val="475569"/>
                </a:solidFill>
                <a:latin typeface="Calibri"/>
              </a:defRPr>
            </a:pPr>
            <a:r>
              <a:rPr b="1">
                <a:solidFill>
                  <a:srgbClr val="0F172A"/>
                </a:solidFill>
              </a:rPr>
              <a:t>• Analogy:</a:t>
            </a:r>
            <a:r>
              <a:rPr b="0">
                <a:solidFill>
                  <a:srgbClr val="475569"/>
                </a:solidFill>
              </a:rPr>
              <a:t> Dual-engine space jet.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16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SOLVED MATH</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Exam Problem 1: Sizing the UPS and Battery (Step-by-Step)</a:t>
            </a:r>
          </a:p>
          <a:p>
            <a:pPr>
              <a:defRPr sz="1100">
                <a:solidFill>
                  <a:srgbClr val="94A3B8"/>
                </a:solidFill>
                <a:latin typeface="Calibri"/>
              </a:defRPr>
            </a:pPr>
            <a:r>
              <a:t>How to easily solve this guaranteed 10-mark university question without getting confused</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16</a:t>
            </a:r>
          </a:p>
        </p:txBody>
      </p:sp>
      <p:sp>
        <p:nvSpPr>
          <p:cNvPr id="8" name="Rounded Rectangle 7"/>
          <p:cNvSpPr/>
          <p:nvPr/>
        </p:nvSpPr>
        <p:spPr>
          <a:xfrm>
            <a:off x="548640" y="1280160"/>
            <a:ext cx="11094415" cy="48463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10637215" cy="411480"/>
          </a:xfrm>
          <a:prstGeom prst="rect">
            <a:avLst/>
          </a:prstGeom>
          <a:noFill/>
        </p:spPr>
        <p:txBody>
          <a:bodyPr wrap="none">
            <a:spAutoFit/>
          </a:bodyPr>
          <a:lstStyle/>
          <a:p>
            <a:pPr>
              <a:defRPr sz="1400" b="1">
                <a:solidFill>
                  <a:srgbClr val="0F172A"/>
                </a:solidFill>
                <a:latin typeface="Calibri"/>
              </a:defRPr>
            </a:pPr>
            <a:r>
              <a:t>Problem Statement &amp; Clean Solution Walkthrough</a:t>
            </a:r>
          </a:p>
        </p:txBody>
      </p:sp>
      <p:sp>
        <p:nvSpPr>
          <p:cNvPr id="10" name="Rounded Rectangle 9"/>
          <p:cNvSpPr/>
          <p:nvPr/>
        </p:nvSpPr>
        <p:spPr>
          <a:xfrm>
            <a:off x="10180015" y="1463040"/>
            <a:ext cx="128016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EASY 10 MARKS</a:t>
            </a:r>
          </a:p>
        </p:txBody>
      </p:sp>
      <p:sp>
        <p:nvSpPr>
          <p:cNvPr id="11" name="TextBox 10"/>
          <p:cNvSpPr txBox="1"/>
          <p:nvPr/>
        </p:nvSpPr>
        <p:spPr>
          <a:xfrm>
            <a:off x="777240" y="1920240"/>
            <a:ext cx="10637215"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The Question:</a:t>
            </a:r>
            <a:r>
              <a:rPr b="0">
                <a:solidFill>
                  <a:srgbClr val="475569"/>
                </a:solidFill>
              </a:rPr>
              <a:t> A data centre has 500 kW IT load with 0.95 Power Factor. The UPS inverter is 94% efficient. Sizing rules state normal load must not exceed 75% of UPS rating. The battery DC bus is 480V, and it must provide 15 minutes of backup. Find: (a) IT kVA, (b) Minimum UPS kVA, (c) Battery Ah capacity.</a:t>
            </a:r>
          </a:p>
          <a:p>
            <a:pPr>
              <a:spcAft>
                <a:spcPts val="600"/>
              </a:spcAft>
              <a:defRPr sz="1100">
                <a:solidFill>
                  <a:srgbClr val="475569"/>
                </a:solidFill>
                <a:latin typeface="Calibri"/>
              </a:defRPr>
            </a:pPr>
            <a:r>
              <a:rPr b="1">
                <a:solidFill>
                  <a:srgbClr val="0F172A"/>
                </a:solidFill>
              </a:rPr>
              <a:t>• Step 1:</a:t>
            </a:r>
            <a:r>
              <a:rPr b="0">
                <a:solidFill>
                  <a:srgbClr val="475569"/>
                </a:solidFill>
              </a:rPr>
              <a:t> Find IT Apparent Power (kVA)
  Formula: kVA = kW / Power Factor
  kVA = 500 / 0.95 = 526.3 kVA. (Write: 'Total IT Apparent Power = 526.3 kVA').</a:t>
            </a:r>
          </a:p>
          <a:p>
            <a:pPr>
              <a:spcAft>
                <a:spcPts val="600"/>
              </a:spcAft>
              <a:defRPr sz="1100">
                <a:solidFill>
                  <a:srgbClr val="475569"/>
                </a:solidFill>
                <a:latin typeface="Calibri"/>
              </a:defRPr>
            </a:pPr>
            <a:r>
              <a:rPr b="1">
                <a:solidFill>
                  <a:srgbClr val="0F172A"/>
                </a:solidFill>
              </a:rPr>
              <a:t>• Step 2:</a:t>
            </a:r>
            <a:r>
              <a:rPr b="0">
                <a:solidFill>
                  <a:srgbClr val="475569"/>
                </a:solidFill>
              </a:rPr>
              <a:t> Find the UPS Rating in kVA
  Because the inverter is 94% efficient, it needs: 526.3 / 0.94 = 559.9 kVA.
  Because of the 75% safe load rule, divide by 0.75: 559.9 / 0.75 = 746.5 kVA.
  Conclusion: Specify two 500 kVA units in N+1 configuration (1000 kVA total).</a:t>
            </a:r>
          </a:p>
          <a:p>
            <a:pPr>
              <a:spcAft>
                <a:spcPts val="600"/>
              </a:spcAft>
              <a:defRPr sz="1100">
                <a:solidFill>
                  <a:srgbClr val="475569"/>
                </a:solidFill>
                <a:latin typeface="Calibri"/>
              </a:defRPr>
            </a:pPr>
            <a:r>
              <a:rPr b="1">
                <a:solidFill>
                  <a:srgbClr val="0F172A"/>
                </a:solidFill>
              </a:rPr>
              <a:t>• Step 3:</a:t>
            </a:r>
            <a:r>
              <a:rPr b="0">
                <a:solidFill>
                  <a:srgbClr val="475569"/>
                </a:solidFill>
              </a:rPr>
              <a:t> Find the Battery Ah Capacity
  DC Power needed = 500 kW / 0.94 = 531.9 kW = 531,900 Watts.
  Discharge Current (Amps) = Watts / DC Volts = 531,900 / 480V = 1,108 Amps.
  For 15 minutes (0.25 hours): 1,108 Amps × 0.25 hours = 277 Ah.
  Add 25% safety buffer for battery aging (multiply by 1.25): 277 × 1.25 = 346.25 Ah.
  Final Answer: Choose a 480V DC battery bank rated at 350 Ah (or two parallel 175 Ah strings)!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17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SOLVED MATH</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Exam Problem 2: Sizing Total Building Power &amp; Transformer</a:t>
            </a:r>
          </a:p>
          <a:p>
            <a:pPr>
              <a:defRPr sz="1100">
                <a:solidFill>
                  <a:srgbClr val="94A3B8"/>
                </a:solidFill>
                <a:latin typeface="Calibri"/>
              </a:defRPr>
            </a:pPr>
            <a:r>
              <a:t>A complete walkthrough of calculating PUE, cooling power, and substation transformers</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17</a:t>
            </a:r>
          </a:p>
        </p:txBody>
      </p:sp>
      <p:sp>
        <p:nvSpPr>
          <p:cNvPr id="8" name="Rounded Rectangle 7"/>
          <p:cNvSpPr/>
          <p:nvPr/>
        </p:nvSpPr>
        <p:spPr>
          <a:xfrm>
            <a:off x="548640" y="1280160"/>
            <a:ext cx="11094415" cy="48463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10637215" cy="411480"/>
          </a:xfrm>
          <a:prstGeom prst="rect">
            <a:avLst/>
          </a:prstGeom>
          <a:noFill/>
        </p:spPr>
        <p:txBody>
          <a:bodyPr wrap="none">
            <a:spAutoFit/>
          </a:bodyPr>
          <a:lstStyle/>
          <a:p>
            <a:pPr>
              <a:defRPr sz="1400" b="1">
                <a:solidFill>
                  <a:srgbClr val="0F172A"/>
                </a:solidFill>
                <a:latin typeface="Calibri"/>
              </a:defRPr>
            </a:pPr>
            <a:r>
              <a:t>Problem Statement &amp; Clean Solution Walkthrough</a:t>
            </a:r>
          </a:p>
        </p:txBody>
      </p:sp>
      <p:sp>
        <p:nvSpPr>
          <p:cNvPr id="10" name="Rounded Rectangle 9"/>
          <p:cNvSpPr/>
          <p:nvPr/>
        </p:nvSpPr>
        <p:spPr>
          <a:xfrm>
            <a:off x="10180015" y="1463040"/>
            <a:ext cx="128016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EASY 10 MARKS</a:t>
            </a:r>
          </a:p>
        </p:txBody>
      </p:sp>
      <p:sp>
        <p:nvSpPr>
          <p:cNvPr id="11" name="TextBox 10"/>
          <p:cNvSpPr txBox="1"/>
          <p:nvPr/>
        </p:nvSpPr>
        <p:spPr>
          <a:xfrm>
            <a:off x="777240" y="1920240"/>
            <a:ext cx="10637215"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The Question:</a:t>
            </a:r>
            <a:r>
              <a:rPr b="0">
                <a:solidFill>
                  <a:srgbClr val="475569"/>
                </a:solidFill>
              </a:rPr>
              <a:t> A data centre has 200 server racks drawing 5 kW each. Target PUE is 1.35. Cooling takes 70% of non-IT power. Overall power factor is 0.90. Incorporate a 25% future expansion buffer. Calculate: (a) IT Load kW, (b) Total Facility kW, (c) Cooling kW, (d) Transformer kVA rating, (e) DCiE.</a:t>
            </a:r>
          </a:p>
          <a:p>
            <a:pPr>
              <a:spcAft>
                <a:spcPts val="600"/>
              </a:spcAft>
              <a:defRPr sz="1100">
                <a:solidFill>
                  <a:srgbClr val="475569"/>
                </a:solidFill>
                <a:latin typeface="Calibri"/>
              </a:defRPr>
            </a:pPr>
            <a:r>
              <a:rPr b="1">
                <a:solidFill>
                  <a:srgbClr val="0F172A"/>
                </a:solidFill>
              </a:rPr>
              <a:t>• Step 1:</a:t>
            </a:r>
            <a:r>
              <a:rPr b="0">
                <a:solidFill>
                  <a:srgbClr val="475569"/>
                </a:solidFill>
              </a:rPr>
              <a:t> IT Load = 200 racks × 5 kW = 1,000 kW (1.0 Megawatt).</a:t>
            </a:r>
          </a:p>
          <a:p>
            <a:pPr>
              <a:spcAft>
                <a:spcPts val="600"/>
              </a:spcAft>
              <a:defRPr sz="1100">
                <a:solidFill>
                  <a:srgbClr val="475569"/>
                </a:solidFill>
                <a:latin typeface="Calibri"/>
              </a:defRPr>
            </a:pPr>
            <a:r>
              <a:rPr b="1">
                <a:solidFill>
                  <a:srgbClr val="0F172A"/>
                </a:solidFill>
              </a:rPr>
              <a:t>• Step 2:</a:t>
            </a:r>
            <a:r>
              <a:rPr b="0">
                <a:solidFill>
                  <a:srgbClr val="475569"/>
                </a:solidFill>
              </a:rPr>
              <a:t> Total Building Power = IT Load × PUE = 1,000 kW × 1.35 = 1,350 kW.</a:t>
            </a:r>
          </a:p>
          <a:p>
            <a:pPr>
              <a:spcAft>
                <a:spcPts val="600"/>
              </a:spcAft>
              <a:defRPr sz="1100">
                <a:solidFill>
                  <a:srgbClr val="475569"/>
                </a:solidFill>
                <a:latin typeface="Calibri"/>
              </a:defRPr>
            </a:pPr>
            <a:r>
              <a:rPr b="1">
                <a:solidFill>
                  <a:srgbClr val="0F172A"/>
                </a:solidFill>
              </a:rPr>
              <a:t>• Step 3:</a:t>
            </a:r>
            <a:r>
              <a:rPr b="0">
                <a:solidFill>
                  <a:srgbClr val="475569"/>
                </a:solidFill>
              </a:rPr>
              <a:t> Cooling Power Breakdown:
  Non-IT Overhead = 1,350 kW - 1,000 kW = 350 kW.
  Cooling Power (70%) = 0.70 × 350 kW = 245 kW. (Remaining 105 kW goes to lighting and transformer heat losses).</a:t>
            </a:r>
          </a:p>
          <a:p>
            <a:pPr>
              <a:spcAft>
                <a:spcPts val="600"/>
              </a:spcAft>
              <a:defRPr sz="1100">
                <a:solidFill>
                  <a:srgbClr val="475569"/>
                </a:solidFill>
                <a:latin typeface="Calibri"/>
              </a:defRPr>
            </a:pPr>
            <a:r>
              <a:rPr b="1">
                <a:solidFill>
                  <a:srgbClr val="0F172A"/>
                </a:solidFill>
              </a:rPr>
              <a:t>• Step 4:</a:t>
            </a:r>
            <a:r>
              <a:rPr b="0">
                <a:solidFill>
                  <a:srgbClr val="475569"/>
                </a:solidFill>
              </a:rPr>
              <a:t> Transformer Sizing in kVA:
  Building kVA = 1,350 kW / 0.90 Power Factor = 1,500 kVA.
  Add 25% future growth margin (multiply by 1.25): 1,500 kVA × 1.25 = 1,875 kVA.
  Standard Engineering Choice: Select standard commercial 2,000 kVA (2 MVA) Dry-Type Transformer! (In Tier IV 2N: install two 2,000 kVA transformers).</a:t>
            </a:r>
          </a:p>
          <a:p>
            <a:pPr>
              <a:spcAft>
                <a:spcPts val="600"/>
              </a:spcAft>
              <a:defRPr sz="1100">
                <a:solidFill>
                  <a:srgbClr val="475569"/>
                </a:solidFill>
                <a:latin typeface="Calibri"/>
              </a:defRPr>
            </a:pPr>
            <a:r>
              <a:rPr b="1">
                <a:solidFill>
                  <a:srgbClr val="0F172A"/>
                </a:solidFill>
              </a:rPr>
              <a:t>• Step 5:</a:t>
            </a:r>
            <a:r>
              <a:rPr b="0">
                <a:solidFill>
                  <a:srgbClr val="475569"/>
                </a:solidFill>
              </a:rPr>
              <a:t> DCiE Percentage = (1 / PUE) × 100% = (1 / 1.35) × 100% = 74.07%!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18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MODEL ANSWERS</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How to Answer the 3 Most Common Exam Questions</a:t>
            </a:r>
          </a:p>
          <a:p>
            <a:pPr>
              <a:defRPr sz="1100">
                <a:solidFill>
                  <a:srgbClr val="94A3B8"/>
                </a:solidFill>
                <a:latin typeface="Calibri"/>
              </a:defRPr>
            </a:pPr>
            <a:r>
              <a:t>Guaranteed high-scoring answering templates for 10-mark and 15-mark essay questions</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18</a:t>
            </a:r>
          </a:p>
        </p:txBody>
      </p:sp>
      <p:sp>
        <p:nvSpPr>
          <p:cNvPr id="8" name="Rounded Rectangle 7"/>
          <p:cNvSpPr/>
          <p:nvPr/>
        </p:nvSpPr>
        <p:spPr>
          <a:xfrm>
            <a:off x="548640" y="1280160"/>
            <a:ext cx="53492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none">
            <a:spAutoFit/>
          </a:bodyPr>
          <a:lstStyle/>
          <a:p>
            <a:pPr>
              <a:defRPr sz="1400" b="1">
                <a:solidFill>
                  <a:srgbClr val="0F172A"/>
                </a:solidFill>
                <a:latin typeface="Calibri"/>
              </a:defRPr>
            </a:pPr>
            <a:r>
              <a:t>Q1: Explain the SLD Diagram (15 Marks)</a:t>
            </a:r>
          </a:p>
        </p:txBody>
      </p:sp>
      <p:sp>
        <p:nvSpPr>
          <p:cNvPr id="10" name="Rounded Rectangle 9"/>
          <p:cNvSpPr/>
          <p:nvPr/>
        </p:nvSpPr>
        <p:spPr>
          <a:xfrm>
            <a:off x="4434840" y="1463040"/>
            <a:ext cx="128016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15-MARK ESSAY</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How to score full 15 marks:</a:t>
            </a:r>
            <a:r>
              <a:rPr b="0">
                <a:solidFill>
                  <a:srgbClr val="475569"/>
                </a:solidFill>
              </a:rPr>
              <a:t>
  1. Draw the Diagram First: Utility Substation -&gt; Transformer -&gt; ATS -&gt; UPS -&gt; Floor PDU -&gt; Overhead Busway -&gt; Rack ePDU -&gt; Server Dual PSUs.
  2. Label Path A and Path B: Show two independent paths running side-by-side to prove 2N redundancy.
  3. Write 2 lines per component: Briefly explain what RMU does, why transformer has K-factor, why UPS is online double-conversion, and why server has 2 cords.
  4. Mention Fault Tolerance: Write: 'If Path A suffers a short circuit, Path B automatically runs 100% of servers with zero downtime.'</a:t>
            </a:r>
          </a:p>
        </p:txBody>
      </p:sp>
      <p:sp>
        <p:nvSpPr>
          <p:cNvPr id="12" name="Rounded Rectangle 11"/>
          <p:cNvSpPr/>
          <p:nvPr/>
        </p:nvSpPr>
        <p:spPr>
          <a:xfrm>
            <a:off x="6217920" y="1280160"/>
            <a:ext cx="53492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none">
            <a:spAutoFit/>
          </a:bodyPr>
          <a:lstStyle/>
          <a:p>
            <a:pPr>
              <a:defRPr sz="1400" b="1">
                <a:solidFill>
                  <a:srgbClr val="0F172A"/>
                </a:solidFill>
                <a:latin typeface="Calibri"/>
              </a:defRPr>
            </a:pPr>
            <a:r>
              <a:t>Q2: Online Double Conversion UPS (10 Marks)</a:t>
            </a:r>
          </a:p>
        </p:txBody>
      </p:sp>
      <p:sp>
        <p:nvSpPr>
          <p:cNvPr id="14" name="Rounded Rectangle 13"/>
          <p:cNvSpPr/>
          <p:nvPr/>
        </p:nvSpPr>
        <p:spPr>
          <a:xfrm>
            <a:off x="10104120" y="1463040"/>
            <a:ext cx="128016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10-MARK ESSAY</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How to score full 10 marks:</a:t>
            </a:r>
            <a:r>
              <a:rPr b="0">
                <a:solidFill>
                  <a:srgbClr val="475569"/>
                </a:solidFill>
              </a:rPr>
              <a:t>
  1. Draw the 3 Blocks: Rectifier -&gt; DC Bus with Battery -&gt; Inverter. Show the Static Bypass on top and Maintenance Bypass around it.
  2. Explain the 3 Modes:
     • Normal Mode: AC converted to DC, then back to clean AC.
     • Outage Mode: Battery instantly feeds inverter with 0 ms delay.
     • Bypass Mode: Fault trips static switch to raw mains in 2 ms.
  3. State the Big Benefit: Total electrical isolation, perfect sine wave, 0 ms transfer time (IEC 62040-3 VFI).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none">
            <a:spAutoFit/>
          </a:bodyPr>
          <a:lstStyle/>
          <a:p>
            <a:pPr>
              <a:defRPr sz="1000">
                <a:solidFill>
                  <a:srgbClr val="94A3B8"/>
                </a:solidFill>
                <a:latin typeface="Calibri"/>
              </a:defRPr>
            </a:pPr>
            <a:r>
              <a:t>Unit 2: Electrical Infrastructure (Simplified Exam Master Guide) | Slide 19 of 20</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REVISION TABLES</a:t>
            </a:r>
          </a:p>
        </p:txBody>
      </p:sp>
      <p:sp>
        <p:nvSpPr>
          <p:cNvPr id="6" name="TextBox 5"/>
          <p:cNvSpPr txBox="1"/>
          <p:nvPr/>
        </p:nvSpPr>
        <p:spPr>
          <a:xfrm>
            <a:off x="548640" y="438912"/>
            <a:ext cx="9601200" cy="502920"/>
          </a:xfrm>
          <a:prstGeom prst="rect">
            <a:avLst/>
          </a:prstGeom>
          <a:noFill/>
        </p:spPr>
        <p:txBody>
          <a:bodyPr wrap="none">
            <a:spAutoFit/>
          </a:bodyPr>
          <a:lstStyle/>
          <a:p>
            <a:pPr>
              <a:defRPr sz="2000" b="1">
                <a:solidFill>
                  <a:srgbClr val="FFFFFF"/>
                </a:solidFill>
                <a:latin typeface="Calibri"/>
              </a:defRPr>
            </a:pPr>
            <a:r>
              <a:t>Quick-Fire Comparison Tables for 5-Mark Short Notes</a:t>
            </a:r>
          </a:p>
          <a:p>
            <a:pPr>
              <a:defRPr sz="1100">
                <a:solidFill>
                  <a:srgbClr val="94A3B8"/>
                </a:solidFill>
                <a:latin typeface="Calibri"/>
              </a:defRPr>
            </a:pPr>
            <a:r>
              <a:t>Memorize these exact bullet points for rapid scoring in short-note questions</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19</a:t>
            </a:r>
          </a:p>
        </p:txBody>
      </p:sp>
      <p:sp>
        <p:nvSpPr>
          <p:cNvPr id="8" name="Rounded Rectangle 7"/>
          <p:cNvSpPr/>
          <p:nvPr/>
        </p:nvSpPr>
        <p:spPr>
          <a:xfrm>
            <a:off x="548640" y="1280160"/>
            <a:ext cx="53492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none">
            <a:spAutoFit/>
          </a:bodyPr>
          <a:lstStyle/>
          <a:p>
            <a:pPr>
              <a:defRPr sz="1400" b="1">
                <a:solidFill>
                  <a:srgbClr val="0F172A"/>
                </a:solidFill>
                <a:latin typeface="Calibri"/>
              </a:defRPr>
            </a:pPr>
            <a:r>
              <a:t>ATS vs. STS Cheat Sheet (5 Marks)</a:t>
            </a:r>
          </a:p>
        </p:txBody>
      </p:sp>
      <p:sp>
        <p:nvSpPr>
          <p:cNvPr id="10" name="Rounded Rectangle 9"/>
          <p:cNvSpPr/>
          <p:nvPr/>
        </p:nvSpPr>
        <p:spPr>
          <a:xfrm>
            <a:off x="4434840" y="1463040"/>
            <a:ext cx="128016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ATS VS STS</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 Technology:</a:t>
            </a:r>
            <a:r>
              <a:rPr b="0">
                <a:solidFill>
                  <a:srgbClr val="475569"/>
                </a:solidFill>
              </a:rPr>
              <a:t> ATS is mechanical (motor/contactors); STS is silicon electronic (SCR chips).</a:t>
            </a:r>
          </a:p>
          <a:p>
            <a:pPr>
              <a:spcAft>
                <a:spcPts val="600"/>
              </a:spcAft>
              <a:defRPr sz="1100">
                <a:solidFill>
                  <a:srgbClr val="475569"/>
                </a:solidFill>
                <a:latin typeface="Calibri"/>
              </a:defRPr>
            </a:pPr>
            <a:r>
              <a:rPr b="1">
                <a:solidFill>
                  <a:srgbClr val="0F172A"/>
                </a:solidFill>
              </a:rPr>
              <a:t>• • Speed:</a:t>
            </a:r>
            <a:r>
              <a:rPr b="0">
                <a:solidFill>
                  <a:srgbClr val="475569"/>
                </a:solidFill>
              </a:rPr>
              <a:t> ATS takes 50 to 100 ms; STS takes 2 to 4 ms (sub-cycle).</a:t>
            </a:r>
          </a:p>
          <a:p>
            <a:pPr>
              <a:spcAft>
                <a:spcPts val="600"/>
              </a:spcAft>
              <a:defRPr sz="1100">
                <a:solidFill>
                  <a:srgbClr val="475569"/>
                </a:solidFill>
                <a:latin typeface="Calibri"/>
              </a:defRPr>
            </a:pPr>
            <a:r>
              <a:rPr b="1">
                <a:solidFill>
                  <a:srgbClr val="0F172A"/>
                </a:solidFill>
              </a:rPr>
              <a:t>• • Server Reboot?:</a:t>
            </a:r>
            <a:r>
              <a:rPr b="0">
                <a:solidFill>
                  <a:srgbClr val="475569"/>
                </a:solidFill>
              </a:rPr>
              <a:t> ATS causes servers to shut down; STS is completely seamless with zero server reboots.</a:t>
            </a:r>
          </a:p>
          <a:p>
            <a:pPr>
              <a:spcAft>
                <a:spcPts val="600"/>
              </a:spcAft>
              <a:defRPr sz="1100">
                <a:solidFill>
                  <a:srgbClr val="475569"/>
                </a:solidFill>
                <a:latin typeface="Calibri"/>
              </a:defRPr>
            </a:pPr>
            <a:r>
              <a:rPr b="1">
                <a:solidFill>
                  <a:srgbClr val="0F172A"/>
                </a:solidFill>
              </a:rPr>
              <a:t>• • Moving Parts:</a:t>
            </a:r>
            <a:r>
              <a:rPr b="0">
                <a:solidFill>
                  <a:srgbClr val="475569"/>
                </a:solidFill>
              </a:rPr>
              <a:t> ATS has moving parts that wear; STS has zero moving parts.</a:t>
            </a:r>
          </a:p>
          <a:p>
            <a:pPr>
              <a:spcAft>
                <a:spcPts val="600"/>
              </a:spcAft>
              <a:defRPr sz="1100">
                <a:solidFill>
                  <a:srgbClr val="475569"/>
                </a:solidFill>
                <a:latin typeface="Calibri"/>
              </a:defRPr>
            </a:pPr>
            <a:r>
              <a:rPr b="1">
                <a:solidFill>
                  <a:srgbClr val="0F172A"/>
                </a:solidFill>
              </a:rPr>
              <a:t>• • Location:</a:t>
            </a:r>
            <a:r>
              <a:rPr b="0">
                <a:solidFill>
                  <a:srgbClr val="475569"/>
                </a:solidFill>
              </a:rPr>
              <a:t> ATS goes upstream (Grid vs DG); STS goes downstream (near racks between UPS A &amp; B).</a:t>
            </a:r>
          </a:p>
        </p:txBody>
      </p:sp>
      <p:sp>
        <p:nvSpPr>
          <p:cNvPr id="12" name="Rounded Rectangle 11"/>
          <p:cNvSpPr/>
          <p:nvPr/>
        </p:nvSpPr>
        <p:spPr>
          <a:xfrm>
            <a:off x="6217920" y="1280160"/>
            <a:ext cx="53492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none">
            <a:spAutoFit/>
          </a:bodyPr>
          <a:lstStyle/>
          <a:p>
            <a:pPr>
              <a:defRPr sz="1400" b="1">
                <a:solidFill>
                  <a:srgbClr val="0F172A"/>
                </a:solidFill>
                <a:latin typeface="Calibri"/>
              </a:defRPr>
            </a:pPr>
            <a:r>
              <a:t>VRLA vs. Lithium-Ion Cheat Sheet (5 Marks)</a:t>
            </a:r>
          </a:p>
        </p:txBody>
      </p:sp>
      <p:sp>
        <p:nvSpPr>
          <p:cNvPr id="14" name="Rounded Rectangle 13"/>
          <p:cNvSpPr/>
          <p:nvPr/>
        </p:nvSpPr>
        <p:spPr>
          <a:xfrm>
            <a:off x="10104120" y="1463040"/>
            <a:ext cx="128016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VRLA VS LI-ION</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 Lifespan:</a:t>
            </a:r>
            <a:r>
              <a:rPr b="0">
                <a:solidFill>
                  <a:srgbClr val="475569"/>
                </a:solidFill>
              </a:rPr>
              <a:t> VRLA lasts 3-5 years; Lithium lasts 12-15 years.</a:t>
            </a:r>
          </a:p>
          <a:p>
            <a:pPr>
              <a:spcAft>
                <a:spcPts val="600"/>
              </a:spcAft>
              <a:defRPr sz="1100">
                <a:solidFill>
                  <a:srgbClr val="475569"/>
                </a:solidFill>
                <a:latin typeface="Calibri"/>
              </a:defRPr>
            </a:pPr>
            <a:r>
              <a:rPr b="1">
                <a:solidFill>
                  <a:srgbClr val="0F172A"/>
                </a:solidFill>
              </a:rPr>
              <a:t>• • Weight:</a:t>
            </a:r>
            <a:r>
              <a:rPr b="0">
                <a:solidFill>
                  <a:srgbClr val="475569"/>
                </a:solidFill>
              </a:rPr>
              <a:t> VRLA is extremely heavy (cracks floors); Lithium is 60% lighter.</a:t>
            </a:r>
          </a:p>
          <a:p>
            <a:pPr>
              <a:spcAft>
                <a:spcPts val="600"/>
              </a:spcAft>
              <a:defRPr sz="1100">
                <a:solidFill>
                  <a:srgbClr val="475569"/>
                </a:solidFill>
                <a:latin typeface="Calibri"/>
              </a:defRPr>
            </a:pPr>
            <a:r>
              <a:rPr b="1">
                <a:solidFill>
                  <a:srgbClr val="0F172A"/>
                </a:solidFill>
              </a:rPr>
              <a:t>• • Space:</a:t>
            </a:r>
            <a:r>
              <a:rPr b="0">
                <a:solidFill>
                  <a:srgbClr val="475569"/>
                </a:solidFill>
              </a:rPr>
              <a:t> VRLA needs huge battery rooms; Lithium takes 70% less footprint.</a:t>
            </a:r>
          </a:p>
          <a:p>
            <a:pPr>
              <a:spcAft>
                <a:spcPts val="600"/>
              </a:spcAft>
              <a:defRPr sz="1100">
                <a:solidFill>
                  <a:srgbClr val="475569"/>
                </a:solidFill>
                <a:latin typeface="Calibri"/>
              </a:defRPr>
            </a:pPr>
            <a:r>
              <a:rPr b="1">
                <a:solidFill>
                  <a:srgbClr val="0F172A"/>
                </a:solidFill>
              </a:rPr>
              <a:t>• • Heat Tolerance:</a:t>
            </a:r>
            <a:r>
              <a:rPr b="0">
                <a:solidFill>
                  <a:srgbClr val="475569"/>
                </a:solidFill>
              </a:rPr>
              <a:t> VRLA degrades above 25°C; Lithium works fine up to 30°C.</a:t>
            </a:r>
          </a:p>
          <a:p>
            <a:pPr>
              <a:spcAft>
                <a:spcPts val="600"/>
              </a:spcAft>
              <a:defRPr sz="1100">
                <a:solidFill>
                  <a:srgbClr val="475569"/>
                </a:solidFill>
                <a:latin typeface="Calibri"/>
              </a:defRPr>
            </a:pPr>
            <a:r>
              <a:rPr b="1">
                <a:solidFill>
                  <a:srgbClr val="0F172A"/>
                </a:solidFill>
              </a:rPr>
              <a:t>• • Brain / BMS:</a:t>
            </a:r>
            <a:r>
              <a:rPr b="0">
                <a:solidFill>
                  <a:srgbClr val="475569"/>
                </a:solidFill>
              </a:rPr>
              <a:t> VRLA has dumb cells; Lithium has smart digital BMS monitoring every single cell 24/7.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94415" cy="914400"/>
          </a:xfrm>
          <a:prstGeom prst="rect">
            <a:avLst/>
          </a:prstGeom>
          <a:noFill/>
        </p:spPr>
        <p:txBody>
          <a:bodyPr wrap="none">
            <a:spAutoFit/>
          </a:bodyPr>
          <a:lstStyle/>
          <a:p>
            <a:pPr>
              <a:defRPr sz="2200" b="1">
                <a:solidFill>
                  <a:srgbClr val="FFFFFF"/>
                </a:solidFill>
              </a:defRPr>
            </a:pPr>
            <a:r>
              <a:t>UNIT 2: FINAL EXAM DAY GOLDEN RULES</a:t>
            </a:r>
          </a:p>
          <a:p>
            <a:pPr>
              <a:defRPr sz="1300">
                <a:solidFill>
                  <a:srgbClr val="0EA5E9"/>
                </a:solidFill>
              </a:defRPr>
            </a:pPr>
            <a:r>
              <a:t>Remember these 4 golden habits to secure an A+ in your examination</a:t>
            </a:r>
          </a:p>
        </p:txBody>
      </p:sp>
      <p:sp>
        <p:nvSpPr>
          <p:cNvPr id="4" name="Rounded Rectangle 3"/>
          <p:cNvSpPr/>
          <p:nvPr/>
        </p:nvSpPr>
        <p:spPr>
          <a:xfrm>
            <a:off x="548640" y="1645920"/>
            <a:ext cx="26060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28800"/>
            <a:ext cx="2148840" cy="411480"/>
          </a:xfrm>
          <a:prstGeom prst="rect">
            <a:avLst/>
          </a:prstGeom>
          <a:noFill/>
        </p:spPr>
        <p:txBody>
          <a:bodyPr wrap="none">
            <a:spAutoFit/>
          </a:bodyPr>
          <a:lstStyle/>
          <a:p>
            <a:pPr>
              <a:defRPr sz="1400" b="1">
                <a:solidFill>
                  <a:srgbClr val="0F172A"/>
                </a:solidFill>
                <a:latin typeface="Calibri"/>
              </a:defRPr>
            </a:pPr>
            <a:r>
              <a:t>1. Always Draw Diagrams</a:t>
            </a:r>
          </a:p>
        </p:txBody>
      </p:sp>
      <p:sp>
        <p:nvSpPr>
          <p:cNvPr id="6" name="Rounded Rectangle 5"/>
          <p:cNvSpPr/>
          <p:nvPr/>
        </p:nvSpPr>
        <p:spPr>
          <a:xfrm>
            <a:off x="1691640" y="1828800"/>
            <a:ext cx="128016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RULE 1</a:t>
            </a:r>
          </a:p>
        </p:txBody>
      </p:sp>
      <p:sp>
        <p:nvSpPr>
          <p:cNvPr id="7" name="TextBox 6"/>
          <p:cNvSpPr txBox="1"/>
          <p:nvPr/>
        </p:nvSpPr>
        <p:spPr>
          <a:xfrm>
            <a:off x="777240" y="2286000"/>
            <a:ext cx="2148840" cy="3611880"/>
          </a:xfrm>
          <a:prstGeom prst="rect">
            <a:avLst/>
          </a:prstGeom>
          <a:noFill/>
        </p:spPr>
        <p:txBody>
          <a:bodyPr wrap="square" tIns="0" lIns="0" rIns="0">
            <a:spAutoFit/>
          </a:bodyPr>
          <a:lstStyle/>
          <a:p>
            <a:pPr>
              <a:spcAft>
                <a:spcPts val="600"/>
              </a:spcAft>
              <a:defRPr sz="1100">
                <a:solidFill>
                  <a:srgbClr val="475569"/>
                </a:solidFill>
                <a:latin typeface="Calibri"/>
              </a:defRPr>
            </a:pPr>
            <a:r>
              <a:t>• Even if the question doesn't say 'Draw', always sketch a block diagram.</a:t>
            </a:r>
          </a:p>
          <a:p>
            <a:pPr>
              <a:spcAft>
                <a:spcPts val="600"/>
              </a:spcAft>
              <a:defRPr sz="1100">
                <a:solidFill>
                  <a:srgbClr val="475569"/>
                </a:solidFill>
                <a:latin typeface="Calibri"/>
              </a:defRPr>
            </a:pPr>
            <a:r>
              <a:t>• Examiners give 50% of the marks just for neat labeled schematics with arrows!</a:t>
            </a:r>
          </a:p>
        </p:txBody>
      </p:sp>
      <p:sp>
        <p:nvSpPr>
          <p:cNvPr id="8" name="Rounded Rectangle 7"/>
          <p:cNvSpPr/>
          <p:nvPr/>
        </p:nvSpPr>
        <p:spPr>
          <a:xfrm>
            <a:off x="3374136" y="1645920"/>
            <a:ext cx="26060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2736" y="1828800"/>
            <a:ext cx="2148840" cy="411480"/>
          </a:xfrm>
          <a:prstGeom prst="rect">
            <a:avLst/>
          </a:prstGeom>
          <a:noFill/>
        </p:spPr>
        <p:txBody>
          <a:bodyPr wrap="none">
            <a:spAutoFit/>
          </a:bodyPr>
          <a:lstStyle/>
          <a:p>
            <a:pPr>
              <a:defRPr sz="1400" b="1">
                <a:solidFill>
                  <a:srgbClr val="0F172A"/>
                </a:solidFill>
                <a:latin typeface="Calibri"/>
              </a:defRPr>
            </a:pPr>
            <a:r>
              <a:t>2. Name Drop Standards</a:t>
            </a:r>
          </a:p>
        </p:txBody>
      </p:sp>
      <p:sp>
        <p:nvSpPr>
          <p:cNvPr id="10" name="Rounded Rectangle 9"/>
          <p:cNvSpPr/>
          <p:nvPr/>
        </p:nvSpPr>
        <p:spPr>
          <a:xfrm>
            <a:off x="4517136" y="1828800"/>
            <a:ext cx="128016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RULE 2</a:t>
            </a:r>
          </a:p>
        </p:txBody>
      </p:sp>
      <p:sp>
        <p:nvSpPr>
          <p:cNvPr id="11" name="TextBox 10"/>
          <p:cNvSpPr txBox="1"/>
          <p:nvPr/>
        </p:nvSpPr>
        <p:spPr>
          <a:xfrm>
            <a:off x="3602736" y="2286000"/>
            <a:ext cx="2148840" cy="36118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Mentioning standards shows real engineering knowledge:</a:t>
            </a:r>
            <a:r>
              <a:rPr b="0">
                <a:solidFill>
                  <a:srgbClr val="475569"/>
                </a:solidFill>
              </a:rPr>
              <a:t>
  • IEEE 1100 (Earthing)
  • ISO 8528-1 (DCC Generators)
  • IEC 62305 (Lightning)
  • IEEE 519 (Harmonics)</a:t>
            </a:r>
          </a:p>
        </p:txBody>
      </p:sp>
      <p:sp>
        <p:nvSpPr>
          <p:cNvPr id="12" name="Rounded Rectangle 11"/>
          <p:cNvSpPr/>
          <p:nvPr/>
        </p:nvSpPr>
        <p:spPr>
          <a:xfrm>
            <a:off x="6199632" y="1645920"/>
            <a:ext cx="26060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28800"/>
            <a:ext cx="2148840" cy="411480"/>
          </a:xfrm>
          <a:prstGeom prst="rect">
            <a:avLst/>
          </a:prstGeom>
          <a:noFill/>
        </p:spPr>
        <p:txBody>
          <a:bodyPr wrap="none">
            <a:spAutoFit/>
          </a:bodyPr>
          <a:lstStyle/>
          <a:p>
            <a:pPr>
              <a:defRPr sz="1400" b="1">
                <a:solidFill>
                  <a:srgbClr val="0F172A"/>
                </a:solidFill>
                <a:latin typeface="Calibri"/>
              </a:defRPr>
            </a:pPr>
            <a:r>
              <a:t>3. Write Both Paths</a:t>
            </a:r>
          </a:p>
        </p:txBody>
      </p:sp>
      <p:sp>
        <p:nvSpPr>
          <p:cNvPr id="14" name="Rounded Rectangle 13"/>
          <p:cNvSpPr/>
          <p:nvPr/>
        </p:nvSpPr>
        <p:spPr>
          <a:xfrm>
            <a:off x="7342632" y="1828800"/>
            <a:ext cx="128016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RULE 3</a:t>
            </a:r>
          </a:p>
        </p:txBody>
      </p:sp>
      <p:sp>
        <p:nvSpPr>
          <p:cNvPr id="15" name="TextBox 14"/>
          <p:cNvSpPr txBox="1"/>
          <p:nvPr/>
        </p:nvSpPr>
        <p:spPr>
          <a:xfrm>
            <a:off x="6428232" y="2286000"/>
            <a:ext cx="2148840" cy="3611880"/>
          </a:xfrm>
          <a:prstGeom prst="rect">
            <a:avLst/>
          </a:prstGeom>
          <a:noFill/>
        </p:spPr>
        <p:txBody>
          <a:bodyPr wrap="square" tIns="0" lIns="0" rIns="0">
            <a:spAutoFit/>
          </a:bodyPr>
          <a:lstStyle/>
          <a:p>
            <a:pPr>
              <a:spcAft>
                <a:spcPts val="600"/>
              </a:spcAft>
              <a:defRPr sz="1100">
                <a:solidFill>
                  <a:srgbClr val="475569"/>
                </a:solidFill>
                <a:latin typeface="Calibri"/>
              </a:defRPr>
            </a:pPr>
            <a:r>
              <a:t>• Whenever talking about high availability, mention Path A and Path B.</a:t>
            </a:r>
          </a:p>
          <a:p>
            <a:pPr>
              <a:spcAft>
                <a:spcPts val="600"/>
              </a:spcAft>
              <a:defRPr sz="1100">
                <a:solidFill>
                  <a:srgbClr val="475569"/>
                </a:solidFill>
                <a:latin typeface="Calibri"/>
              </a:defRPr>
            </a:pPr>
            <a:r>
              <a:t>• True Tier IV means 2N dual paths from substation to dual-corded server PSUs.</a:t>
            </a:r>
          </a:p>
        </p:txBody>
      </p:sp>
      <p:sp>
        <p:nvSpPr>
          <p:cNvPr id="16" name="Rounded Rectangle 15"/>
          <p:cNvSpPr/>
          <p:nvPr/>
        </p:nvSpPr>
        <p:spPr>
          <a:xfrm>
            <a:off x="9025128" y="1645920"/>
            <a:ext cx="26060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53728" y="1828800"/>
            <a:ext cx="2148840" cy="411480"/>
          </a:xfrm>
          <a:prstGeom prst="rect">
            <a:avLst/>
          </a:prstGeom>
          <a:noFill/>
        </p:spPr>
        <p:txBody>
          <a:bodyPr wrap="none">
            <a:spAutoFit/>
          </a:bodyPr>
          <a:lstStyle/>
          <a:p>
            <a:pPr>
              <a:defRPr sz="1400" b="1">
                <a:solidFill>
                  <a:srgbClr val="0F172A"/>
                </a:solidFill>
                <a:latin typeface="Calibri"/>
              </a:defRPr>
            </a:pPr>
            <a:r>
              <a:t>4. Box Your Answers</a:t>
            </a:r>
          </a:p>
        </p:txBody>
      </p:sp>
      <p:sp>
        <p:nvSpPr>
          <p:cNvPr id="18" name="Rounded Rectangle 17"/>
          <p:cNvSpPr/>
          <p:nvPr/>
        </p:nvSpPr>
        <p:spPr>
          <a:xfrm>
            <a:off x="10168128" y="1828800"/>
            <a:ext cx="1280160" cy="228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RULE 4</a:t>
            </a:r>
          </a:p>
        </p:txBody>
      </p:sp>
      <p:sp>
        <p:nvSpPr>
          <p:cNvPr id="19" name="TextBox 18"/>
          <p:cNvSpPr txBox="1"/>
          <p:nvPr/>
        </p:nvSpPr>
        <p:spPr>
          <a:xfrm>
            <a:off x="9253728" y="2286000"/>
            <a:ext cx="2148840" cy="36118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In numericals:</a:t>
            </a:r>
            <a:r>
              <a:rPr b="0">
                <a:solidFill>
                  <a:srgbClr val="475569"/>
                </a:solidFill>
              </a:rPr>
              <a:t>
  • Write formula clearly.
  • Substitute numbers with units (kW, kVA, Ah).
  • Draw a box around your final answer!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